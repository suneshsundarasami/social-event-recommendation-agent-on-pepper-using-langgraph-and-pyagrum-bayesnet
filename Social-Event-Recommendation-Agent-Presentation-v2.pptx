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7" r:id="rId2"/>
    <p:sldId id="259" r:id="rId3"/>
    <p:sldId id="258" r:id="rId4"/>
    <p:sldId id="269" r:id="rId34"/>
    <p:sldId id="266" r:id="rId8"/>
    <p:sldId id="260" r:id="rId5"/>
    <p:sldId id="314" r:id="rId52"/>
    <p:sldId id="278" r:id="rId11"/>
    <p:sldId id="316" r:id="rId54"/>
    <p:sldId id="267" r:id="rId9"/>
    <p:sldId id="286" r:id="rId14"/>
    <p:sldId id="317" r:id="rId55"/>
    <p:sldId id="315" r:id="rId53"/>
    <p:sldId id="295" r:id="rId23"/>
    <p:sldId id="320" r:id="rId58"/>
    <p:sldId id="318" r:id="rId56"/>
    <p:sldId id="296" r:id="rId24"/>
    <p:sldId id="299" r:id="rId29"/>
    <p:sldId id="300" r:id="rId30"/>
    <p:sldId id="319" r:id="rId57"/>
    <p:sldId id="30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esh Praveen Raja" initials="SP" lastIdx="1" clrIdx="0">
    <p:extLst>
      <p:ext uri="{19B8F6BF-5375-455C-9EA6-DF929625EA0E}">
        <p15:presenceInfo xmlns:p15="http://schemas.microsoft.com/office/powerpoint/2012/main" userId="144f9c98143f5f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ABA"/>
    <a:srgbClr val="C0392B"/>
    <a:srgbClr val="FFD24D"/>
    <a:srgbClr val="FFF3CD"/>
    <a:srgbClr val="ED7D31"/>
    <a:srgbClr val="AD6300"/>
    <a:srgbClr val="B43500"/>
    <a:srgbClr val="AD8330"/>
    <a:srgbClr val="155F82"/>
    <a:srgbClr val="155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0.xml"/><Relationship Id="rId11" Type="http://schemas.openxmlformats.org/officeDocument/2006/relationships/slide" Target="slides/slide8.xml"/><Relationship Id="rId14" Type="http://schemas.openxmlformats.org/officeDocument/2006/relationships/slide" Target="slides/slide11.xml"/><Relationship Id="rId23" Type="http://schemas.openxmlformats.org/officeDocument/2006/relationships/slide" Target="slides/slide14.xml"/><Relationship Id="rId24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3" Type="http://schemas.openxmlformats.org/officeDocument/2006/relationships/slide" Target="slides/slide21.xml"/><Relationship Id="rId34" Type="http://schemas.openxmlformats.org/officeDocument/2006/relationships/slide" Target="slides/slide4.xml"/><Relationship Id="rId46" Type="http://schemas.openxmlformats.org/officeDocument/2006/relationships/notesMaster" Target="notesMasters/notesMaster1.xml"/><Relationship Id="rId47" Type="http://schemas.openxmlformats.org/officeDocument/2006/relationships/commentAuthors" Target="commentAuthors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7.xml"/><Relationship Id="rId53" Type="http://schemas.openxmlformats.org/officeDocument/2006/relationships/slide" Target="slides/slide13.xml"/><Relationship Id="rId54" Type="http://schemas.openxmlformats.org/officeDocument/2006/relationships/slide" Target="slides/slide9.xml"/><Relationship Id="rId55" Type="http://schemas.openxmlformats.org/officeDocument/2006/relationships/slide" Target="slides/slide12.xml"/><Relationship Id="rId56" Type="http://schemas.openxmlformats.org/officeDocument/2006/relationships/slide" Target="slides/slide16.xml"/><Relationship Id="rId57" Type="http://schemas.openxmlformats.org/officeDocument/2006/relationships/slide" Target="slides/slide20.xml"/><Relationship Id="rId58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CCEDE-05FF-4E6A-82C6-539D37662FB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7E914-68F4-4083-9552-95D08A11B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54818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906005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414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B7FA50-900E-77DC-576E-5EF849F67FA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3E86-B325-FAC1-FAFC-574A0EBE3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1566-2D9A-D46B-6C06-0F407E7F1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7A5E-975B-B958-EC0D-8F56AD58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69C5F-4CC7-4B2B-8834-AC3180DD852D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25DD0-9B50-63E5-D661-ECAACAD8C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5A17-7D3B-A6E4-4FC2-3253531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5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C6B5-C5D0-6164-87AC-DDBB8189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21D0-DD45-0E58-00BB-1D4F09AC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E5995-FAF2-7EBE-5E47-B6032EBD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B80C-8349-4CD1-B2E3-423692AB51EA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D689D-992F-755E-35CF-D358A1A3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D4495-3464-2128-1AE0-FE5AA3D1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6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A4BB-9C0C-9419-0E87-92837A80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6654A-A05B-42E8-E801-AE3394DF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1D07-EF05-2231-0971-9DFEE69C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B886-3548-472C-9558-E660342ABF4A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3196F-789B-0040-A804-C32B9D70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82C37-5E99-6CC9-9597-E34AF1C9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03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8F0F-79B0-A203-CFF8-9778BB32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ACC0-A398-BBA4-EEA7-6FD7F5D00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4735E-5501-A704-3002-F255BBA6E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DEF47-B70F-75F0-8C47-2AB01B46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D9BC3-0487-4A38-8401-633E6B616C74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727DD-9F7E-0FF5-341D-74DF704A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71314-8DEF-E408-244F-001BBA75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1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A36C-D32B-65AC-881B-A9570DB9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F6D5-1ACB-C2DA-AA60-D928811E7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81177-5CC3-9621-350C-42DE8B0B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C6A45-712A-908A-E841-1FB7512F3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DD926-8AFE-4CE4-4DEF-9E35E0251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4D9D4-26E2-E02A-23E9-EEB76B99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87869-79FF-407D-B6BD-D26D701C90E9}" type="datetime1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46DC1-17CF-830B-618E-781D205F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35159-8624-AA32-8C5D-6E3F9BF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00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4CFB-F84A-9912-A3A7-C79C3883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03DDF-D399-0783-6C01-A20D1FD8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15B8-598C-4477-B3EB-8639DB416A1D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2BC5D-CA71-643D-1E3C-2DEA5A2A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D14B6-CF2D-9224-A139-D43C9E42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3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6F374-6618-0CA3-C277-B5872CB5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87EA-E433-4464-A3F2-73A6FF7AA79F}" type="datetime1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53805-77B3-456D-0374-6C51EEA5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4FF-5ABA-68ED-5DB9-1DE760EA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60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4660-3630-2D41-9DA0-E233D21A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82DB-C557-5D4C-A5CD-0F6BC0DA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13568-71FD-1BBD-72B6-5C60B5335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89B80-E659-97F8-E3E2-6EFA7926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5A5A-6F4D-4C2E-8E11-4DEF5162AEF0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EA037-FE24-E945-93CD-01E1572A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26C27-67F5-A30F-E4AC-74EBE3E0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72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63D3-2E39-F4F2-E2EA-BBDC5869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52516-0AA4-C271-5BB3-DFAB13E38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B2FE0-705F-52B9-6062-230078905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79483-73F0-1E6C-F61D-4606375E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35FD-A8AC-4A64-81AA-361171365188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DCCA-AC4E-F061-4525-C3562F47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F0E3-76E2-4114-31D9-6E5AA519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7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E2D-A670-494F-BCA9-C1BEB930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71B77-6BC0-257D-27BB-C6F47C5D2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EDDC5-9E30-EEC5-C61F-C9A2DC0D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438-2C4D-4194-A3E9-860574FE8EF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93F47-7990-369B-86C2-1B1D684B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5F46-E5D7-A845-9D06-6A3EA094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3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D4AA0-1279-DF8D-D3C2-126DA3C17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8C2D9-E00A-C8EF-E790-2CAB9C5D2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9B23-3C15-71CD-3A76-16C2922D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464-CECA-4684-B788-EAC3DD1C70EE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FF38-7816-BE51-9541-83FE1FB2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CBCAE-0A26-1C2F-037C-F5CF063B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8867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A3356-B740-E146-42D0-C3EF0306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21DC3-E2CE-8EE3-E3AD-7DE5F597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582D-3E40-4064-163D-97AE1AED2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F6DAE-D04C-47C8-989C-8D3C5E5DC2FE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F7DE-26A2-71E2-E23E-6A872C2A2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1D2CB-CDCA-38A2-2B49-83BEC4E0A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3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" name="Picture 5">
            <a:extLst>
              <a:ext uri="{FF2B5EF4-FFF2-40B4-BE49-F238E27FC236}">
                <a16:creationId xmlns:a16="http://schemas.microsoft.com/office/drawing/2014/main" id="{CE3FD343-0462-BAAB-3334-CDC34CB57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943" y="485377"/>
            <a:ext cx="2582670" cy="6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8115132" name="object 2"/>
          <p:cNvPicPr/>
          <p:nvPr/>
        </p:nvPicPr>
        <p:blipFill>
          <a:blip r:embed="rId4"/>
          <a:stretch/>
        </p:blipFill>
        <p:spPr bwMode="auto">
          <a:xfrm>
            <a:off x="383192" y="485378"/>
            <a:ext cx="3808179" cy="684616"/>
          </a:xfrm>
          <a:prstGeom prst="rect">
            <a:avLst/>
          </a:prstGeom>
        </p:spPr>
      </p:pic>
      <p:pic>
        <p:nvPicPr>
          <p:cNvPr id="606056789" name="object 4"/>
          <p:cNvPicPr/>
          <p:nvPr/>
        </p:nvPicPr>
        <p:blipFill>
          <a:blip r:embed="rId5"/>
          <a:stretch/>
        </p:blipFill>
        <p:spPr bwMode="auto">
          <a:xfrm>
            <a:off x="9611532" y="472034"/>
            <a:ext cx="2051127" cy="684564"/>
          </a:xfrm>
          <a:prstGeom prst="rect">
            <a:avLst/>
          </a:prstGeom>
        </p:spPr>
      </p:pic>
      <p:sp>
        <p:nvSpPr>
          <p:cNvPr id="290325867" name="object 5"/>
          <p:cNvSpPr txBox="1">
            <a:spLocks noGrp="1"/>
          </p:cNvSpPr>
          <p:nvPr>
            <p:ph type="ctrTitle"/>
          </p:nvPr>
        </p:nvSpPr>
        <p:spPr bwMode="auto">
          <a:xfrm>
            <a:off x="383192" y="2493375"/>
            <a:ext cx="10621358" cy="3480975"/>
          </a:xfrm>
          <a:prstGeom prst="rect">
            <a:avLst/>
          </a:prstGeom>
        </p:spPr>
        <p:txBody>
          <a:bodyPr vert="horz" wrap="square" lIns="0" tIns="3355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264"/>
              </a:spcBef>
              <a:defRPr/>
            </a:pPr>
            <a:r>
              <a:rPr lang="en-US" sz="2800" b="1" dirty="0">
                <a:solidFill>
                  <a:srgbClr val="016ABA"/>
                </a:solidFill>
                <a:latin typeface="Helvetica" pitchFamily="2" charset="0"/>
              </a:rPr>
              <a:t>Social Event Recommendation Agent on Pepper</a:t>
            </a:r>
            <a:br>
              <a:rPr lang="en-US" sz="20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July 13, 2026</a:t>
            </a:r>
            <a:br>
              <a:rPr lang="en-US" sz="2000" dirty="0">
                <a:latin typeface="Helvetica" pitchFamily="2" charset="0"/>
              </a:rPr>
            </a:br>
            <a:br>
              <a:rPr lang="en-US" sz="2000" dirty="0">
                <a:latin typeface="Helvetica" pitchFamily="2" charset="0"/>
              </a:rPr>
            </a:br>
            <a:r>
              <a:rPr lang="en-US" sz="2000" dirty="0">
                <a:latin typeface="Helvetica" pitchFamily="2" charset="0"/>
              </a:rPr>
              <a:t>Sunesh Praveen Raja Sundarasami</a:t>
            </a:r>
            <a:br>
              <a:rPr lang="en-US" sz="20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Hochschule Bonn-Rhein-Sieg | M.Sc. Autonomous Systems</a:t>
            </a:r>
            <a:br>
              <a:rPr lang="en-US" sz="2000" dirty="0">
                <a:latin typeface="Helvetica" pitchFamily="2" charset="0"/>
              </a:rPr>
            </a:br>
            <a:br>
              <a:rPr lang="en-US" sz="2000" dirty="0">
                <a:latin typeface="Helvetica" pitchFamily="2" charset="0"/>
              </a:rPr>
            </a:br>
            <a:r>
              <a:rPr lang="en-US" sz="1800" i="1" dirty="0">
                <a:latin typeface="Helvetica" pitchFamily="2" charset="0"/>
              </a:rPr>
              <a:t>Course</a:t>
            </a:r>
            <a:br>
              <a:rPr lang="en-US" sz="18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Human-Centered Interaction with Collaborative Robots (HCICR)</a:t>
            </a:r>
            <a:br>
              <a:rPr lang="en-US" sz="3600" b="1" spc="-19" dirty="0">
                <a:solidFill>
                  <a:srgbClr val="006ABA"/>
                </a:solidFill>
                <a:latin typeface="Helvetica" pitchFamily="2" charset="0"/>
                <a:ea typeface="Arial"/>
                <a:cs typeface="Arial"/>
              </a:rPr>
            </a:br>
            <a:endParaRPr sz="3600" dirty="0">
              <a:latin typeface="Helvetica" pitchFamily="2" charset="0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B1BC-588F-D67C-2E49-AC016002E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39B0D-6CC0-30DE-0FBE-5459080D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25A8A-9F20-E4B7-92D6-DE4C8533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1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Why This Project?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Design goal (per PLAN.md): natural language input, but the final decision stays inspectable</a:t>
            </a:r>
          </a:p>
          <a:p>
            <a:r>
              <a:rPr lang="en-US" sz="2400" dirty="0">
                <a:latin typeface="Helvetica" pitchFamily="2" charset="0"/>
              </a:rPr>
              <a:t>Inspectable = explicit Evidence dict + interpretable latent factors, not a opaque score</a:t>
            </a:r>
          </a:p>
          <a:p>
            <a:r>
              <a:rPr lang="en-US" sz="2400" dirty="0">
                <a:latin typeface="Helvetica" pitchFamily="2" charset="0"/>
              </a:rPr>
              <a:t>Three cooperating components: finite-state manager, LLM evidence parser, Bayesian network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66A0-3549-EE57-B5CB-2FB92619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5BEB9B-FCB7-8553-F466-ABC00647E264}"/>
              </a:ext>
            </a:extLst>
          </p:cNvPr>
          <p:cNvSpPr/>
          <p:nvPr/>
        </p:nvSpPr>
        <p:spPr>
          <a:xfrm>
            <a:off x="544609" y="1678080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4C19-54F6-BD72-B77B-AF1857E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Four Building Blocks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09C7-7B57-C007-C9B3-2CCA2B1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61664-8D0D-DFAB-761D-77F71F48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33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450118-1936-323C-83A5-5D338BF134CE}"/>
              </a:ext>
            </a:extLst>
          </p:cNvPr>
          <p:cNvSpPr/>
          <p:nvPr/>
        </p:nvSpPr>
        <p:spPr>
          <a:xfrm>
            <a:off x="544609" y="1678082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Perception (WP1)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DDF96-7F21-BEE2-8A66-00CDC4A5FFF8}"/>
              </a:ext>
            </a:extLst>
          </p:cNvPr>
          <p:cNvSpPr/>
          <p:nvPr/>
        </p:nvSpPr>
        <p:spPr>
          <a:xfrm>
            <a:off x="544609" y="2764771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perception/face_detector.py -- Haar cascade + 5-frame smoothing -&gt; InteractionFSM.Idle/Greeting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F7D57A-C7DC-BA34-3A3F-099A05B645F6}"/>
              </a:ext>
            </a:extLst>
          </p:cNvPr>
          <p:cNvSpPr/>
          <p:nvPr/>
        </p:nvSpPr>
        <p:spPr>
          <a:xfrm>
            <a:off x="9219641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578145-CF3F-C517-06CD-42A4B0F4CCC0}"/>
              </a:ext>
            </a:extLst>
          </p:cNvPr>
          <p:cNvSpPr/>
          <p:nvPr/>
        </p:nvSpPr>
        <p:spPr>
          <a:xfrm>
            <a:off x="921964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KNN majority voting smooths isolated misclassifications based on local spatial proximity.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A4FF1-C189-06B8-9D64-0496DF425491}"/>
              </a:ext>
            </a:extLst>
          </p:cNvPr>
          <p:cNvSpPr/>
          <p:nvPr/>
        </p:nvSpPr>
        <p:spPr>
          <a:xfrm>
            <a:off x="6306671" y="1678078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CA1030-164A-28D8-6043-27C00399BF4B}"/>
              </a:ext>
            </a:extLst>
          </p:cNvPr>
          <p:cNvSpPr/>
          <p:nvPr/>
        </p:nvSpPr>
        <p:spPr>
          <a:xfrm>
            <a:off x="6306671" y="1678080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Bayesian Reasoning (WP3)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04C46F-6335-E1FC-1215-03C3215B6729}"/>
              </a:ext>
            </a:extLst>
          </p:cNvPr>
          <p:cNvSpPr/>
          <p:nvPr/>
        </p:nvSpPr>
        <p:spPr>
          <a:xfrm>
            <a:off x="630667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0058A7"/>
                </a:solidFill>
                <a:latin typeface="Helvetica"/>
              </a:rPr>
              <a:t>recommender/bayesian_network.py -- pyAgrum LazyPropagation over a 3-layer BayesNet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2FE9AE-C73E-EAAD-4F65-D6DE691D583C}"/>
              </a:ext>
            </a:extLst>
          </p:cNvPr>
          <p:cNvSpPr/>
          <p:nvPr/>
        </p:nvSpPr>
        <p:spPr>
          <a:xfrm>
            <a:off x="9155765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C217E9-B213-D1DA-676F-7D04C21CCA17}"/>
              </a:ext>
            </a:extLst>
          </p:cNvPr>
          <p:cNvSpPr/>
          <p:nvPr/>
        </p:nvSpPr>
        <p:spPr>
          <a:xfrm>
            <a:off x="9155765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Behaviour (WP4)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AF8212-5911-C79B-E31A-1E55D3BDBABF}"/>
              </a:ext>
            </a:extLst>
          </p:cNvPr>
          <p:cNvSpPr/>
          <p:nvPr/>
        </p:nvSpPr>
        <p:spPr>
          <a:xfrm>
            <a:off x="9155765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behaviour/pepper_behaviour.py -- say_with_gesture() blocks until speech + gesture both finish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B1977-FE5D-BFD6-7C88-25FE16C49899}"/>
              </a:ext>
            </a:extLst>
          </p:cNvPr>
          <p:cNvSpPr/>
          <p:nvPr/>
        </p:nvSpPr>
        <p:spPr>
          <a:xfrm>
            <a:off x="3457578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6E8534-0D75-3C49-A351-5C13928EC750}"/>
              </a:ext>
            </a:extLst>
          </p:cNvPr>
          <p:cNvSpPr/>
          <p:nvPr/>
        </p:nvSpPr>
        <p:spPr>
          <a:xfrm>
            <a:off x="3457578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D55AEEE-5094-D9E1-1A12-EEF7583719C2}"/>
              </a:ext>
            </a:extLst>
          </p:cNvPr>
          <p:cNvSpPr/>
          <p:nvPr/>
        </p:nvSpPr>
        <p:spPr>
          <a:xfrm>
            <a:off x="3393702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D2CFE8-1982-725A-9D07-8EF97B2E6FFF}"/>
              </a:ext>
            </a:extLst>
          </p:cNvPr>
          <p:cNvSpPr/>
          <p:nvPr/>
        </p:nvSpPr>
        <p:spPr>
          <a:xfrm>
            <a:off x="3393702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Dialogue Manager (WP2)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85DD90-82CE-12DA-C9EE-0A3BE57430E5}"/>
              </a:ext>
            </a:extLst>
          </p:cNvPr>
          <p:cNvSpPr/>
          <p:nvPr/>
        </p:nvSpPr>
        <p:spPr>
          <a:xfrm>
            <a:off x="3393702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dialogue/graph.py -- 6-node LangGraph StateGraph + Groq Llama-3.3, own Python 3.11 process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2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8D12-648F-7E12-6F51-7DCF7AC1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0977-630A-B661-E7FB-E2DC5923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40C43-64A2-3B7B-5C19-63A5A186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FE9D4-3C29-2630-2928-42F08B42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37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System Architecture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9003" name="TextBox 2"/>
          <p:cNvSpPr txBox="1"/>
          <p:nvPr/>
        </p:nvSpPr>
        <p:spPr>
          <a:xfrm>
            <a:off x="2055347" y="1950000"/>
            <a:ext cx="8134502" cy="20336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694" b="0" i="0">
                <a:solidFill>
                  <a:srgbClr val="555555"/>
                </a:solidFill>
              </a:rPr>
              <a:t>based on Kopp &amp; Hassan, 2022 (slides 7–8)  |  red = processing, green = decision, blue = generation, grey = knowledge. The Dialogue stage is the LangGraph (expanded below).</a:t>
            </a:r>
          </a:p>
        </p:txBody>
      </p:sp>
      <p:sp>
        <p:nvSpPr>
          <p:cNvPr id="9005" name="Rounded Rectangle 4"/>
          <p:cNvSpPr/>
          <p:nvPr/>
        </p:nvSpPr>
        <p:spPr>
          <a:xfrm>
            <a:off x="6336676" y="2386949"/>
            <a:ext cx="1882939" cy="365494"/>
          </a:xfrm>
          <a:prstGeom prst="roundRect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4" b="1" i="0">
                <a:solidFill>
                  <a:srgbClr val="FFFFFF"/>
                </a:solidFill>
              </a:rPr>
              <a:t>Knowledge &amp; data</a:t>
            </a:r>
          </a:p>
          <a:p>
            <a:pPr algn="ctr"/>
            <a:r>
              <a:rPr sz="556" b="0" i="0">
                <a:solidFill>
                  <a:srgbClr val="F0F0F0"/>
                </a:solidFill>
              </a:rPr>
              <a:t>Bayesian CPTs from event catalogue ·</a:t>
            </a:r>
          </a:p>
          <a:p>
            <a:pPr algn="ctr"/>
            <a:r>
              <a:rPr sz="556" b="0" i="0">
                <a:solidFill>
                  <a:srgbClr val="F0F0F0"/>
                </a:solidFill>
              </a:rPr>
              <a:t>8 events + images (imgs/) · schema (contracts.py)</a:t>
            </a:r>
          </a:p>
        </p:txBody>
      </p:sp>
      <p:cxnSp>
        <p:nvCxnSpPr>
          <p:cNvPr id="9006" name="Connector 5"/>
          <p:cNvCxnSpPr/>
          <p:nvPr/>
        </p:nvCxnSpPr>
        <p:spPr>
          <a:xfrm>
            <a:off x="7113388" y="2752444"/>
            <a:ext cx="0" cy="162441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7" name="Connector 6"/>
          <p:cNvCxnSpPr/>
          <p:nvPr/>
        </p:nvCxnSpPr>
        <p:spPr>
          <a:xfrm>
            <a:off x="7748881" y="2752444"/>
            <a:ext cx="629607" cy="162441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8" name="Oval 7"/>
          <p:cNvSpPr/>
          <p:nvPr/>
        </p:nvSpPr>
        <p:spPr>
          <a:xfrm>
            <a:off x="1900000" y="2996107"/>
            <a:ext cx="753175" cy="44671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4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556" b="0" i="0">
                <a:solidFill>
                  <a:srgbClr val="555555"/>
                </a:solidFill>
              </a:rPr>
              <a:t>face + speech</a:t>
            </a:r>
          </a:p>
        </p:txBody>
      </p:sp>
      <p:sp>
        <p:nvSpPr>
          <p:cNvPr id="9009" name="Oval 8"/>
          <p:cNvSpPr/>
          <p:nvPr/>
        </p:nvSpPr>
        <p:spPr>
          <a:xfrm>
            <a:off x="9137549" y="2996107"/>
            <a:ext cx="753175" cy="44671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64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556" b="0" i="0">
                <a:solidFill>
                  <a:srgbClr val="555555"/>
                </a:solidFill>
              </a:rPr>
              <a:t>sees + hears</a:t>
            </a:r>
          </a:p>
        </p:txBody>
      </p:sp>
      <p:sp>
        <p:nvSpPr>
          <p:cNvPr id="9010" name="Rounded Rectangle 9"/>
          <p:cNvSpPr/>
          <p:nvPr/>
        </p:nvSpPr>
        <p:spPr>
          <a:xfrm>
            <a:off x="2806164" y="2914886"/>
            <a:ext cx="1088574" cy="609157"/>
          </a:xfrm>
          <a:prstGeom prst="roundRect">
            <a:avLst/>
          </a:prstGeom>
          <a:solidFill>
            <a:srgbClr val="E23B2E"/>
          </a:solidFill>
          <a:ln w="12700">
            <a:solidFill>
              <a:srgbClr val="E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34" b="1" i="0">
                <a:solidFill>
                  <a:srgbClr val="FFFFFF"/>
                </a:solidFill>
              </a:rPr>
              <a:t>Perception</a:t>
            </a:r>
          </a:p>
          <a:p>
            <a:pPr algn="ctr"/>
            <a:r>
              <a:rPr sz="556" b="0" i="1">
                <a:solidFill>
                  <a:srgbClr val="FFEEEE"/>
                </a:solidFill>
              </a:rPr>
              <a:t>(sense + recognize)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Face: Haar + 5-frame smoothing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ASR: faster-whisper (local)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or typed text</a:t>
            </a:r>
          </a:p>
        </p:txBody>
      </p:sp>
      <p:sp>
        <p:nvSpPr>
          <p:cNvPr id="9011" name="Rounded Rectangle 10"/>
          <p:cNvSpPr/>
          <p:nvPr/>
        </p:nvSpPr>
        <p:spPr>
          <a:xfrm>
            <a:off x="4041844" y="2914886"/>
            <a:ext cx="1088574" cy="609157"/>
          </a:xfrm>
          <a:prstGeom prst="roundRect">
            <a:avLst/>
          </a:prstGeom>
          <a:solidFill>
            <a:srgbClr val="B51F1F"/>
          </a:solidFill>
          <a:ln w="12700">
            <a:solidFill>
              <a:srgbClr val="B5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34" b="1" i="0">
                <a:solidFill>
                  <a:srgbClr val="FFFFFF"/>
                </a:solidFill>
              </a:rPr>
              <a:t>Interpretation</a:t>
            </a:r>
          </a:p>
          <a:p>
            <a:pPr algn="ctr"/>
            <a:r>
              <a:rPr sz="556" b="0" i="1">
                <a:solidFill>
                  <a:srgbClr val="FFDDDD"/>
                </a:solidFill>
              </a:rPr>
              <a:t>(understand) — LLM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Groq Llama-3.3 service: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frames questions &amp; parses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replies → 6 slots (validated)</a:t>
            </a:r>
          </a:p>
        </p:txBody>
      </p:sp>
      <p:sp>
        <p:nvSpPr>
          <p:cNvPr id="9012" name="Rounded Rectangle 11"/>
          <p:cNvSpPr/>
          <p:nvPr/>
        </p:nvSpPr>
        <p:spPr>
          <a:xfrm>
            <a:off x="5277522" y="2914886"/>
            <a:ext cx="1147415" cy="609157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834" b="1" i="0">
                <a:solidFill>
                  <a:srgbClr val="FFFFFF"/>
                </a:solidFill>
              </a:rPr>
              <a:t>Dialogue Manager</a:t>
            </a:r>
          </a:p>
          <a:p>
            <a:pPr algn="ctr"/>
            <a:r>
              <a:rPr sz="556" b="0" i="1">
                <a:solidFill>
                  <a:srgbClr val="EAFFEA"/>
                </a:solidFill>
              </a:rPr>
              <a:t>(manage turn / select)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FSM 'Conversation' state runs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the LangGraph slot-filling loop</a:t>
            </a:r>
          </a:p>
          <a:p>
            <a:pPr algn="ctr"/>
            <a:r>
              <a:rPr sz="556" b="1" i="0">
                <a:solidFill>
                  <a:srgbClr val="FFFFFF"/>
                </a:solidFill>
              </a:rPr>
              <a:t>▼ expanded below ▼</a:t>
            </a:r>
          </a:p>
        </p:txBody>
      </p:sp>
      <p:sp>
        <p:nvSpPr>
          <p:cNvPr id="9013" name="Rounded Rectangle 12"/>
          <p:cNvSpPr/>
          <p:nvPr/>
        </p:nvSpPr>
        <p:spPr>
          <a:xfrm>
            <a:off x="6572044" y="2914886"/>
            <a:ext cx="1088574" cy="609157"/>
          </a:xfrm>
          <a:prstGeom prst="roundRect">
            <a:avLst/>
          </a:prstGeom>
          <a:solidFill>
            <a:srgbClr val="1E8449"/>
          </a:solidFill>
          <a:ln w="1270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99" b="1" i="0">
                <a:solidFill>
                  <a:srgbClr val="FFFFFF"/>
                </a:solidFill>
              </a:rPr>
              <a:t>Bayesian Reasoning</a:t>
            </a:r>
          </a:p>
          <a:p>
            <a:pPr algn="ctr"/>
            <a:r>
              <a:rPr sz="556" b="0" i="1">
                <a:solidFill>
                  <a:srgbClr val="D7F3DF"/>
                </a:solidFill>
              </a:rPr>
              <a:t>(decide)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3-layer Bayes net (pyAgrum)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6 evidence → 3 latent → 8 events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ranked events + explanation</a:t>
            </a:r>
          </a:p>
        </p:txBody>
      </p:sp>
      <p:sp>
        <p:nvSpPr>
          <p:cNvPr id="9014" name="Rounded Rectangle 13"/>
          <p:cNvSpPr/>
          <p:nvPr/>
        </p:nvSpPr>
        <p:spPr>
          <a:xfrm>
            <a:off x="7807723" y="2914886"/>
            <a:ext cx="1147415" cy="609157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799" b="1" i="0">
                <a:solidFill>
                  <a:srgbClr val="FFFFFF"/>
                </a:solidFill>
              </a:rPr>
              <a:t>Behaviour &amp; Acting</a:t>
            </a:r>
          </a:p>
          <a:p>
            <a:pPr algn="ctr"/>
            <a:r>
              <a:rPr sz="556" b="0" i="1">
                <a:solidFill>
                  <a:srgbClr val="DCEAF6"/>
                </a:solidFill>
              </a:rPr>
              <a:t>(create + perform)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speech (TTS) + gesture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(wave/nod/think/present)</a:t>
            </a:r>
          </a:p>
          <a:p>
            <a:pPr algn="ctr"/>
            <a:r>
              <a:rPr sz="556" b="0" i="0">
                <a:solidFill>
                  <a:srgbClr val="FFFFFF"/>
                </a:solidFill>
              </a:rPr>
              <a:t>+ tablet image · Pepper/qiBullet</a:t>
            </a:r>
          </a:p>
        </p:txBody>
      </p:sp>
      <p:cxnSp>
        <p:nvCxnSpPr>
          <p:cNvPr id="9015" name="Connector 14"/>
          <p:cNvCxnSpPr/>
          <p:nvPr/>
        </p:nvCxnSpPr>
        <p:spPr>
          <a:xfrm>
            <a:off x="2653175" y="3219465"/>
            <a:ext cx="152988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6" name="Connector 15"/>
          <p:cNvCxnSpPr/>
          <p:nvPr/>
        </p:nvCxnSpPr>
        <p:spPr>
          <a:xfrm>
            <a:off x="3894738" y="3219465"/>
            <a:ext cx="147105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7" name="Connector 16"/>
          <p:cNvCxnSpPr/>
          <p:nvPr/>
        </p:nvCxnSpPr>
        <p:spPr>
          <a:xfrm>
            <a:off x="5130418" y="3219465"/>
            <a:ext cx="147104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8" name="Connector 17"/>
          <p:cNvCxnSpPr/>
          <p:nvPr/>
        </p:nvCxnSpPr>
        <p:spPr>
          <a:xfrm>
            <a:off x="6424939" y="3219465"/>
            <a:ext cx="147105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9" name="Connector 18"/>
          <p:cNvCxnSpPr/>
          <p:nvPr/>
        </p:nvCxnSpPr>
        <p:spPr>
          <a:xfrm>
            <a:off x="7660618" y="3219465"/>
            <a:ext cx="147104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0" name="Connector 19"/>
          <p:cNvCxnSpPr/>
          <p:nvPr/>
        </p:nvCxnSpPr>
        <p:spPr>
          <a:xfrm>
            <a:off x="8955139" y="3219465"/>
            <a:ext cx="182409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1" name="Connector 20"/>
          <p:cNvCxnSpPr/>
          <p:nvPr/>
        </p:nvCxnSpPr>
        <p:spPr>
          <a:xfrm flipV="1">
            <a:off x="8378489" y="2793055"/>
            <a:ext cx="0" cy="121831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2" name="Connector 21"/>
          <p:cNvCxnSpPr/>
          <p:nvPr/>
        </p:nvCxnSpPr>
        <p:spPr>
          <a:xfrm flipH="1">
            <a:off x="3347509" y="2793055"/>
            <a:ext cx="5030979" cy="0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3" name="Connector 22"/>
          <p:cNvCxnSpPr/>
          <p:nvPr/>
        </p:nvCxnSpPr>
        <p:spPr>
          <a:xfrm>
            <a:off x="3347509" y="2793055"/>
            <a:ext cx="0" cy="121831"/>
          </a:xfrm>
          <a:prstGeom prst="line">
            <a:avLst/>
          </a:prstGeom>
          <a:ln w="1651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4" name="TextBox 23"/>
          <p:cNvSpPr txBox="1"/>
          <p:nvPr/>
        </p:nvSpPr>
        <p:spPr>
          <a:xfrm>
            <a:off x="4512578" y="2691456"/>
            <a:ext cx="1765255" cy="1421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590" b="0" i="0" dirty="0">
                <a:solidFill>
                  <a:srgbClr val="777777"/>
                </a:solidFill>
              </a:rPr>
              <a:t>per turn: Pepper asks (TTS) → user answers (ASR) → repeats until 6 </a:t>
            </a:r>
            <a:r>
              <a:rPr sz="590" b="0" i="0" dirty="0" err="1">
                <a:solidFill>
                  <a:srgbClr val="777777"/>
                </a:solidFill>
              </a:rPr>
              <a:t>prefs</a:t>
            </a:r>
            <a:r>
              <a:rPr sz="590" b="0" i="0" dirty="0">
                <a:solidFill>
                  <a:srgbClr val="777777"/>
                </a:solidFill>
              </a:rPr>
              <a:t> filled</a:t>
            </a:r>
          </a:p>
        </p:txBody>
      </p:sp>
      <p:cxnSp>
        <p:nvCxnSpPr>
          <p:cNvPr id="9062" name="Connector 61"/>
          <p:cNvCxnSpPr>
            <a:cxnSpLocks/>
          </p:cNvCxnSpPr>
          <p:nvPr/>
        </p:nvCxnSpPr>
        <p:spPr>
          <a:xfrm flipH="1" flipV="1">
            <a:off x="7213634" y="3529122"/>
            <a:ext cx="5669" cy="162441"/>
          </a:xfrm>
          <a:prstGeom prst="line">
            <a:avLst/>
          </a:prstGeom>
          <a:ln w="19050">
            <a:solidFill>
              <a:srgbClr val="1E844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4" name="TextBox 63"/>
          <p:cNvSpPr txBox="1"/>
          <p:nvPr/>
        </p:nvSpPr>
        <p:spPr>
          <a:xfrm>
            <a:off x="2055347" y="6163418"/>
            <a:ext cx="8134502" cy="1906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694" b="0" i="0">
                <a:solidFill>
                  <a:srgbClr val="777777"/>
                </a:solidFill>
              </a:rPr>
              <a:t>Single route: perception → interpretation → dialogue (LangGraph, looping per turn) → Bayesian reasoning → behaviour → Pepper. One recommendation is reasoned once all 6 preferences are gathered.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Perception: WP1 Implementation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HaarFaceDetector over OpenCV's frontal-face cascade; sources: WebcamSource / PepperCameraSource</a:t>
            </a:r>
          </a:p>
          <a:p>
            <a:r>
              <a:rPr lang="en-US" sz="2400" dirty="0">
                <a:latin typeface="Helvetica" pitchFamily="2" charset="0"/>
              </a:rPr>
              <a:t>face_stable() requires N consecutive detections; is_present() uses a looser threshold for dropout tolerance</a:t>
            </a:r>
          </a:p>
          <a:p>
            <a:r>
              <a:rPr lang="en-US" sz="2400" dirty="0">
                <a:latin typeface="Helvetica" pitchFamily="2" charset="0"/>
              </a:rPr>
              <a:t>ThreadedPerception runs detection on a background thread so the preview window stays live during dialogue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96C9-6FFA-2F38-E77C-A7EBFC62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3E72-ED85-0CE7-854D-B4F312E2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49128-AC92-A0ED-36AD-8362A515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A9CF5-EB46-C63E-80CD-823169B7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97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Dialogue Manager -- LangGraph Detail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9026" name="Rounded Rectangle 25"/>
          <p:cNvSpPr/>
          <p:nvPr/>
        </p:nvSpPr>
        <p:spPr>
          <a:xfrm>
            <a:off x="701175" y="2470970"/>
            <a:ext cx="10667733" cy="3221085"/>
          </a:xfrm>
          <a:prstGeom prst="roundRect">
            <a:avLst/>
          </a:prstGeom>
          <a:solidFill>
            <a:srgbClr val="F3FAF3"/>
          </a:solidFill>
          <a:ln w="1905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endParaRPr/>
          </a:p>
        </p:txBody>
      </p:sp>
      <p:sp>
        <p:nvSpPr>
          <p:cNvPr id="9027" name="TextBox 26"/>
          <p:cNvSpPr txBox="1"/>
          <p:nvPr/>
        </p:nvSpPr>
        <p:spPr>
          <a:xfrm>
            <a:off x="878970" y="2563001"/>
            <a:ext cx="8000799" cy="18406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60" b="1" i="0" dirty="0">
                <a:solidFill>
                  <a:srgbClr val="1E7A2B"/>
                </a:solidFill>
              </a:rPr>
              <a:t>Dialogue Manager — </a:t>
            </a:r>
            <a:r>
              <a:rPr sz="1260" b="1" i="0" dirty="0" err="1">
                <a:solidFill>
                  <a:srgbClr val="1E7A2B"/>
                </a:solidFill>
              </a:rPr>
              <a:t>LangGraph</a:t>
            </a:r>
            <a:r>
              <a:rPr sz="1260" b="1" i="0" dirty="0">
                <a:solidFill>
                  <a:srgbClr val="1E7A2B"/>
                </a:solidFill>
              </a:rPr>
              <a:t> (dialogue/graph.py)</a:t>
            </a:r>
          </a:p>
        </p:txBody>
      </p:sp>
      <p:sp>
        <p:nvSpPr>
          <p:cNvPr id="9028" name="TextBox 27"/>
          <p:cNvSpPr txBox="1"/>
          <p:nvPr/>
        </p:nvSpPr>
        <p:spPr>
          <a:xfrm>
            <a:off x="878970" y="2731724"/>
            <a:ext cx="9778755" cy="1533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45" b="0" i="0">
                <a:solidFill>
                  <a:srgbClr val="556677"/>
                </a:solidFill>
              </a:rPr>
              <a:t>runs during the FSM 'Conversation' state · fills the 6 preference slots one at a time, with LLM reframing and conflict handling</a:t>
            </a:r>
          </a:p>
        </p:txBody>
      </p:sp>
      <p:sp>
        <p:nvSpPr>
          <p:cNvPr id="9029" name="Oval 28"/>
          <p:cNvSpPr/>
          <p:nvPr/>
        </p:nvSpPr>
        <p:spPr>
          <a:xfrm>
            <a:off x="816742" y="3928127"/>
            <a:ext cx="746741" cy="337446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9030" name="Oval 29"/>
          <p:cNvSpPr/>
          <p:nvPr/>
        </p:nvSpPr>
        <p:spPr>
          <a:xfrm>
            <a:off x="816742" y="4909791"/>
            <a:ext cx="746741" cy="337446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9031" name="Rounded Rectangle 30"/>
          <p:cNvSpPr/>
          <p:nvPr/>
        </p:nvSpPr>
        <p:spPr>
          <a:xfrm>
            <a:off x="1767948" y="4879114"/>
            <a:ext cx="1333466" cy="398800"/>
          </a:xfrm>
          <a:prstGeom prst="roundRect">
            <a:avLst/>
          </a:prstGeom>
          <a:solidFill>
            <a:srgbClr val="6CC24A"/>
          </a:solidFill>
          <a:ln w="12700">
            <a:solidFill>
              <a:srgbClr val="6C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5" b="1" i="0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9032" name="Rounded Rectangle 31"/>
          <p:cNvSpPr/>
          <p:nvPr/>
        </p:nvSpPr>
        <p:spPr>
          <a:xfrm>
            <a:off x="1812397" y="3790080"/>
            <a:ext cx="1333466" cy="598200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5" b="1" i="0">
                <a:solidFill>
                  <a:srgbClr val="FFFFFF"/>
                </a:solidFill>
              </a:rPr>
              <a:t>Router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pick next empty slot</a:t>
            </a:r>
          </a:p>
        </p:txBody>
      </p:sp>
      <p:sp>
        <p:nvSpPr>
          <p:cNvPr id="9033" name="Rounded Rectangle 32"/>
          <p:cNvSpPr/>
          <p:nvPr/>
        </p:nvSpPr>
        <p:spPr>
          <a:xfrm>
            <a:off x="3812596" y="3790080"/>
            <a:ext cx="1422363" cy="598200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2" b="1" i="0">
                <a:solidFill>
                  <a:srgbClr val="FFFFFF"/>
                </a:solidFill>
              </a:rPr>
              <a:t>QuestionFramer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ask (LLM-framed),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capture the reply</a:t>
            </a:r>
          </a:p>
        </p:txBody>
      </p:sp>
      <p:sp>
        <p:nvSpPr>
          <p:cNvPr id="9034" name="Rounded Rectangle 33"/>
          <p:cNvSpPr/>
          <p:nvPr/>
        </p:nvSpPr>
        <p:spPr>
          <a:xfrm>
            <a:off x="5857246" y="3790080"/>
            <a:ext cx="1422363" cy="598200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2" b="1" i="0">
                <a:solidFill>
                  <a:srgbClr val="FFFFFF"/>
                </a:solidFill>
              </a:rPr>
              <a:t>AnswerParser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reply → candidate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evidence (LLM)</a:t>
            </a:r>
          </a:p>
        </p:txBody>
      </p:sp>
      <p:sp>
        <p:nvSpPr>
          <p:cNvPr id="9035" name="Rounded Rectangle 34"/>
          <p:cNvSpPr/>
          <p:nvPr/>
        </p:nvSpPr>
        <p:spPr>
          <a:xfrm>
            <a:off x="7901895" y="3790080"/>
            <a:ext cx="1422363" cy="598200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2" b="1" i="0">
                <a:solidFill>
                  <a:srgbClr val="FFFFFF"/>
                </a:solidFill>
              </a:rPr>
              <a:t>ConflictResolver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spot contradictions,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re-open the slot</a:t>
            </a:r>
          </a:p>
        </p:txBody>
      </p:sp>
      <p:sp>
        <p:nvSpPr>
          <p:cNvPr id="9036" name="Rounded Rectangle 35"/>
          <p:cNvSpPr/>
          <p:nvPr/>
        </p:nvSpPr>
        <p:spPr>
          <a:xfrm>
            <a:off x="9946543" y="3790080"/>
            <a:ext cx="1244568" cy="598200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5" b="1" i="0">
                <a:solidFill>
                  <a:srgbClr val="FFFFFF"/>
                </a:solidFill>
              </a:rPr>
              <a:t>Evaluator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commit / reframe /</a:t>
            </a:r>
          </a:p>
          <a:p>
            <a:pPr algn="ctr"/>
            <a:r>
              <a:rPr sz="840" b="0" i="0">
                <a:solidFill>
                  <a:srgbClr val="EAFFEA"/>
                </a:solidFill>
              </a:rPr>
              <a:t>default</a:t>
            </a:r>
          </a:p>
        </p:txBody>
      </p:sp>
      <p:cxnSp>
        <p:nvCxnSpPr>
          <p:cNvPr id="9037" name="Connector 36"/>
          <p:cNvCxnSpPr/>
          <p:nvPr/>
        </p:nvCxnSpPr>
        <p:spPr>
          <a:xfrm>
            <a:off x="1563483" y="4096850"/>
            <a:ext cx="24891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8" name="Connector 37"/>
          <p:cNvCxnSpPr/>
          <p:nvPr/>
        </p:nvCxnSpPr>
        <p:spPr>
          <a:xfrm>
            <a:off x="3145863" y="4089181"/>
            <a:ext cx="666733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9" name="TextBox 38"/>
          <p:cNvSpPr txBox="1"/>
          <p:nvPr/>
        </p:nvSpPr>
        <p:spPr>
          <a:xfrm>
            <a:off x="2141319" y="3943465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40" b="0" i="0">
                <a:solidFill>
                  <a:srgbClr val="666666"/>
                </a:solidFill>
              </a:rPr>
              <a:t>missing</a:t>
            </a:r>
          </a:p>
        </p:txBody>
      </p:sp>
      <p:cxnSp>
        <p:nvCxnSpPr>
          <p:cNvPr id="9040" name="Connector 39"/>
          <p:cNvCxnSpPr/>
          <p:nvPr/>
        </p:nvCxnSpPr>
        <p:spPr>
          <a:xfrm>
            <a:off x="5234961" y="4089181"/>
            <a:ext cx="62228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1" name="Connector 40"/>
          <p:cNvCxnSpPr/>
          <p:nvPr/>
        </p:nvCxnSpPr>
        <p:spPr>
          <a:xfrm>
            <a:off x="7279610" y="4089181"/>
            <a:ext cx="62228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2" name="Connector 41"/>
          <p:cNvCxnSpPr/>
          <p:nvPr/>
        </p:nvCxnSpPr>
        <p:spPr>
          <a:xfrm>
            <a:off x="9324259" y="4089181"/>
            <a:ext cx="62228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3" name="TextBox 42"/>
          <p:cNvSpPr txBox="1"/>
          <p:nvPr/>
        </p:nvSpPr>
        <p:spPr>
          <a:xfrm>
            <a:off x="8301934" y="3943465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40" b="0" i="0">
                <a:solidFill>
                  <a:srgbClr val="666666"/>
                </a:solidFill>
              </a:rPr>
              <a:t>no conflict</a:t>
            </a:r>
          </a:p>
        </p:txBody>
      </p:sp>
      <p:cxnSp>
        <p:nvCxnSpPr>
          <p:cNvPr id="9044" name="Connector 43"/>
          <p:cNvCxnSpPr/>
          <p:nvPr/>
        </p:nvCxnSpPr>
        <p:spPr>
          <a:xfrm>
            <a:off x="2479130" y="4388282"/>
            <a:ext cx="0" cy="490831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5" name="TextBox 44"/>
          <p:cNvSpPr txBox="1"/>
          <p:nvPr/>
        </p:nvSpPr>
        <p:spPr>
          <a:xfrm>
            <a:off x="2532469" y="4557006"/>
            <a:ext cx="1244568" cy="1533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40" b="0" i="0">
                <a:solidFill>
                  <a:srgbClr val="666666"/>
                </a:solidFill>
              </a:rPr>
              <a:t>all slots filled</a:t>
            </a:r>
          </a:p>
        </p:txBody>
      </p:sp>
      <p:cxnSp>
        <p:nvCxnSpPr>
          <p:cNvPr id="9046" name="Connector 45"/>
          <p:cNvCxnSpPr/>
          <p:nvPr/>
        </p:nvCxnSpPr>
        <p:spPr>
          <a:xfrm flipH="1">
            <a:off x="1581262" y="5078514"/>
            <a:ext cx="186685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7" name="Connector 46"/>
          <p:cNvCxnSpPr/>
          <p:nvPr/>
        </p:nvCxnSpPr>
        <p:spPr>
          <a:xfrm flipV="1">
            <a:off x="8613077" y="3483310"/>
            <a:ext cx="0" cy="30677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8" name="Connector 47"/>
          <p:cNvCxnSpPr/>
          <p:nvPr/>
        </p:nvCxnSpPr>
        <p:spPr>
          <a:xfrm flipH="1">
            <a:off x="4523779" y="3483310"/>
            <a:ext cx="4089297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9" name="Connector 48"/>
          <p:cNvCxnSpPr/>
          <p:nvPr/>
        </p:nvCxnSpPr>
        <p:spPr>
          <a:xfrm>
            <a:off x="4523779" y="3483310"/>
            <a:ext cx="0" cy="306770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0" name="TextBox 49"/>
          <p:cNvSpPr txBox="1"/>
          <p:nvPr/>
        </p:nvSpPr>
        <p:spPr>
          <a:xfrm>
            <a:off x="5234961" y="3329925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92" b="0" i="0">
                <a:solidFill>
                  <a:srgbClr val="B51F1F"/>
                </a:solidFill>
              </a:rPr>
              <a:t>conflict → ask either/or</a:t>
            </a:r>
          </a:p>
        </p:txBody>
      </p:sp>
      <p:cxnSp>
        <p:nvCxnSpPr>
          <p:cNvPr id="9051" name="Connector 50"/>
          <p:cNvCxnSpPr/>
          <p:nvPr/>
        </p:nvCxnSpPr>
        <p:spPr>
          <a:xfrm flipV="1">
            <a:off x="10568828" y="3268572"/>
            <a:ext cx="0" cy="521508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2" name="Connector 51"/>
          <p:cNvCxnSpPr/>
          <p:nvPr/>
        </p:nvCxnSpPr>
        <p:spPr>
          <a:xfrm flipH="1">
            <a:off x="4301534" y="3268572"/>
            <a:ext cx="6267293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3" name="Connector 52"/>
          <p:cNvCxnSpPr/>
          <p:nvPr/>
        </p:nvCxnSpPr>
        <p:spPr>
          <a:xfrm>
            <a:off x="4301534" y="3268572"/>
            <a:ext cx="0" cy="521508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4" name="TextBox 53"/>
          <p:cNvSpPr txBox="1"/>
          <p:nvPr/>
        </p:nvSpPr>
        <p:spPr>
          <a:xfrm>
            <a:off x="6123939" y="3115187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92" b="0" i="0">
                <a:solidFill>
                  <a:srgbClr val="B51F1F"/>
                </a:solidFill>
              </a:rPr>
              <a:t>answer not usable → reframe</a:t>
            </a:r>
          </a:p>
        </p:txBody>
      </p:sp>
      <p:cxnSp>
        <p:nvCxnSpPr>
          <p:cNvPr id="9055" name="Connector 54"/>
          <p:cNvCxnSpPr>
            <a:cxnSpLocks/>
          </p:cNvCxnSpPr>
          <p:nvPr/>
        </p:nvCxnSpPr>
        <p:spPr>
          <a:xfrm flipH="1" flipV="1">
            <a:off x="10924418" y="3053832"/>
            <a:ext cx="6809" cy="736248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6" name="Connector 55"/>
          <p:cNvCxnSpPr>
            <a:cxnSpLocks/>
          </p:cNvCxnSpPr>
          <p:nvPr/>
        </p:nvCxnSpPr>
        <p:spPr>
          <a:xfrm flipH="1">
            <a:off x="2479130" y="3053832"/>
            <a:ext cx="8445287" cy="0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7" name="Connector 56"/>
          <p:cNvCxnSpPr/>
          <p:nvPr/>
        </p:nvCxnSpPr>
        <p:spPr>
          <a:xfrm>
            <a:off x="2479130" y="3053832"/>
            <a:ext cx="0" cy="736248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8" name="TextBox 57"/>
          <p:cNvSpPr txBox="1"/>
          <p:nvPr/>
        </p:nvSpPr>
        <p:spPr>
          <a:xfrm>
            <a:off x="4523779" y="2884642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92" b="0" i="0" dirty="0">
                <a:solidFill>
                  <a:srgbClr val="1E8449"/>
                </a:solidFill>
              </a:rPr>
              <a:t>usable / committed / default → next slot</a:t>
            </a:r>
          </a:p>
        </p:txBody>
      </p:sp>
      <p:sp>
        <p:nvSpPr>
          <p:cNvPr id="9059" name="TextBox 58"/>
          <p:cNvSpPr txBox="1"/>
          <p:nvPr/>
        </p:nvSpPr>
        <p:spPr>
          <a:xfrm>
            <a:off x="3190313" y="4418959"/>
            <a:ext cx="2666932" cy="21473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40" b="0" i="1">
                <a:solidFill>
                  <a:srgbClr val="1F6FB2"/>
                </a:solidFill>
              </a:rPr>
              <a:t>↑ question out via Behaviour-TTS · answer in via Perception-ASR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7A95A-0FB0-C8F5-97E4-ABAAAAFA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5CF8-488F-76BE-CD92-A9AFF138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Six Preferences the Conversation Learns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BCE7-9C2C-0990-0178-0B33C64E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0000" cy="4351338"/>
          </a:xfrm>
        </p:spPr>
        <p:txBody>
          <a:bodyPr anchor="ctr" anchorCtr="0">
            <a:normAutofit/>
          </a:bodyPr>
          <a:lstStyle/>
          <a:p>
            <a:r>
              <a:rPr lang="en-IN" sz="1400" b="0" dirty="0">
                <a:latin typeface="Helvetica" pitchFamily="2" charset="0"/>
              </a:rPr>
              <a:t>Every value the LLM produces passes through a whitelist before it can reach the Bayesian network</a:t>
            </a:r>
            <a:r>
              <a:rPr lang="en-IN" sz="1400" dirty="0" b="0">
                <a:latin typeface="Helvetica" pitchFamily="2" charset="0"/>
              </a:rPr>
              <a:t/>
            </a:r>
          </a:p>
          <a:p>
            <a:r>
              <a:rPr lang="en-IN" sz="1400" b="0" dirty="0">
                <a:latin typeface="Helvetica" pitchFamily="2" charset="0"/>
              </a:rPr>
              <a:t>A conversation never has to fill all six - partial evidence still works</a:t>
            </a:r>
            <a:r>
              <a:rPr lang="en-IN" sz="1400" dirty="0" b="0">
                <a:latin typeface="Helvetica" pitchFamily="2" charset="0"/>
              </a:rPr>
              <a:t/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C0856-ECBB-753E-C5BB-D2AE1FBE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A6EE8-D641-CD18-9BEF-1B87D1B8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8</a:t>
            </a:fld>
            <a:endParaRPr lang="en-IN">
              <a:latin typeface="Helvetica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B05F6-4113-00AF-5EC8-7CF12C766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31211"/>
              </p:ext>
            </p:extLst>
          </p:nvPr>
        </p:nvGraphicFramePr>
        <p:xfrm>
          <a:off x="5486931" y="1850000"/>
          <a:ext cx="6326462" cy="30100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62610445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537135339"/>
                    </a:ext>
                  </a:extLst>
                </a:gridCol>
                <a:gridCol w="2126462">
                  <a:extLst>
                    <a:ext uri="{9D8B030D-6E8A-4147-A177-3AD203B41FA5}">
                      <a16:colId xmlns:a16="http://schemas.microsoft.com/office/drawing/2014/main" val="503549035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100"/>
                        <a:t>Preference</a:t>
                      </a:r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Possible values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Example cue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41930348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Budget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Low . Med . High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“keep it cheap”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117795888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GroupSize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Solo . Small . Large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“just me”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18483504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ActivityLevel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Relaxed . Moderate . Active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“something chill”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77163317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Setting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sz="11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Indoor . Outdoor . Either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“fresh air”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92989794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TimeOfDay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Day . Evening . Night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“later tonight”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222573016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Interest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Arts . Music . Food . Sports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“live music”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222573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64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6014-0327-0415-69B3-AC11FA8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047FE-7CD1-65D7-1AB8-2A60343C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DD105-0E7A-7C7F-6CE4-EFD8F61B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63D2E-1E84-9CD5-7546-B39F587F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2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Bayesian Reasoning Engine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0000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Interest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333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0666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GroupSize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999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1332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ActivityLevel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01665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TimeOfDay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VenueType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45166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55333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0666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SocialContext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85832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95999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81332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EnergyProfile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6498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736665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0667" y="4700000"/>
            <a:ext cx="3510666" cy="950000"/>
          </a:xfrm>
          <a:prstGeom prst="round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EventRec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8 events, ranked by probability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55333" y="4200000"/>
            <a:ext cx="36406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5999" y="4200000"/>
            <a:ext cx="1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6000" y="4200000"/>
            <a:ext cx="3640665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Explainability: Posterior, Not a Score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recommend() runs LazyPropagation on the BayesNet, sorts EventRec's posterior descending</a:t>
            </a:r>
          </a:p>
          <a:p>
            <a:r>
              <a:rPr lang="en-US" sz="2400" dirty="0">
                <a:latin typeface="Helvetica" pitchFamily="2" charset="0"/>
              </a:rPr>
              <a:t>explain() reads back the argmax of VenueType / SocialContext / EnergyProfile to phrase the reason</a:t>
            </a:r>
          </a:p>
          <a:p>
            <a:r>
              <a:rPr lang="en-US" sz="2400" dirty="0">
                <a:latin typeface="Helvetica" pitchFamily="2" charset="0"/>
              </a:rPr>
              <a:t>Museum 34% - cultural venue (VenueType) + intimate vibe (SocialContext) + low-key feel (EnergyProfile)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2C39-10E2-D433-D361-E74291DC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AE5AC-B90C-4FB5-49C1-F1F8E2BBB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1F7F4-3CD3-76BD-7CD8-427FCD58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AF7CC-264C-DE9A-1180-121F6186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41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Behaviour: WP4 Implementation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tts.py: edge-tts neural voice, pyttsx3 offline fallback, selectable via TTS_BACKEND</a:t>
            </a:r>
          </a:p>
          <a:p>
            <a:r>
              <a:rPr lang="en-US" sz="2400" dirty="0">
                <a:latin typeface="Helvetica" pitchFamily="2" charset="0"/>
              </a:rPr>
              <a:t>say_with_gesture(text, name) launches speech + ALAnimationPlayer gesture concurrently, blocks on both</a:t>
            </a:r>
          </a:p>
          <a:p>
            <a:r>
              <a:rPr lang="en-US" sz="2400" dirty="0">
                <a:latin typeface="Helvetica" pitchFamily="2" charset="0"/>
              </a:rPr>
              <a:t>Tablet image is a textured panel pinned to the tablet link; falls back to a desktop preview window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Two Runtimes, One Bridge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0000" y="3200000"/>
            <a:ext cx="4300000" cy="1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Robot FSM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Python 3.8 . qiBullet / NAOqi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owns voice +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2000" y="3200000"/>
            <a:ext cx="4300000" cy="190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Dialogue Service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Python 3.11 . LangGraph + Groq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owns language understanding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00000" y="4030000"/>
            <a:ext cx="17920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200000" y="4270000"/>
            <a:ext cx="17920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00000" y="2780000"/>
            <a:ext cx="179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Helvetica"/>
              </a:rPr>
              <a:t>newline-delimited JSON over stdio (subprocess)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3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Helvetica"/>
              </a:rPr>
              <a:t>speaks each question, captures the reply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2000" y="53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Helvetica"/>
              </a:rPr>
              <a:t>frames questions, parses answers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9F7B-3759-F6CC-24A4-3C758E3F7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FDBB-454B-0353-2FA5-A42C229E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Evaluation Criteria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2113E-7CBB-269B-D54A-5044D1C8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83781-DD26-973A-9F9C-12FD2298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23</a:t>
            </a:fld>
            <a:endParaRPr lang="en-IN" dirty="0">
              <a:latin typeface="Helvetica" pitchFamily="2" charset="0"/>
            </a:endParaRPr>
          </a:p>
        </p:txBody>
      </p:sp>
      <p:pic>
        <p:nvPicPr>
          <p:cNvPr id="20" name="Google Shape;157;p19" descr="image.png">
            <a:extLst>
              <a:ext uri="{FF2B5EF4-FFF2-40B4-BE49-F238E27FC236}">
                <a16:creationId xmlns:a16="http://schemas.microsoft.com/office/drawing/2014/main" id="{A239A384-511F-B728-20E6-1BFF22855D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5" y="1716195"/>
            <a:ext cx="4038600" cy="121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58;p19" descr="image.png">
            <a:extLst>
              <a:ext uri="{FF2B5EF4-FFF2-40B4-BE49-F238E27FC236}">
                <a16:creationId xmlns:a16="http://schemas.microsoft.com/office/drawing/2014/main" id="{7FFA6844-E337-896F-CDA4-F4D05C151A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615598"/>
            <a:ext cx="4038600" cy="110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60;p19">
            <a:extLst>
              <a:ext uri="{FF2B5EF4-FFF2-40B4-BE49-F238E27FC236}">
                <a16:creationId xmlns:a16="http://schemas.microsoft.com/office/drawing/2014/main" id="{9C922979-11F9-4362-7164-1F5F91BCC4D9}"/>
              </a:ext>
            </a:extLst>
          </p:cNvPr>
          <p:cNvSpPr txBox="1"/>
          <p:nvPr/>
        </p:nvSpPr>
        <p:spPr>
          <a:xfrm>
            <a:off x="5351780" y="2036354"/>
            <a:ext cx="636079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/>
            </a:r>
            <a:endParaRPr dirty="0"/>
          </a:p>
        </p:txBody>
      </p:sp>
      <p:graphicFrame>
        <p:nvGraphicFramePr>
          <p:cNvPr id="25" name="Google Shape;161;p19">
            <a:extLst>
              <a:ext uri="{FF2B5EF4-FFF2-40B4-BE49-F238E27FC236}">
                <a16:creationId xmlns:a16="http://schemas.microsoft.com/office/drawing/2014/main" id="{3DDF9C9B-A02B-8840-A024-442A0CE8A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3106695"/>
              </p:ext>
            </p:extLst>
          </p:nvPr>
        </p:nvGraphicFramePr>
        <p:xfrm>
          <a:off x="5351780" y="2150000"/>
          <a:ext cx="6057900" cy="234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Check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Expected result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Face detection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Starts when a user is visible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Dialogue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Asks each question once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Parsing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Converts replies into evidence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Recommendation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Top events match preferences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Presentation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Speaks the result + gestures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Google Shape;162;p19">
            <a:extLst>
              <a:ext uri="{FF2B5EF4-FFF2-40B4-BE49-F238E27FC236}">
                <a16:creationId xmlns:a16="http://schemas.microsoft.com/office/drawing/2014/main" id="{81909A7C-7FCB-7318-9EF3-4436A56E9E86}"/>
              </a:ext>
            </a:extLst>
          </p:cNvPr>
          <p:cNvSpPr txBox="1"/>
          <p:nvPr/>
        </p:nvSpPr>
        <p:spPr>
          <a:xfrm>
            <a:off x="1057275" y="1874771"/>
            <a:ext cx="730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RUN MODES</a:t>
            </a:r>
            <a:endParaRPr dirty="0"/>
          </a:p>
        </p:txBody>
      </p:sp>
      <p:sp>
        <p:nvSpPr>
          <p:cNvPr id="27" name="Google Shape;163;p19">
            <a:extLst>
              <a:ext uri="{FF2B5EF4-FFF2-40B4-BE49-F238E27FC236}">
                <a16:creationId xmlns:a16="http://schemas.microsoft.com/office/drawing/2014/main" id="{1C50DA4F-4940-CD93-B7E0-CA0C986F49C6}"/>
              </a:ext>
            </a:extLst>
          </p:cNvPr>
          <p:cNvSpPr txBox="1"/>
          <p:nvPr/>
        </p:nvSpPr>
        <p:spPr>
          <a:xfrm>
            <a:off x="1057275" y="2103371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ea typeface="DM Sans"/>
                <a:cs typeface="DM Sans"/>
                <a:sym typeface="DM Sans"/>
              </a:rPr>
              <a:t>--source</a:t>
            </a:r>
            <a:endParaRPr dirty="0"/>
          </a:p>
        </p:txBody>
      </p:sp>
      <p:sp>
        <p:nvSpPr>
          <p:cNvPr id="28" name="Google Shape;164;p19">
            <a:extLst>
              <a:ext uri="{FF2B5EF4-FFF2-40B4-BE49-F238E27FC236}">
                <a16:creationId xmlns:a16="http://schemas.microsoft.com/office/drawing/2014/main" id="{937225FA-3FDB-FBDD-732F-7761D39E933A}"/>
              </a:ext>
            </a:extLst>
          </p:cNvPr>
          <p:cNvSpPr txBox="1"/>
          <p:nvPr/>
        </p:nvSpPr>
        <p:spPr>
          <a:xfrm>
            <a:off x="1057275" y="2389121"/>
            <a:ext cx="3514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ea typeface="DM Sans"/>
                <a:cs typeface="DM Sans"/>
                <a:sym typeface="DM Sans"/>
              </a:rPr>
              <a:t>scripted . webcam . pepper . hybrid</a:t>
            </a:r>
            <a:br>
              <a:rPr lang="en-US" sz="1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ea typeface="DM Sans"/>
                <a:cs typeface="DM Sans"/>
                <a:sym typeface="DM Sans"/>
              </a:rPr>
              <a:t/>
            </a:r>
            <a:endParaRPr dirty="0"/>
          </a:p>
        </p:txBody>
      </p:sp>
      <p:sp>
        <p:nvSpPr>
          <p:cNvPr id="29" name="Google Shape;165;p19">
            <a:extLst>
              <a:ext uri="{FF2B5EF4-FFF2-40B4-BE49-F238E27FC236}">
                <a16:creationId xmlns:a16="http://schemas.microsoft.com/office/drawing/2014/main" id="{1A54603B-9CFF-AA70-8B0E-6ABE8D0BE849}"/>
              </a:ext>
            </a:extLst>
          </p:cNvPr>
          <p:cNvSpPr txBox="1"/>
          <p:nvPr/>
        </p:nvSpPr>
        <p:spPr>
          <a:xfrm>
            <a:off x="1047750" y="4773645"/>
            <a:ext cx="200533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RUNTIMES</a:t>
            </a:r>
            <a:endParaRPr dirty="0"/>
          </a:p>
        </p:txBody>
      </p:sp>
      <p:sp>
        <p:nvSpPr>
          <p:cNvPr id="30" name="Google Shape;166;p19">
            <a:extLst>
              <a:ext uri="{FF2B5EF4-FFF2-40B4-BE49-F238E27FC236}">
                <a16:creationId xmlns:a16="http://schemas.microsoft.com/office/drawing/2014/main" id="{6B1C3DB2-84D6-55D0-C18C-D11E875CAD67}"/>
              </a:ext>
            </a:extLst>
          </p:cNvPr>
          <p:cNvSpPr txBox="1"/>
          <p:nvPr/>
        </p:nvSpPr>
        <p:spPr>
          <a:xfrm>
            <a:off x="1047750" y="5002245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ea typeface="DM Sans"/>
                <a:cs typeface="DM Sans"/>
                <a:sym typeface="DM Sans"/>
              </a:rPr>
              <a:t>Python 3.8 + 3.11</a:t>
            </a:r>
            <a:endParaRPr dirty="0"/>
          </a:p>
        </p:txBody>
      </p:sp>
      <p:sp>
        <p:nvSpPr>
          <p:cNvPr id="31" name="Google Shape;167;p19">
            <a:extLst>
              <a:ext uri="{FF2B5EF4-FFF2-40B4-BE49-F238E27FC236}">
                <a16:creationId xmlns:a16="http://schemas.microsoft.com/office/drawing/2014/main" id="{4F0C237A-D15A-57EF-B821-734D39CDD772}"/>
              </a:ext>
            </a:extLst>
          </p:cNvPr>
          <p:cNvSpPr txBox="1"/>
          <p:nvPr/>
        </p:nvSpPr>
        <p:spPr>
          <a:xfrm>
            <a:off x="1047750" y="5287995"/>
            <a:ext cx="35147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ea typeface="DM Sans"/>
                <a:cs typeface="DM Sans"/>
                <a:sym typeface="DM Sans"/>
              </a:rPr>
              <a:t>bridged via uv + JSON over stdio</a:t>
            </a:r>
            <a:endParaRPr/>
          </a:p>
        </p:txBody>
      </p:sp>
      <p:sp>
        <p:nvSpPr>
          <p:cNvPr id="33" name="Google Shape;168;p19">
            <a:extLst>
              <a:ext uri="{FF2B5EF4-FFF2-40B4-BE49-F238E27FC236}">
                <a16:creationId xmlns:a16="http://schemas.microsoft.com/office/drawing/2014/main" id="{7F9CC00E-5574-535B-D34B-85C20312A0BE}"/>
              </a:ext>
            </a:extLst>
          </p:cNvPr>
          <p:cNvSpPr/>
          <p:nvPr/>
        </p:nvSpPr>
        <p:spPr>
          <a:xfrm>
            <a:off x="5351780" y="3746091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69;p19">
            <a:extLst>
              <a:ext uri="{FF2B5EF4-FFF2-40B4-BE49-F238E27FC236}">
                <a16:creationId xmlns:a16="http://schemas.microsoft.com/office/drawing/2014/main" id="{96B4100E-7818-EB43-C103-19AE6BA8F102}"/>
              </a:ext>
            </a:extLst>
          </p:cNvPr>
          <p:cNvSpPr/>
          <p:nvPr/>
        </p:nvSpPr>
        <p:spPr>
          <a:xfrm>
            <a:off x="8415406" y="3746091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70;p19">
            <a:extLst>
              <a:ext uri="{FF2B5EF4-FFF2-40B4-BE49-F238E27FC236}">
                <a16:creationId xmlns:a16="http://schemas.microsoft.com/office/drawing/2014/main" id="{324C5FE5-7F5E-DC10-CED6-8FB49B1E9D32}"/>
              </a:ext>
            </a:extLst>
          </p:cNvPr>
          <p:cNvSpPr/>
          <p:nvPr/>
        </p:nvSpPr>
        <p:spPr>
          <a:xfrm>
            <a:off x="9964558" y="3746091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71;p19">
            <a:extLst>
              <a:ext uri="{FF2B5EF4-FFF2-40B4-BE49-F238E27FC236}">
                <a16:creationId xmlns:a16="http://schemas.microsoft.com/office/drawing/2014/main" id="{4D216C65-11D7-26ED-CD2B-1818FAAD02DF}"/>
              </a:ext>
            </a:extLst>
          </p:cNvPr>
          <p:cNvSpPr/>
          <p:nvPr/>
        </p:nvSpPr>
        <p:spPr>
          <a:xfrm>
            <a:off x="5351780" y="4384266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72;p19">
            <a:extLst>
              <a:ext uri="{FF2B5EF4-FFF2-40B4-BE49-F238E27FC236}">
                <a16:creationId xmlns:a16="http://schemas.microsoft.com/office/drawing/2014/main" id="{7C839AAA-6AE5-8397-DC85-38545651171A}"/>
              </a:ext>
            </a:extLst>
          </p:cNvPr>
          <p:cNvSpPr/>
          <p:nvPr/>
        </p:nvSpPr>
        <p:spPr>
          <a:xfrm>
            <a:off x="8415406" y="4384266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73;p19">
            <a:extLst>
              <a:ext uri="{FF2B5EF4-FFF2-40B4-BE49-F238E27FC236}">
                <a16:creationId xmlns:a16="http://schemas.microsoft.com/office/drawing/2014/main" id="{4816541E-8E04-847D-E2E4-D818CC9E167F}"/>
              </a:ext>
            </a:extLst>
          </p:cNvPr>
          <p:cNvSpPr/>
          <p:nvPr/>
        </p:nvSpPr>
        <p:spPr>
          <a:xfrm>
            <a:off x="9964558" y="4384266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74;p19">
            <a:extLst>
              <a:ext uri="{FF2B5EF4-FFF2-40B4-BE49-F238E27FC236}">
                <a16:creationId xmlns:a16="http://schemas.microsoft.com/office/drawing/2014/main" id="{70EAE1FF-498B-F8F3-D133-72A44B3E358A}"/>
              </a:ext>
            </a:extLst>
          </p:cNvPr>
          <p:cNvSpPr/>
          <p:nvPr/>
        </p:nvSpPr>
        <p:spPr>
          <a:xfrm>
            <a:off x="5351780" y="5022441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75;p19">
            <a:extLst>
              <a:ext uri="{FF2B5EF4-FFF2-40B4-BE49-F238E27FC236}">
                <a16:creationId xmlns:a16="http://schemas.microsoft.com/office/drawing/2014/main" id="{5024EBC5-EF4F-F776-EF6C-A90224048E6D}"/>
              </a:ext>
            </a:extLst>
          </p:cNvPr>
          <p:cNvSpPr/>
          <p:nvPr/>
        </p:nvSpPr>
        <p:spPr>
          <a:xfrm>
            <a:off x="8415406" y="5022441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76;p19">
            <a:extLst>
              <a:ext uri="{FF2B5EF4-FFF2-40B4-BE49-F238E27FC236}">
                <a16:creationId xmlns:a16="http://schemas.microsoft.com/office/drawing/2014/main" id="{854A517A-C491-895F-5E62-B24B1CD8FDE9}"/>
              </a:ext>
            </a:extLst>
          </p:cNvPr>
          <p:cNvSpPr/>
          <p:nvPr/>
        </p:nvSpPr>
        <p:spPr>
          <a:xfrm>
            <a:off x="9964558" y="5022441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157;p19" descr="image.png">
            <a:extLst>
              <a:ext uri="{FF2B5EF4-FFF2-40B4-BE49-F238E27FC236}">
                <a16:creationId xmlns:a16="http://schemas.microsoft.com/office/drawing/2014/main" id="{0FB73479-94A0-A5E6-9E28-AF70870840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5" y="3194493"/>
            <a:ext cx="4038600" cy="11578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62;p19">
            <a:extLst>
              <a:ext uri="{FF2B5EF4-FFF2-40B4-BE49-F238E27FC236}">
                <a16:creationId xmlns:a16="http://schemas.microsoft.com/office/drawing/2014/main" id="{FA215E66-8C3B-C250-1DDF-58EE7D1215C2}"/>
              </a:ext>
            </a:extLst>
          </p:cNvPr>
          <p:cNvSpPr txBox="1"/>
          <p:nvPr/>
        </p:nvSpPr>
        <p:spPr>
          <a:xfrm>
            <a:off x="1047750" y="3370061"/>
            <a:ext cx="95377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GOAL</a:t>
            </a:r>
            <a:endParaRPr dirty="0"/>
          </a:p>
        </p:txBody>
      </p:sp>
      <p:sp>
        <p:nvSpPr>
          <p:cNvPr id="48" name="Google Shape;163;p19">
            <a:extLst>
              <a:ext uri="{FF2B5EF4-FFF2-40B4-BE49-F238E27FC236}">
                <a16:creationId xmlns:a16="http://schemas.microsoft.com/office/drawing/2014/main" id="{55604972-B8C8-5F5E-B99D-FAA0395B1E6F}"/>
              </a:ext>
            </a:extLst>
          </p:cNvPr>
          <p:cNvSpPr txBox="1"/>
          <p:nvPr/>
        </p:nvSpPr>
        <p:spPr>
          <a:xfrm>
            <a:off x="1047750" y="3598661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1" dirty="0"/>
              <a:t>A working prototype</a:t>
            </a:r>
            <a:endParaRPr lang="en-IN" sz="1500" b="1" dirty="0"/>
          </a:p>
        </p:txBody>
      </p:sp>
      <p:sp>
        <p:nvSpPr>
          <p:cNvPr id="49" name="Google Shape;164;p19">
            <a:extLst>
              <a:ext uri="{FF2B5EF4-FFF2-40B4-BE49-F238E27FC236}">
                <a16:creationId xmlns:a16="http://schemas.microsoft.com/office/drawing/2014/main" id="{50D3A35D-7E31-58C1-888D-C3524527AEF0}"/>
              </a:ext>
            </a:extLst>
          </p:cNvPr>
          <p:cNvSpPr txBox="1"/>
          <p:nvPr/>
        </p:nvSpPr>
        <p:spPr>
          <a:xfrm>
            <a:off x="1047750" y="3884411"/>
            <a:ext cx="35147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dirty="0">
                <a:solidFill>
                  <a:srgbClr val="475569"/>
                </a:solidFill>
              </a:rPr>
              <a:t>not a full user study</a:t>
            </a:r>
            <a:endParaRPr sz="120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35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AE9D-7CA5-18CB-C066-2FEC2CD4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EA35-CC06-8294-E104-CFB087C58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Conclusions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09A40-FE80-0EDB-FEA6-1D37FB63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931B5-B5A2-9B0C-7961-5989B5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968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AAA8-E700-86EE-C0D3-B23FBC76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DC3E-64EE-4DDF-83EF-59E507B7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30354-4741-83D7-1814-C2A26AB8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00C94-D9EB-A2CB-5F77-0BE58938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29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C4590E5-11D0-26C4-696D-45A5E328E61C}"/>
              </a:ext>
            </a:extLst>
          </p:cNvPr>
          <p:cNvSpPr/>
          <p:nvPr/>
        </p:nvSpPr>
        <p:spPr>
          <a:xfrm>
            <a:off x="466090" y="1549972"/>
            <a:ext cx="1371600" cy="2560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73022BE-CE05-5545-B4C1-080C06FDAD73}"/>
              </a:ext>
            </a:extLst>
          </p:cNvPr>
          <p:cNvSpPr txBox="1"/>
          <p:nvPr/>
        </p:nvSpPr>
        <p:spPr>
          <a:xfrm>
            <a:off x="466090" y="1562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6ABA"/>
                </a:solidFill>
                <a:latin typeface="Segoe UI"/>
              </a:rPr>
              <a:t>CONCLUSIONS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DF451F1A-DB2A-52FE-07DE-279C2D7BAA2F}"/>
              </a:ext>
            </a:extLst>
          </p:cNvPr>
          <p:cNvSpPr/>
          <p:nvPr/>
        </p:nvSpPr>
        <p:spPr>
          <a:xfrm>
            <a:off x="466090" y="2010728"/>
            <a:ext cx="5591556" cy="55556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BC6BD71-4CAB-CB7E-047C-C2DF1E793B9E}"/>
              </a:ext>
            </a:extLst>
          </p:cNvPr>
          <p:cNvSpPr/>
          <p:nvPr/>
        </p:nvSpPr>
        <p:spPr>
          <a:xfrm>
            <a:off x="466090" y="2010728"/>
            <a:ext cx="64008" cy="55556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139152BC-4F7C-C61A-8976-072ED0D2EE11}"/>
              </a:ext>
            </a:extLst>
          </p:cNvPr>
          <p:cNvSpPr/>
          <p:nvPr/>
        </p:nvSpPr>
        <p:spPr>
          <a:xfrm>
            <a:off x="630682" y="2116900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F6F5A33-9FF0-7A68-F47A-6A40AE77D950}"/>
              </a:ext>
            </a:extLst>
          </p:cNvPr>
          <p:cNvSpPr txBox="1"/>
          <p:nvPr/>
        </p:nvSpPr>
        <p:spPr>
          <a:xfrm>
            <a:off x="630682" y="2142300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01622A6-7F3E-7E05-5E45-1B89A6609EB3}"/>
              </a:ext>
            </a:extLst>
          </p:cNvPr>
          <p:cNvSpPr txBox="1"/>
          <p:nvPr/>
        </p:nvSpPr>
        <p:spPr>
          <a:xfrm>
            <a:off x="978154" y="1998028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Explainable by design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6C554D8-0A67-DBD2-F8B4-6F4C0BBC4785}"/>
              </a:ext>
            </a:extLst>
          </p:cNvPr>
          <p:cNvSpPr txBox="1"/>
          <p:nvPr/>
        </p:nvSpPr>
        <p:spPr>
          <a:xfrm>
            <a:off x="978154" y="2299780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07080"/>
                </a:solidFill>
                <a:latin typeface="Segoe UI"/>
              </a:rPr>
              <a:t>Evidence -&gt; 3 latent nodes (VenueType, SocialContext, EnergyProfile) -&gt; EventRec posterior; never a black-box score.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3D5133B0-7162-1F5A-C85C-E8561A7D6D50}"/>
              </a:ext>
            </a:extLst>
          </p:cNvPr>
          <p:cNvSpPr/>
          <p:nvPr/>
        </p:nvSpPr>
        <p:spPr>
          <a:xfrm>
            <a:off x="466090" y="2674780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8CCDFB4-C259-D9A3-E361-E2AFA43B4B43}"/>
              </a:ext>
            </a:extLst>
          </p:cNvPr>
          <p:cNvSpPr/>
          <p:nvPr/>
        </p:nvSpPr>
        <p:spPr>
          <a:xfrm>
            <a:off x="466090" y="2674780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0863332-3705-08F0-0EA4-5BBD03AFFB12}"/>
              </a:ext>
            </a:extLst>
          </p:cNvPr>
          <p:cNvSpPr/>
          <p:nvPr/>
        </p:nvSpPr>
        <p:spPr>
          <a:xfrm>
            <a:off x="630682" y="2779237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63D480D-5A59-15E3-4BE7-6B45C51C3277}"/>
              </a:ext>
            </a:extLst>
          </p:cNvPr>
          <p:cNvSpPr txBox="1"/>
          <p:nvPr/>
        </p:nvSpPr>
        <p:spPr>
          <a:xfrm>
            <a:off x="630682" y="2804637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BCC10AF-3DEB-3F74-48E8-DF38012E484F}"/>
              </a:ext>
            </a:extLst>
          </p:cNvPr>
          <p:cNvSpPr txBox="1"/>
          <p:nvPr/>
        </p:nvSpPr>
        <p:spPr>
          <a:xfrm>
            <a:off x="978154" y="2660365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LLM output is sandboxed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21C96C7-A9F3-990F-933B-FDA613B59942}"/>
              </a:ext>
            </a:extLst>
          </p:cNvPr>
          <p:cNvSpPr txBox="1"/>
          <p:nvPr/>
        </p:nvSpPr>
        <p:spPr>
          <a:xfrm>
            <a:off x="978154" y="2962117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validate_evidence() in contracts.py whitelists every LLM-produced slot value before it reaches the BayesNet.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8AA72C20-E873-4222-0D5B-FFE0B3345B86}"/>
              </a:ext>
            </a:extLst>
          </p:cNvPr>
          <p:cNvSpPr/>
          <p:nvPr/>
        </p:nvSpPr>
        <p:spPr>
          <a:xfrm>
            <a:off x="466090" y="3353722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F777BE26-B638-A2B5-A3FF-9D3CF997F74E}"/>
              </a:ext>
            </a:extLst>
          </p:cNvPr>
          <p:cNvSpPr/>
          <p:nvPr/>
        </p:nvSpPr>
        <p:spPr>
          <a:xfrm>
            <a:off x="466090" y="3353722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728D1C0-85A1-0D70-E00B-3BFFCAEFADC0}"/>
              </a:ext>
            </a:extLst>
          </p:cNvPr>
          <p:cNvSpPr/>
          <p:nvPr/>
        </p:nvSpPr>
        <p:spPr>
          <a:xfrm>
            <a:off x="630682" y="3458179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FD5C397-FDC9-9A20-D9B9-E14635FE6CE1}"/>
              </a:ext>
            </a:extLst>
          </p:cNvPr>
          <p:cNvSpPr txBox="1"/>
          <p:nvPr/>
        </p:nvSpPr>
        <p:spPr>
          <a:xfrm>
            <a:off x="630682" y="3483579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A207529-DABA-E8F8-0D4D-5110ADF80CE8}"/>
              </a:ext>
            </a:extLst>
          </p:cNvPr>
          <p:cNvSpPr txBox="1"/>
          <p:nvPr/>
        </p:nvSpPr>
        <p:spPr>
          <a:xfrm>
            <a:off x="978154" y="3339307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Fault-tolerant FSM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50C2C1-B771-B5FE-B2FF-82981CD93169}"/>
              </a:ext>
            </a:extLst>
          </p:cNvPr>
          <p:cNvSpPr txBox="1"/>
          <p:nvPr/>
        </p:nvSpPr>
        <p:spPr>
          <a:xfrm>
            <a:off x="978154" y="3641059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InteractionFSM resets to Idle on dropout and still calls recommend() on whatever Evidence is available.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DE042D42-7DC2-5182-C14B-5197E5FB406A}"/>
              </a:ext>
            </a:extLst>
          </p:cNvPr>
          <p:cNvSpPr/>
          <p:nvPr/>
        </p:nvSpPr>
        <p:spPr>
          <a:xfrm>
            <a:off x="466090" y="4060024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D5C7BA4F-3B51-1F42-FEA9-9E273E8BAEA8}"/>
              </a:ext>
            </a:extLst>
          </p:cNvPr>
          <p:cNvSpPr/>
          <p:nvPr/>
        </p:nvSpPr>
        <p:spPr>
          <a:xfrm>
            <a:off x="466090" y="4060024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1AB63BBA-8180-F42D-BAD1-595A931FC701}"/>
              </a:ext>
            </a:extLst>
          </p:cNvPr>
          <p:cNvSpPr/>
          <p:nvPr/>
        </p:nvSpPr>
        <p:spPr>
          <a:xfrm>
            <a:off x="630682" y="4164481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3F981C-D290-792B-C83F-01A07639EEC5}"/>
              </a:ext>
            </a:extLst>
          </p:cNvPr>
          <p:cNvSpPr txBox="1"/>
          <p:nvPr/>
        </p:nvSpPr>
        <p:spPr>
          <a:xfrm>
            <a:off x="630682" y="4189881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8368CAB-4F27-C61A-5297-6214E92AF939}"/>
              </a:ext>
            </a:extLst>
          </p:cNvPr>
          <p:cNvSpPr txBox="1"/>
          <p:nvPr/>
        </p:nvSpPr>
        <p:spPr>
          <a:xfrm>
            <a:off x="978154" y="4045609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Two runtimes, one bridge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E4530D5-B5FD-FD29-D84F-A5F7950C80FF}"/>
              </a:ext>
            </a:extLst>
          </p:cNvPr>
          <p:cNvSpPr txBox="1"/>
          <p:nvPr/>
        </p:nvSpPr>
        <p:spPr>
          <a:xfrm>
            <a:off x="978154" y="4347361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607080"/>
                </a:solidFill>
                <a:latin typeface="Segoe UI"/>
              </a:rPr>
              <a:t>Python 3.8 (qiBullet/NAOqi) and 3.11 (LangGraph) exchange newline-delimited JSON via DialogueBridge.</a:t>
            </a:r>
            <a:r>
              <a:rPr lang="en-US" sz="1000" b="0" dirty="0">
                <a:solidFill>
                  <a:srgbClr val="607080"/>
                </a:solidFill>
                <a:latin typeface="Segoe UI"/>
              </a:rPr>
              <a:t/>
            </a:r>
            <a:r>
              <a:rPr lang="en-IN" sz="1000" b="1" dirty="0">
                <a:solidFill>
                  <a:srgbClr val="016ABA"/>
                </a:solidFill>
                <a:latin typeface="Helvetica" pitchFamily="2" charset="0"/>
              </a:rPr>
              <a:t/>
            </a:r>
            <a:r>
              <a:rPr lang="en-US" sz="1000" b="0" dirty="0">
                <a:solidFill>
                  <a:srgbClr val="607080"/>
                </a:solidFill>
                <a:latin typeface="Segoe UI"/>
              </a:rPr>
              <a:t/>
            </a:r>
            <a:endParaRPr sz="1000" b="0" dirty="0">
              <a:solidFill>
                <a:srgbClr val="607080"/>
              </a:solidFill>
              <a:latin typeface="Segoe UI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21BDDFA-04F6-1D47-5440-805517F99C16}"/>
              </a:ext>
            </a:extLst>
          </p:cNvPr>
          <p:cNvSpPr/>
          <p:nvPr/>
        </p:nvSpPr>
        <p:spPr>
          <a:xfrm>
            <a:off x="466090" y="5390452"/>
            <a:ext cx="5591556" cy="18288"/>
          </a:xfrm>
          <a:prstGeom prst="round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6EA4B7F-6646-68AA-4C0A-5796B7481B2B}"/>
              </a:ext>
            </a:extLst>
          </p:cNvPr>
          <p:cNvSpPr txBox="1"/>
          <p:nvPr/>
        </p:nvSpPr>
        <p:spPr>
          <a:xfrm>
            <a:off x="466090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6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AC91C7A-CF5D-E7EC-2976-463D076B0E02}"/>
              </a:ext>
            </a:extLst>
          </p:cNvPr>
          <p:cNvSpPr txBox="1"/>
          <p:nvPr/>
        </p:nvSpPr>
        <p:spPr>
          <a:xfrm>
            <a:off x="466090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Preference slots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C1A5ADA-C955-3CF9-0897-B88B3B2F2C19}"/>
              </a:ext>
            </a:extLst>
          </p:cNvPr>
          <p:cNvSpPr txBox="1"/>
          <p:nvPr/>
        </p:nvSpPr>
        <p:spPr>
          <a:xfrm>
            <a:off x="1863979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8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BB5E15C-5E98-3E4F-DAA8-92896FC16043}"/>
              </a:ext>
            </a:extLst>
          </p:cNvPr>
          <p:cNvSpPr txBox="1"/>
          <p:nvPr/>
        </p:nvSpPr>
        <p:spPr>
          <a:xfrm>
            <a:off x="1863979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Event categories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A40A2A8-4DA0-3A70-E4B3-425F477E1250}"/>
              </a:ext>
            </a:extLst>
          </p:cNvPr>
          <p:cNvSpPr txBox="1"/>
          <p:nvPr/>
        </p:nvSpPr>
        <p:spPr>
          <a:xfrm>
            <a:off x="3261868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91A4330-1D06-66C4-E86B-35E9F1F74843}"/>
              </a:ext>
            </a:extLst>
          </p:cNvPr>
          <p:cNvSpPr txBox="1"/>
          <p:nvPr/>
        </p:nvSpPr>
        <p:spPr>
          <a:xfrm>
            <a:off x="3261868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Python runtimes bridged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65E6EC2-0CE4-08D4-7F3D-F0102F8808EF}"/>
              </a:ext>
            </a:extLst>
          </p:cNvPr>
          <p:cNvSpPr txBox="1"/>
          <p:nvPr/>
        </p:nvSpPr>
        <p:spPr>
          <a:xfrm>
            <a:off x="4659757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16ABA"/>
                </a:solidFill>
                <a:latin typeface="Segoe UI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A326E88-C7C9-135D-DA85-DDE7C26B20FB}"/>
              </a:ext>
            </a:extLst>
          </p:cNvPr>
          <p:cNvSpPr txBox="1"/>
          <p:nvPr/>
        </p:nvSpPr>
        <p:spPr>
          <a:xfrm>
            <a:off x="4659757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Evaluation checks passed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2D6CBB4-64E9-BF18-38C8-93A6EAF9CAEC}"/>
              </a:ext>
            </a:extLst>
          </p:cNvPr>
          <p:cNvSpPr/>
          <p:nvPr/>
        </p:nvSpPr>
        <p:spPr>
          <a:xfrm>
            <a:off x="6423406" y="1549972"/>
            <a:ext cx="1371600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905B735-9505-1D3F-96CD-DD41673180E2}"/>
              </a:ext>
            </a:extLst>
          </p:cNvPr>
          <p:cNvSpPr txBox="1"/>
          <p:nvPr/>
        </p:nvSpPr>
        <p:spPr>
          <a:xfrm>
            <a:off x="6423406" y="1562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Segoe UI"/>
              </a:rPr>
              <a:t>CONCLUSIONS (CONT.)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1EC0680B-2005-E919-3051-7F434276FE53}"/>
              </a:ext>
            </a:extLst>
          </p:cNvPr>
          <p:cNvSpPr/>
          <p:nvPr/>
        </p:nvSpPr>
        <p:spPr>
          <a:xfrm>
            <a:off x="6423406" y="1934020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1992609C-5C61-A9A7-26CB-95B6C102D6D8}"/>
              </a:ext>
            </a:extLst>
          </p:cNvPr>
          <p:cNvSpPr/>
          <p:nvPr/>
        </p:nvSpPr>
        <p:spPr>
          <a:xfrm>
            <a:off x="6423406" y="1934020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92B94D71-1907-B8C9-4BBC-414731F1EE89}"/>
              </a:ext>
            </a:extLst>
          </p:cNvPr>
          <p:cNvSpPr/>
          <p:nvPr/>
        </p:nvSpPr>
        <p:spPr>
          <a:xfrm>
            <a:off x="6587998" y="2116900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FE2AD8C-12A0-3DA3-7CE4-F343573542FA}"/>
              </a:ext>
            </a:extLst>
          </p:cNvPr>
          <p:cNvSpPr txBox="1"/>
          <p:nvPr/>
        </p:nvSpPr>
        <p:spPr>
          <a:xfrm>
            <a:off x="6587998" y="2142300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479C4E2-A69E-BBAE-0418-85BE4BF5A99C}"/>
              </a:ext>
            </a:extLst>
          </p:cNvPr>
          <p:cNvSpPr txBox="1"/>
          <p:nvPr/>
        </p:nvSpPr>
        <p:spPr>
          <a:xfrm>
            <a:off x="6935470" y="1998028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Partial evidence still works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04D3701-E8C7-8E5B-1875-88D4431C2342}"/>
              </a:ext>
            </a:extLst>
          </p:cNvPr>
          <p:cNvSpPr txBox="1"/>
          <p:nvPr/>
        </p:nvSpPr>
        <p:spPr>
          <a:xfrm>
            <a:off x="6935470" y="2299780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LazyPropagation runs on whatever evidence subset exists; missing slots fall back to uniform priors.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A9CC349-2007-1C69-1013-FAD6F76A8BF6}"/>
              </a:ext>
            </a:extLst>
          </p:cNvPr>
          <p:cNvSpPr/>
          <p:nvPr/>
        </p:nvSpPr>
        <p:spPr>
          <a:xfrm>
            <a:off x="6423406" y="2793556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C9C612C-15A3-E46C-5F67-19980A952BF3}"/>
              </a:ext>
            </a:extLst>
          </p:cNvPr>
          <p:cNvSpPr/>
          <p:nvPr/>
        </p:nvSpPr>
        <p:spPr>
          <a:xfrm>
            <a:off x="6423406" y="2793556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968F69C1-7234-E169-841E-E56CFD22EE53}"/>
              </a:ext>
            </a:extLst>
          </p:cNvPr>
          <p:cNvSpPr/>
          <p:nvPr/>
        </p:nvSpPr>
        <p:spPr>
          <a:xfrm>
            <a:off x="6587998" y="2976436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3A2363A-A600-4DC1-8D66-A33B17502B9A}"/>
              </a:ext>
            </a:extLst>
          </p:cNvPr>
          <p:cNvSpPr txBox="1"/>
          <p:nvPr/>
        </p:nvSpPr>
        <p:spPr>
          <a:xfrm>
            <a:off x="6587998" y="3001836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1A476FA-772B-6366-FA6E-437B63F87D82}"/>
              </a:ext>
            </a:extLst>
          </p:cNvPr>
          <p:cNvSpPr txBox="1"/>
          <p:nvPr/>
        </p:nvSpPr>
        <p:spPr>
          <a:xfrm>
            <a:off x="6935470" y="2857564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CPTs are rule-derived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94475F7-F294-F789-9D7B-0AC55197D752}"/>
              </a:ext>
            </a:extLst>
          </p:cNvPr>
          <p:cNvSpPr txBox="1"/>
          <p:nvPr/>
        </p:nvSpPr>
        <p:spPr>
          <a:xfrm>
            <a:off x="6935470" y="3159316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Soft rule dicts (_INTEREST_VENUE, _GROUP_SOCIAL, ...) are normalised into each latent node's CPT at build time, not hand-tuned.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12F85483-7DCF-02A2-4A75-92819077081D}"/>
              </a:ext>
            </a:extLst>
          </p:cNvPr>
          <p:cNvSpPr/>
          <p:nvPr/>
        </p:nvSpPr>
        <p:spPr>
          <a:xfrm>
            <a:off x="6423406" y="3653092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01C82E26-52E6-7402-C400-0FE3D11B9211}"/>
              </a:ext>
            </a:extLst>
          </p:cNvPr>
          <p:cNvSpPr/>
          <p:nvPr/>
        </p:nvSpPr>
        <p:spPr>
          <a:xfrm>
            <a:off x="6423406" y="3653092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F93CB57F-6B62-5C95-1A78-3E3B80C4F51F}"/>
              </a:ext>
            </a:extLst>
          </p:cNvPr>
          <p:cNvSpPr/>
          <p:nvPr/>
        </p:nvSpPr>
        <p:spPr>
          <a:xfrm>
            <a:off x="6587998" y="3835972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491C934-EFE1-4F96-905F-12CC0B41B424}"/>
              </a:ext>
            </a:extLst>
          </p:cNvPr>
          <p:cNvSpPr txBox="1"/>
          <p:nvPr/>
        </p:nvSpPr>
        <p:spPr>
          <a:xfrm>
            <a:off x="6587998" y="3861372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4260AC7-9568-C0CE-B4B1-E9CED854EB52}"/>
              </a:ext>
            </a:extLst>
          </p:cNvPr>
          <p:cNvSpPr txBox="1"/>
          <p:nvPr/>
        </p:nvSpPr>
        <p:spPr>
          <a:xfrm>
            <a:off x="6935470" y="3717100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Dialogue graph is fully offline-testable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44A8016-3AE7-9267-5430-BFB5214D0587}"/>
              </a:ext>
            </a:extLst>
          </p:cNvPr>
          <p:cNvSpPr txBox="1"/>
          <p:nvPr/>
        </p:nvSpPr>
        <p:spPr>
          <a:xfrm>
            <a:off x="6935470" y="4018852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Router/QuestionFramer/AnswerParser/ConflictResolver/Evaluator/Finish run against a ScriptedParser with no LLM or robot.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624FFC0A-FC6F-0491-940E-37CFCF80D75C}"/>
              </a:ext>
            </a:extLst>
          </p:cNvPr>
          <p:cNvSpPr/>
          <p:nvPr/>
        </p:nvSpPr>
        <p:spPr>
          <a:xfrm>
            <a:off x="6423406" y="4512628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58C908D2-E8F7-9EBF-4B3B-05D9DA8D5E00}"/>
              </a:ext>
            </a:extLst>
          </p:cNvPr>
          <p:cNvSpPr/>
          <p:nvPr/>
        </p:nvSpPr>
        <p:spPr>
          <a:xfrm>
            <a:off x="6423406" y="4512628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1A5BC66A-7867-D3AA-CD32-49E6495C18C7}"/>
              </a:ext>
            </a:extLst>
          </p:cNvPr>
          <p:cNvSpPr/>
          <p:nvPr/>
        </p:nvSpPr>
        <p:spPr>
          <a:xfrm>
            <a:off x="6587998" y="469550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9E5AA13-40A6-C075-D744-B56EAE909716}"/>
              </a:ext>
            </a:extLst>
          </p:cNvPr>
          <p:cNvSpPr txBox="1"/>
          <p:nvPr/>
        </p:nvSpPr>
        <p:spPr>
          <a:xfrm>
            <a:off x="6587998" y="4720908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A125353-E46B-C3DA-D501-5F4C397745CB}"/>
              </a:ext>
            </a:extLst>
          </p:cNvPr>
          <p:cNvSpPr txBox="1"/>
          <p:nvPr/>
        </p:nvSpPr>
        <p:spPr>
          <a:xfrm>
            <a:off x="6935470" y="4576636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Reasoning is decoupled from I/O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841B17A-1085-DF7B-8EDD-F4EC7D873DC9}"/>
              </a:ext>
            </a:extLst>
          </p:cNvPr>
          <p:cNvSpPr txBox="1"/>
          <p:nvPr/>
        </p:nvSpPr>
        <p:spPr>
          <a:xfrm>
            <a:off x="6935470" y="4878388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recommend() and explain() are pure functions over an Evidence dict, independent of Pepper's speech or camera.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2C9377B-A39B-22D9-E819-2DCD75AC38D9}"/>
              </a:ext>
            </a:extLst>
          </p:cNvPr>
          <p:cNvSpPr/>
          <p:nvPr/>
        </p:nvSpPr>
        <p:spPr>
          <a:xfrm>
            <a:off x="466090" y="4739450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E46A36FF-8236-EB13-3091-1D0C79ABA089}"/>
              </a:ext>
            </a:extLst>
          </p:cNvPr>
          <p:cNvSpPr/>
          <p:nvPr/>
        </p:nvSpPr>
        <p:spPr>
          <a:xfrm>
            <a:off x="466090" y="4739450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B5EEF3FB-9514-58E4-A41B-FA6EA83E30CC}"/>
              </a:ext>
            </a:extLst>
          </p:cNvPr>
          <p:cNvSpPr/>
          <p:nvPr/>
        </p:nvSpPr>
        <p:spPr>
          <a:xfrm>
            <a:off x="630682" y="4843907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52E216E-BE05-4FD1-9DD1-7850DBF98582}"/>
              </a:ext>
            </a:extLst>
          </p:cNvPr>
          <p:cNvSpPr txBox="1"/>
          <p:nvPr/>
        </p:nvSpPr>
        <p:spPr>
          <a:xfrm>
            <a:off x="630682" y="4869307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Segoe UI"/>
              </a:rPr>
              <a:t>5</a:t>
            </a:r>
            <a:endParaRPr sz="1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8CDB4E3-B8DF-B9C8-D3D6-6976A91AD23B}"/>
              </a:ext>
            </a:extLst>
          </p:cNvPr>
          <p:cNvSpPr txBox="1"/>
          <p:nvPr/>
        </p:nvSpPr>
        <p:spPr>
          <a:xfrm>
            <a:off x="978154" y="4725035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1A2A3A"/>
                </a:solidFill>
                <a:latin typeface="Segoe UI"/>
              </a:rPr>
              <a:t>All 5 work packages integrated</a:t>
            </a:r>
            <a:endParaRPr sz="1200" b="1" dirty="0">
              <a:solidFill>
                <a:srgbClr val="1A2A3A"/>
              </a:solidFill>
              <a:latin typeface="Segoe UI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B4B7978-DBBC-270A-B110-3CF353806F26}"/>
              </a:ext>
            </a:extLst>
          </p:cNvPr>
          <p:cNvSpPr txBox="1"/>
          <p:nvPr/>
        </p:nvSpPr>
        <p:spPr>
          <a:xfrm>
            <a:off x="978154" y="5026787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607080"/>
                </a:solidFill>
                <a:latin typeface="Segoe UI"/>
              </a:rPr>
              <a:t>Perception, dialogue, reasoning, behaviour and FSM orchestration are wired end-to-end in main.py.</a:t>
            </a:r>
            <a:endParaRPr sz="1000" b="0" dirty="0">
              <a:solidFill>
                <a:srgbClr val="6070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0997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66A0-3549-EE57-B5CB-2FB92619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5BEB9B-FCB7-8553-F466-ABC00647E264}"/>
              </a:ext>
            </a:extLst>
          </p:cNvPr>
          <p:cNvSpPr/>
          <p:nvPr/>
        </p:nvSpPr>
        <p:spPr>
          <a:xfrm>
            <a:off x="544609" y="1678080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4C19-54F6-BD72-B77B-AF1857E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Tech Stack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09C7-7B57-C007-C9B3-2CCA2B1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61664-8D0D-DFAB-761D-77F71F48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33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450118-1936-323C-83A5-5D338BF134CE}"/>
              </a:ext>
            </a:extLst>
          </p:cNvPr>
          <p:cNvSpPr/>
          <p:nvPr/>
        </p:nvSpPr>
        <p:spPr>
          <a:xfrm>
            <a:off x="544609" y="1678082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Simulation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DDF96-7F21-BEE2-8A66-00CDC4A5FFF8}"/>
              </a:ext>
            </a:extLst>
          </p:cNvPr>
          <p:cNvSpPr/>
          <p:nvPr/>
        </p:nvSpPr>
        <p:spPr>
          <a:xfrm>
            <a:off x="544609" y="2764771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qiBullet / PyBullet - Pepper's joints, camera and tablet texture.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F7D57A-C7DC-BA34-3A3F-099A05B645F6}"/>
              </a:ext>
            </a:extLst>
          </p:cNvPr>
          <p:cNvSpPr/>
          <p:nvPr/>
        </p:nvSpPr>
        <p:spPr>
          <a:xfrm>
            <a:off x="9219641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578145-CF3F-C517-06CD-42A4B0F4CCC0}"/>
              </a:ext>
            </a:extLst>
          </p:cNvPr>
          <p:cNvSpPr/>
          <p:nvPr/>
        </p:nvSpPr>
        <p:spPr>
          <a:xfrm>
            <a:off x="921964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KNN majority voting smooths isolated misclassifications based on local spatial proximity.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A4FF1-C189-06B8-9D64-0496DF425491}"/>
              </a:ext>
            </a:extLst>
          </p:cNvPr>
          <p:cNvSpPr/>
          <p:nvPr/>
        </p:nvSpPr>
        <p:spPr>
          <a:xfrm>
            <a:off x="6306671" y="1678078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CA1030-164A-28D8-6043-27C00399BF4B}"/>
              </a:ext>
            </a:extLst>
          </p:cNvPr>
          <p:cNvSpPr/>
          <p:nvPr/>
        </p:nvSpPr>
        <p:spPr>
          <a:xfrm>
            <a:off x="6306671" y="1678080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Reasoning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04C46F-6335-E1FC-1215-03C3215B6729}"/>
              </a:ext>
            </a:extLst>
          </p:cNvPr>
          <p:cNvSpPr/>
          <p:nvPr/>
        </p:nvSpPr>
        <p:spPr>
          <a:xfrm>
            <a:off x="630667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0058A7"/>
                </a:solidFill>
                <a:latin typeface="Helvetica"/>
              </a:rPr>
              <a:t>pyAgrum - the explainable Bayesian network engine.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2FE9AE-C73E-EAAD-4F65-D6DE691D583C}"/>
              </a:ext>
            </a:extLst>
          </p:cNvPr>
          <p:cNvSpPr/>
          <p:nvPr/>
        </p:nvSpPr>
        <p:spPr>
          <a:xfrm>
            <a:off x="9155765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C217E9-B213-D1DA-676F-7D04C21CCA17}"/>
              </a:ext>
            </a:extLst>
          </p:cNvPr>
          <p:cNvSpPr/>
          <p:nvPr/>
        </p:nvSpPr>
        <p:spPr>
          <a:xfrm>
            <a:off x="9155765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Voice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AF8212-5911-C79B-E31A-1E55D3BDBABF}"/>
              </a:ext>
            </a:extLst>
          </p:cNvPr>
          <p:cNvSpPr/>
          <p:nvPr/>
        </p:nvSpPr>
        <p:spPr>
          <a:xfrm>
            <a:off x="9155765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edge-tts / pyttsx3 for speech, faster-whisper for local ASR.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B1977-FE5D-BFD6-7C88-25FE16C49899}"/>
              </a:ext>
            </a:extLst>
          </p:cNvPr>
          <p:cNvSpPr/>
          <p:nvPr/>
        </p:nvSpPr>
        <p:spPr>
          <a:xfrm>
            <a:off x="3457578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6E8534-0D75-3C49-A351-5C13928EC750}"/>
              </a:ext>
            </a:extLst>
          </p:cNvPr>
          <p:cNvSpPr/>
          <p:nvPr/>
        </p:nvSpPr>
        <p:spPr>
          <a:xfrm>
            <a:off x="3457578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D55AEEE-5094-D9E1-1A12-EEF7583719C2}"/>
              </a:ext>
            </a:extLst>
          </p:cNvPr>
          <p:cNvSpPr/>
          <p:nvPr/>
        </p:nvSpPr>
        <p:spPr>
          <a:xfrm>
            <a:off x="3393702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D2CFE8-1982-725A-9D07-8EF97B2E6FFF}"/>
              </a:ext>
            </a:extLst>
          </p:cNvPr>
          <p:cNvSpPr/>
          <p:nvPr/>
        </p:nvSpPr>
        <p:spPr>
          <a:xfrm>
            <a:off x="3393702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Dialogue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85DD90-82CE-12DA-C9EE-0A3BE57430E5}"/>
              </a:ext>
            </a:extLst>
          </p:cNvPr>
          <p:cNvSpPr/>
          <p:nvPr/>
        </p:nvSpPr>
        <p:spPr>
          <a:xfrm>
            <a:off x="3393702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LangGraph multi-agent graph + Groq (free Llama 3.3).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2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851839-7E8A-8B1C-F507-83829B015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Thank You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  <a:p>
            <a:pPr algn="ctr"/>
            <a:r>
              <a:rPr sz="1800" b="0">
                <a:solidFill>
                  <a:srgbClr val="595959"/>
                </a:solidFill>
                <a:latin typeface="Helvetica"/>
              </a:rPr>
              <a:t>Questions? A live demo is available.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7A4FC-3472-C8A4-CF21-6E50E072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CAA1E-5720-EDDE-8F77-BB823D50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41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4281</TotalTime>
  <Words>4902</Words>
  <Application>Microsoft Office PowerPoint</Application>
  <PresentationFormat>Widescreen</PresentationFormat>
  <Paragraphs>1123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DejaVu Sans</vt:lpstr>
      <vt:lpstr>DM Sans</vt:lpstr>
      <vt:lpstr>Helvetica</vt:lpstr>
      <vt:lpstr>Inter</vt:lpstr>
      <vt:lpstr>JetBrains Mono</vt:lpstr>
      <vt:lpstr>Lato</vt:lpstr>
      <vt:lpstr>Poppins</vt:lpstr>
      <vt:lpstr>Poppins SemiBold</vt:lpstr>
      <vt:lpstr>pplxSerif</vt:lpstr>
      <vt:lpstr>Segoe UI</vt:lpstr>
      <vt:lpstr>Office Theme</vt:lpstr>
      <vt:lpstr>Post-Hoc Correction of 3D Voxel-Based Semantic Grids via Contextual Learning Models May 04, 2026  Sunesh Praveen Raja Sundarasami Hochschule Bonn-Rhein-Sieg  Advisors​ Prof. Dr. Sebastian Houben, Dr.-Ing. Paul Spannaus, and Taehyoung Kim, MSc </vt:lpstr>
      <vt:lpstr>PowerPoint Presentation</vt:lpstr>
      <vt:lpstr>3D Semantic Mapping for Autonomous Aerial Navigation</vt:lpstr>
      <vt:lpstr>How the 3D Map is Built?</vt:lpstr>
      <vt:lpstr>Systematic Label Errors in Aggregated Semantic Voxel Grids</vt:lpstr>
      <vt:lpstr>Why Standard Geometric Filtering Is Insufficient?</vt:lpstr>
      <vt:lpstr>PowerPoint Presentation</vt:lpstr>
      <vt:lpstr>Two Aerial Datasets Used in This Work</vt:lpstr>
      <vt:lpstr>A Decoupled Post-Hoc Correction Framework</vt:lpstr>
      <vt:lpstr>PowerPoint Presentation</vt:lpstr>
      <vt:lpstr>A geometry-driven heuristic baseline</vt:lpstr>
      <vt:lpstr>A geometry-driven heuristic baseline</vt:lpstr>
      <vt:lpstr>PowerPoint Presentation</vt:lpstr>
      <vt:lpstr>A Three-Stage Dual-Branch Correction Network</vt:lpstr>
      <vt:lpstr>Stage 1: Feature Extraction (Pre-Training)</vt:lpstr>
      <vt:lpstr>Stage 1: Feature Extraction (Fine-Tuning)</vt:lpstr>
      <vt:lpstr>Stage 2: Graph Training Preparation</vt:lpstr>
      <vt:lpstr>Stage 2: Graph &amp; Node Feature Construction</vt:lpstr>
      <vt:lpstr>Stage 2: Graph &amp; Node Feature Construction</vt:lpstr>
      <vt:lpstr>Stage 3: Domain-Aware Noise Injection </vt:lpstr>
      <vt:lpstr>Stage 3: DualGraphGAT</vt:lpstr>
      <vt:lpstr>PowerPoint Presentation</vt:lpstr>
      <vt:lpstr>Evaluation Setup</vt:lpstr>
      <vt:lpstr>DualGraphGAT vs Baselines (ΔmIoU pp)</vt:lpstr>
      <vt:lpstr>Class-wise IoU — Scene 01, UperNet-Swin-S</vt:lpstr>
      <vt:lpstr>Visual Correction Comparison</vt:lpstr>
      <vt:lpstr>PowerPoint Presentation</vt:lpstr>
      <vt:lpstr>PowerPoint Presentation</vt:lpstr>
      <vt:lpstr>Conclusion &amp; Future Work</vt:lpstr>
      <vt:lpstr>References</vt:lpstr>
      <vt:lpstr>References</vt:lpstr>
      <vt:lpstr>Supplementary Slides</vt:lpstr>
      <vt:lpstr>Related Works</vt:lpstr>
      <vt:lpstr>Research Gap</vt:lpstr>
      <vt:lpstr>A geometry-driven heuristic baseline</vt:lpstr>
      <vt:lpstr>A geometry-driven heuristic baseline</vt:lpstr>
      <vt:lpstr>A geometry-driven heuristic baseline</vt:lpstr>
      <vt:lpstr>A geometry-driven heuristic baseline</vt:lpstr>
      <vt:lpstr>How GATv2 Works</vt:lpstr>
      <vt:lpstr>How Sparse Convolutions Work</vt:lpstr>
      <vt:lpstr>Class-wise IoU Breakdown</vt:lpstr>
      <vt:lpstr>Class-wise IoU — Scene 01, UperNet-ConvNeXtv2-T</vt:lpstr>
      <vt:lpstr>Class-wise IoU — Scene 01, Mask2Former</vt:lpstr>
      <vt:lpstr>Class-wise IoU — Scene 05, UperNet-ConvNeXtv2-T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Sunesh Praveen Raja</dc:creator>
  <cp:lastModifiedBy>Sundarasami, Sunesh Praveen Raja</cp:lastModifiedBy>
  <cp:revision>73</cp:revision>
  <dcterms:created xsi:type="dcterms:W3CDTF">2026-04-22T16:05:57Z</dcterms:created>
  <dcterms:modified xsi:type="dcterms:W3CDTF">2026-05-03T18:20:57Z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2ff711-767d-49e4-8de8-6dc66c541869_Enabled">
    <vt:lpwstr>true</vt:lpwstr>
  </property>
  <property fmtid="{D5CDD505-2E9C-101B-9397-08002B2CF9AE}" pid="3" name="MSIP_Label_3f2ff711-767d-49e4-8de8-6dc66c541869_SetDate">
    <vt:lpwstr>2026-05-01T20:58:45Z</vt:lpwstr>
  </property>
  <property fmtid="{D5CDD505-2E9C-101B-9397-08002B2CF9AE}" pid="4" name="MSIP_Label_3f2ff711-767d-49e4-8de8-6dc66c541869_Method">
    <vt:lpwstr>Standard</vt:lpwstr>
  </property>
  <property fmtid="{D5CDD505-2E9C-101B-9397-08002B2CF9AE}" pid="5" name="MSIP_Label_3f2ff711-767d-49e4-8de8-6dc66c541869_Name">
    <vt:lpwstr>defa4170-0d19-0005-0004-bc88714345d2</vt:lpwstr>
  </property>
  <property fmtid="{D5CDD505-2E9C-101B-9397-08002B2CF9AE}" pid="6" name="MSIP_Label_3f2ff711-767d-49e4-8de8-6dc66c541869_SiteId">
    <vt:lpwstr>9a21e1ab-b7a7-4f82-8fd0-170bb7e09f92</vt:lpwstr>
  </property>
  <property fmtid="{D5CDD505-2E9C-101B-9397-08002B2CF9AE}" pid="7" name="MSIP_Label_3f2ff711-767d-49e4-8de8-6dc66c541869_ActionId">
    <vt:lpwstr>858628df-775e-4f81-bc0b-9f43836285fa</vt:lpwstr>
  </property>
  <property fmtid="{D5CDD505-2E9C-101B-9397-08002B2CF9AE}" pid="8" name="MSIP_Label_3f2ff711-767d-49e4-8de8-6dc66c541869_ContentBits">
    <vt:lpwstr>0</vt:lpwstr>
  </property>
  <property fmtid="{D5CDD505-2E9C-101B-9397-08002B2CF9AE}" pid="9" name="MSIP_Label_3f2ff711-767d-49e4-8de8-6dc66c541869_Tag">
    <vt:lpwstr>10, 3, 0, 1</vt:lpwstr>
  </property>
</Properties>
</file>