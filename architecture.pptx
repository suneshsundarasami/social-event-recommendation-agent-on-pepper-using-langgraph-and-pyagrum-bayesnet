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17043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</a:rPr>
              <a:t>Social Event Recommendation Agent on Pepper — Single-Route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70432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based on Kopp &amp; Hassan, 2022 (slides 7–8)  |  red = processing, green = decision, blue = generation, grey = knowledge. The Dialogue stage is the LangGraph (expanded below).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704320" cy="317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34505" y="1131625"/>
            <a:ext cx="2709265" cy="525891"/>
          </a:xfrm>
          <a:prstGeom prst="roundRect">
            <a:avLst/>
          </a:prstGeom>
          <a:solidFill>
            <a:srgbClr val="83898F"/>
          </a:solidFill>
          <a:ln w="12700">
            <a:solidFill>
              <a:srgbClr val="838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Knowledge &amp; data</a:t>
            </a:r>
          </a:p>
          <a:p>
            <a:pPr algn="ctr"/>
            <a:r>
              <a:rPr sz="800" b="0" i="0">
                <a:solidFill>
                  <a:srgbClr val="F0F0F0"/>
                </a:solidFill>
              </a:rPr>
              <a:t>Bayesian CPTs from event catalogue ·</a:t>
            </a:r>
          </a:p>
          <a:p>
            <a:pPr algn="ctr"/>
            <a:r>
              <a:rPr sz="800" b="0" i="0">
                <a:solidFill>
                  <a:srgbClr val="F0F0F0"/>
                </a:solidFill>
              </a:rPr>
              <a:t>8 events + images (imgs/) · schema (contracts.py)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52077" y="1657517"/>
            <a:ext cx="0" cy="233729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466455" y="1657517"/>
            <a:ext cx="905910" cy="233729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0798" y="2008111"/>
            <a:ext cx="1083706" cy="6427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User</a:t>
            </a:r>
          </a:p>
          <a:p>
            <a:pPr algn="ctr"/>
            <a:r>
              <a:rPr sz="800" b="0" i="0">
                <a:solidFill>
                  <a:srgbClr val="555555"/>
                </a:solidFill>
              </a:rPr>
              <a:t>face + speech</a:t>
            </a:r>
          </a:p>
        </p:txBody>
      </p:sp>
      <p:sp>
        <p:nvSpPr>
          <p:cNvPr id="9" name="Oval 8"/>
          <p:cNvSpPr/>
          <p:nvPr/>
        </p:nvSpPr>
        <p:spPr>
          <a:xfrm>
            <a:off x="10464538" y="2008111"/>
            <a:ext cx="1083706" cy="6427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User</a:t>
            </a:r>
          </a:p>
          <a:p>
            <a:pPr algn="ctr"/>
            <a:r>
              <a:rPr sz="800" b="0" i="0">
                <a:solidFill>
                  <a:srgbClr val="555555"/>
                </a:solidFill>
              </a:rPr>
              <a:t>sees + hears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4632" y="1891246"/>
            <a:ext cx="1566294" cy="876485"/>
          </a:xfrm>
          <a:prstGeom prst="roundRect">
            <a:avLst/>
          </a:prstGeom>
          <a:solidFill>
            <a:srgbClr val="E23B2E"/>
          </a:solidFill>
          <a:ln w="12700">
            <a:solidFill>
              <a:srgbClr val="E2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Perception</a:t>
            </a:r>
          </a:p>
          <a:p>
            <a:pPr algn="ctr"/>
            <a:r>
              <a:rPr sz="800" b="0" i="1">
                <a:solidFill>
                  <a:srgbClr val="FFEEEE"/>
                </a:solidFill>
              </a:rPr>
              <a:t>(sense + recognize)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Face: Haar + 5-frame smoothing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ASR: faster-whisper (local)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or typed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32588" y="1891246"/>
            <a:ext cx="1566294" cy="876485"/>
          </a:xfrm>
          <a:prstGeom prst="roundRect">
            <a:avLst/>
          </a:prstGeom>
          <a:solidFill>
            <a:srgbClr val="B51F1F"/>
          </a:solidFill>
          <a:ln w="12700">
            <a:solidFill>
              <a:srgbClr val="B5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Interpretation</a:t>
            </a:r>
          </a:p>
          <a:p>
            <a:pPr algn="ctr"/>
            <a:r>
              <a:rPr sz="800" b="0" i="1">
                <a:solidFill>
                  <a:srgbClr val="FFDDDD"/>
                </a:solidFill>
              </a:rPr>
              <a:t>(understand) — LLM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Groq Llama-3.3 service: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frames questions &amp; parses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replies → 6 slots (validated)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0543" y="1891246"/>
            <a:ext cx="1650958" cy="876485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Dialogue Manager</a:t>
            </a:r>
          </a:p>
          <a:p>
            <a:pPr algn="ctr"/>
            <a:r>
              <a:rPr sz="800" b="0" i="1">
                <a:solidFill>
                  <a:srgbClr val="EAFFEA"/>
                </a:solidFill>
              </a:rPr>
              <a:t>(manage turn / select)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FSM 'Conversation' state runs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the LangGraph slot-filling loop</a:t>
            </a:r>
          </a:p>
          <a:p>
            <a:pPr algn="ctr"/>
            <a:r>
              <a:rPr sz="800" b="1" i="0">
                <a:solidFill>
                  <a:srgbClr val="FFFFFF"/>
                </a:solidFill>
              </a:rPr>
              <a:t>▼ expanded below 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73164" y="1891246"/>
            <a:ext cx="1566294" cy="876485"/>
          </a:xfrm>
          <a:prstGeom prst="roundRect">
            <a:avLst/>
          </a:prstGeom>
          <a:solidFill>
            <a:srgbClr val="1E8449"/>
          </a:solidFill>
          <a:ln w="1270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Bayesian Reasoning</a:t>
            </a:r>
          </a:p>
          <a:p>
            <a:pPr algn="ctr"/>
            <a:r>
              <a:rPr sz="800" b="0" i="1">
                <a:solidFill>
                  <a:srgbClr val="D7F3DF"/>
                </a:solidFill>
              </a:rPr>
              <a:t>(decide)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3-layer Bayes net (pyAgrum)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6 evidence → 3 latent → 8 events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ranked events + explanation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51119" y="1891246"/>
            <a:ext cx="1650958" cy="876485"/>
          </a:xfrm>
          <a:prstGeom prst="roundRect">
            <a:avLst/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Behaviour &amp; Acting</a:t>
            </a:r>
          </a:p>
          <a:p>
            <a:pPr algn="ctr"/>
            <a:r>
              <a:rPr sz="800" b="0" i="1">
                <a:solidFill>
                  <a:srgbClr val="DCEAF6"/>
                </a:solidFill>
              </a:rPr>
              <a:t>(create + perform)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speech (TTS) + gesture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(wave/nod/think/present)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+ tablet image · Pepper/qiBullet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34504" y="2329489"/>
            <a:ext cx="220128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920926" y="2329489"/>
            <a:ext cx="211662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98882" y="2329489"/>
            <a:ext cx="211661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61502" y="2329489"/>
            <a:ext cx="211662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39458" y="2329489"/>
            <a:ext cx="211661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2078" y="2329489"/>
            <a:ext cx="2624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372365" y="1715949"/>
            <a:ext cx="0" cy="175297"/>
          </a:xfrm>
          <a:prstGeom prst="line">
            <a:avLst/>
          </a:prstGeom>
          <a:ln w="1651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133546" y="1715949"/>
            <a:ext cx="7238819" cy="0"/>
          </a:xfrm>
          <a:prstGeom prst="line">
            <a:avLst/>
          </a:prstGeom>
          <a:ln w="1651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33546" y="1715949"/>
            <a:ext cx="0" cy="175297"/>
          </a:xfrm>
          <a:prstGeom prst="line">
            <a:avLst/>
          </a:prstGeom>
          <a:ln w="16510">
            <a:solidFill>
              <a:srgbClr val="7A7A7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09904" y="1569764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50" b="0" i="0" dirty="0">
                <a:solidFill>
                  <a:srgbClr val="777777"/>
                </a:solidFill>
              </a:rPr>
              <a:t>per turn: Pepper asks (TTS) → user answers (ASR) → repeats until 6 </a:t>
            </a:r>
            <a:r>
              <a:rPr sz="850" b="0" i="0" dirty="0" err="1">
                <a:solidFill>
                  <a:srgbClr val="777777"/>
                </a:solidFill>
              </a:rPr>
              <a:t>prefs</a:t>
            </a:r>
            <a:r>
              <a:rPr sz="850" b="0" i="0" dirty="0">
                <a:solidFill>
                  <a:srgbClr val="777777"/>
                </a:solidFill>
              </a:rPr>
              <a:t> filled</a:t>
            </a:r>
          </a:p>
        </p:txBody>
      </p:sp>
      <p:sp>
        <p:nvSpPr>
          <p:cNvPr id="25" name="Freeform 24"/>
          <p:cNvSpPr/>
          <p:nvPr/>
        </p:nvSpPr>
        <p:spPr>
          <a:xfrm>
            <a:off x="1426128" y="2767732"/>
            <a:ext cx="9368601" cy="730405"/>
          </a:xfrm>
          <a:custGeom>
            <a:avLst/>
            <a:gdLst/>
            <a:ahLst/>
            <a:cxnLst/>
            <a:rect l="l" t="t" r="r" b="b"/>
            <a:pathLst>
              <a:path w="10159746" h="730405">
                <a:moveTo>
                  <a:pt x="3894569" y="0"/>
                </a:moveTo>
                <a:lnTo>
                  <a:pt x="5545528" y="0"/>
                </a:lnTo>
                <a:lnTo>
                  <a:pt x="10159746" y="730405"/>
                </a:lnTo>
                <a:lnTo>
                  <a:pt x="0" y="730405"/>
                </a:lnTo>
                <a:lnTo>
                  <a:pt x="3894569" y="0"/>
                </a:lnTo>
                <a:close/>
              </a:path>
            </a:pathLst>
          </a:custGeom>
          <a:solidFill>
            <a:srgbClr val="F3FAF3"/>
          </a:solidFill>
          <a:ln w="9525">
            <a:solidFill>
              <a:srgbClr val="BFE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15974" y="3498137"/>
            <a:ext cx="10159746" cy="3067700"/>
          </a:xfrm>
          <a:prstGeom prst="roundRect">
            <a:avLst/>
          </a:prstGeom>
          <a:solidFill>
            <a:srgbClr val="F3FAF3"/>
          </a:solidFill>
          <a:ln w="1905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5303" y="3585786"/>
            <a:ext cx="7619809" cy="17529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 dirty="0">
                <a:solidFill>
                  <a:srgbClr val="1E7A2B"/>
                </a:solidFill>
              </a:rPr>
              <a:t>Dialogue Manager — </a:t>
            </a:r>
            <a:r>
              <a:rPr sz="1200" b="1" i="0" dirty="0" err="1">
                <a:solidFill>
                  <a:srgbClr val="1E7A2B"/>
                </a:solidFill>
              </a:rPr>
              <a:t>LangGraph</a:t>
            </a:r>
            <a:r>
              <a:rPr sz="1200" b="1" i="0" dirty="0">
                <a:solidFill>
                  <a:srgbClr val="1E7A2B"/>
                </a:solidFill>
              </a:rPr>
              <a:t> (dialogue/graph.py)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5303" y="3746475"/>
            <a:ext cx="9313100" cy="146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runs during the FSM 'Conversation' state · fills the 6 preference slots one at a time, with LLM reframing and conflict handling</a:t>
            </a:r>
          </a:p>
        </p:txBody>
      </p:sp>
      <p:sp>
        <p:nvSpPr>
          <p:cNvPr id="29" name="Oval 28"/>
          <p:cNvSpPr/>
          <p:nvPr/>
        </p:nvSpPr>
        <p:spPr>
          <a:xfrm>
            <a:off x="1126038" y="4885906"/>
            <a:ext cx="711182" cy="321378"/>
          </a:xfrm>
          <a:prstGeom prst="ellipse">
            <a:avLst/>
          </a:prstGeom>
          <a:solidFill>
            <a:srgbClr val="83898F"/>
          </a:solidFill>
          <a:ln w="12700">
            <a:solidFill>
              <a:srgbClr val="838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30" name="Oval 29"/>
          <p:cNvSpPr/>
          <p:nvPr/>
        </p:nvSpPr>
        <p:spPr>
          <a:xfrm>
            <a:off x="1126038" y="5820824"/>
            <a:ext cx="711182" cy="321378"/>
          </a:xfrm>
          <a:prstGeom prst="ellipse">
            <a:avLst/>
          </a:prstGeom>
          <a:solidFill>
            <a:srgbClr val="83898F"/>
          </a:solidFill>
          <a:ln w="12700">
            <a:solidFill>
              <a:srgbClr val="838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31949" y="5791608"/>
            <a:ext cx="1269968" cy="379810"/>
          </a:xfrm>
          <a:prstGeom prst="roundRect">
            <a:avLst/>
          </a:prstGeom>
          <a:solidFill>
            <a:srgbClr val="6CC24A"/>
          </a:solidFill>
          <a:ln w="12700">
            <a:solidFill>
              <a:srgbClr val="6CC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Finish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74281" y="4754433"/>
            <a:ext cx="1269968" cy="569715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Router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pick next empty slot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79233" y="4754433"/>
            <a:ext cx="1354632" cy="569715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QuestionFramer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ask (LLM-framed),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capture the reply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26518" y="4754433"/>
            <a:ext cx="1354632" cy="569715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AnswerParser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reply → candidate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evidence (LLM)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73803" y="4754433"/>
            <a:ext cx="1354632" cy="569715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ConflictResolver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spot contradictions,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re-open the slot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21087" y="4754433"/>
            <a:ext cx="1185303" cy="569715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Evaluator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commit / reframe /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default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37220" y="5046595"/>
            <a:ext cx="237061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344249" y="5039291"/>
            <a:ext cx="634984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387540" y="4900514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missing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33866" y="5039291"/>
            <a:ext cx="592652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281151" y="5039291"/>
            <a:ext cx="592652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228435" y="5039291"/>
            <a:ext cx="592652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254793" y="4900514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no conflict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709265" y="5324149"/>
            <a:ext cx="0" cy="467459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760064" y="5484838"/>
            <a:ext cx="1185303" cy="146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</a:rPr>
              <a:t>all slots filled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1854153" y="5981513"/>
            <a:ext cx="177796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551119" y="4462271"/>
            <a:ext cx="0" cy="292162"/>
          </a:xfrm>
          <a:prstGeom prst="line">
            <a:avLst/>
          </a:prstGeom>
          <a:ln w="19050">
            <a:solidFill>
              <a:srgbClr val="B5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4656550" y="4462271"/>
            <a:ext cx="3894569" cy="0"/>
          </a:xfrm>
          <a:prstGeom prst="line">
            <a:avLst/>
          </a:prstGeom>
          <a:ln w="19050">
            <a:solidFill>
              <a:srgbClr val="B5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56550" y="4462271"/>
            <a:ext cx="0" cy="292162"/>
          </a:xfrm>
          <a:prstGeom prst="line">
            <a:avLst/>
          </a:prstGeom>
          <a:ln w="19050">
            <a:solidFill>
              <a:srgbClr val="B5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333866" y="4316190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50" b="0" i="0">
                <a:solidFill>
                  <a:srgbClr val="B51F1F"/>
                </a:solidFill>
              </a:rPr>
              <a:t>conflict → ask either/or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10413739" y="4257758"/>
            <a:ext cx="0" cy="496675"/>
          </a:xfrm>
          <a:prstGeom prst="line">
            <a:avLst/>
          </a:prstGeom>
          <a:ln w="19050">
            <a:solidFill>
              <a:srgbClr val="B5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4444888" y="4257758"/>
            <a:ext cx="5968851" cy="0"/>
          </a:xfrm>
          <a:prstGeom prst="line">
            <a:avLst/>
          </a:prstGeom>
          <a:ln w="19050">
            <a:solidFill>
              <a:srgbClr val="B5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444888" y="4257758"/>
            <a:ext cx="0" cy="496675"/>
          </a:xfrm>
          <a:prstGeom prst="line">
            <a:avLst/>
          </a:prstGeom>
          <a:ln w="19050">
            <a:solidFill>
              <a:srgbClr val="B5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180512" y="4111677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50" b="0" i="0">
                <a:solidFill>
                  <a:srgbClr val="B51F1F"/>
                </a:solidFill>
              </a:rPr>
              <a:t>answer not usable → reframe</a:t>
            </a:r>
          </a:p>
        </p:txBody>
      </p:sp>
      <p:cxnSp>
        <p:nvCxnSpPr>
          <p:cNvPr id="55" name="Connector 54"/>
          <p:cNvCxnSpPr>
            <a:cxnSpLocks/>
          </p:cNvCxnSpPr>
          <p:nvPr/>
        </p:nvCxnSpPr>
        <p:spPr>
          <a:xfrm flipH="1" flipV="1">
            <a:off x="10752396" y="4053244"/>
            <a:ext cx="6485" cy="701189"/>
          </a:xfrm>
          <a:prstGeom prst="line">
            <a:avLst/>
          </a:prstGeom>
          <a:ln w="19050">
            <a:solidFill>
              <a:srgbClr val="1E8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cxnSpLocks/>
          </p:cNvCxnSpPr>
          <p:nvPr/>
        </p:nvCxnSpPr>
        <p:spPr>
          <a:xfrm flipH="1">
            <a:off x="2709265" y="4053244"/>
            <a:ext cx="8043131" cy="0"/>
          </a:xfrm>
          <a:prstGeom prst="line">
            <a:avLst/>
          </a:prstGeom>
          <a:ln w="19050">
            <a:solidFill>
              <a:srgbClr val="1E8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709265" y="4053244"/>
            <a:ext cx="0" cy="701189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656550" y="3892111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50" b="0" i="0" dirty="0">
                <a:solidFill>
                  <a:srgbClr val="1E8449"/>
                </a:solidFill>
              </a:rPr>
              <a:t>usable / committed / default → next slot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6582" y="5353365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00" b="0" i="1">
                <a:solidFill>
                  <a:srgbClr val="1F6FB2"/>
                </a:solidFill>
              </a:rPr>
              <a:t>↑ question out via Behaviour-TTS · answer in via Perception-ASR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33866" y="5353365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00" b="0" i="1">
                <a:solidFill>
                  <a:srgbClr val="B51F1F"/>
                </a:solidFill>
              </a:rPr>
              <a:t>↑ uses Interpretation-LLM</a:t>
            </a:r>
          </a:p>
        </p:txBody>
      </p:sp>
      <p:cxnSp>
        <p:nvCxnSpPr>
          <p:cNvPr id="61" name="Connector 60"/>
          <p:cNvCxnSpPr>
            <a:cxnSpLocks/>
          </p:cNvCxnSpPr>
          <p:nvPr/>
        </p:nvCxnSpPr>
        <p:spPr>
          <a:xfrm flipV="1">
            <a:off x="3301917" y="3015521"/>
            <a:ext cx="4402556" cy="2965992"/>
          </a:xfrm>
          <a:prstGeom prst="bentConnector3">
            <a:avLst>
              <a:gd name="adj1" fmla="val 185289"/>
            </a:avLst>
          </a:prstGeom>
          <a:ln w="19050">
            <a:solidFill>
              <a:srgbClr val="1E844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cxnSpLocks/>
          </p:cNvCxnSpPr>
          <p:nvPr/>
        </p:nvCxnSpPr>
        <p:spPr>
          <a:xfrm flipH="1" flipV="1">
            <a:off x="7696315" y="2775038"/>
            <a:ext cx="8158" cy="233729"/>
          </a:xfrm>
          <a:prstGeom prst="line">
            <a:avLst/>
          </a:prstGeom>
          <a:ln w="19050">
            <a:solidFill>
              <a:srgbClr val="1E844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571885" y="5835432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50" b="0" i="0" dirty="0">
                <a:solidFill>
                  <a:srgbClr val="1E8449"/>
                </a:solidFill>
              </a:rPr>
              <a:t>Finish → returns the 6-slot evidence to the FSM → Bayesian Reasoning (above)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Single route: perception → interpretation → dialogue (LangGraph, looping per turn) → Bayesian reasoning → behaviour → Pepper. One recommendation is reasoned once all 6 preferences are gathered.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373</Words>
  <Application>Microsoft Office PowerPoint</Application>
  <PresentationFormat>Widescreen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Sundarasami, Sunesh Praveen Raja</cp:lastModifiedBy>
  <cp:revision>2</cp:revision>
  <dcterms:created xsi:type="dcterms:W3CDTF">2013-01-27T09:14:16Z</dcterms:created>
  <dcterms:modified xsi:type="dcterms:W3CDTF">2026-06-24T21:23:06Z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f2ff711-767d-49e4-8de8-6dc66c541869_Enabled">
    <vt:lpwstr>true</vt:lpwstr>
  </property>
  <property fmtid="{D5CDD505-2E9C-101B-9397-08002B2CF9AE}" pid="3" name="MSIP_Label_3f2ff711-767d-49e4-8de8-6dc66c541869_SetDate">
    <vt:lpwstr>2026-06-24T21:23:06Z</vt:lpwstr>
  </property>
  <property fmtid="{D5CDD505-2E9C-101B-9397-08002B2CF9AE}" pid="4" name="MSIP_Label_3f2ff711-767d-49e4-8de8-6dc66c541869_Method">
    <vt:lpwstr>Standard</vt:lpwstr>
  </property>
  <property fmtid="{D5CDD505-2E9C-101B-9397-08002B2CF9AE}" pid="5" name="MSIP_Label_3f2ff711-767d-49e4-8de8-6dc66c541869_Name">
    <vt:lpwstr>defa4170-0d19-0005-0004-bc88714345d2</vt:lpwstr>
  </property>
  <property fmtid="{D5CDD505-2E9C-101B-9397-08002B2CF9AE}" pid="6" name="MSIP_Label_3f2ff711-767d-49e4-8de8-6dc66c541869_SiteId">
    <vt:lpwstr>9a21e1ab-b7a7-4f82-8fd0-170bb7e09f92</vt:lpwstr>
  </property>
  <property fmtid="{D5CDD505-2E9C-101B-9397-08002B2CF9AE}" pid="7" name="MSIP_Label_3f2ff711-767d-49e4-8de8-6dc66c541869_ActionId">
    <vt:lpwstr>d3b51351-30d8-4c4c-a277-02052c9c98c0</vt:lpwstr>
  </property>
  <property fmtid="{D5CDD505-2E9C-101B-9397-08002B2CF9AE}" pid="8" name="MSIP_Label_3f2ff711-767d-49e4-8de8-6dc66c541869_ContentBits">
    <vt:lpwstr>0</vt:lpwstr>
  </property>
  <property fmtid="{D5CDD505-2E9C-101B-9397-08002B2CF9AE}" pid="9" name="MSIP_Label_3f2ff711-767d-49e4-8de8-6dc66c541869_Tag">
    <vt:lpwstr>10, 3, 0, 1</vt:lpwstr>
  </property>
</Properties>
</file>