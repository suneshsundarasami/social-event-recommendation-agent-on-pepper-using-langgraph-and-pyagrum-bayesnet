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6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947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build/hbr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4048"/>
            <a:ext cx="2136267" cy="384048"/>
          </a:xfrm>
          <a:prstGeom prst="rect">
            <a:avLst/>
          </a:prstGeom>
        </p:spPr>
      </p:pic>
      <p:pic>
        <p:nvPicPr>
          <p:cNvPr id="3" name="Image 1" descr="/tmp/build/iaas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8890" y="365760"/>
            <a:ext cx="1369886" cy="457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2920" y="246888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16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Event Recommendation Agent</a:t>
            </a:r>
            <a:endParaRPr lang="en-US" sz="3000" dirty="0"/>
          </a:p>
        </p:txBody>
      </p:sp>
      <p:sp>
        <p:nvSpPr>
          <p:cNvPr id="5" name="Text 1"/>
          <p:cNvSpPr/>
          <p:nvPr/>
        </p:nvSpPr>
        <p:spPr>
          <a:xfrm>
            <a:off x="502920" y="3127248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Human-Centered Interaction and Collaboration in Robotics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502920" y="3456432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Project Demonstration · 16 July 2026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502920" y="3977640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Sunesh Praveen Raja Sundarasami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502920" y="429768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Hochschule Bonn-Rhein-Sieg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02920" y="4754880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02920" y="4992624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Dr. Teena Hassan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02920" y="5248656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Ritwik Sinha, M.Sc.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16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667137"/>
            <a:ext cx="310896" cy="310896"/>
          </a:xfrm>
          <a:prstGeom prst="ellipse">
            <a:avLst/>
          </a:prstGeom>
          <a:solidFill>
            <a:srgbClr val="0A2A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66713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941832" y="1630561"/>
            <a:ext cx="3645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&amp; verify a face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41832" y="1868305"/>
            <a:ext cx="492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9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Haar cascade + 5-frame smoothing detects a face; on-device LBPH verifies it against enrolled group members.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502920" y="2416945"/>
            <a:ext cx="310896" cy="310896"/>
          </a:xfrm>
          <a:prstGeom prst="ellipse">
            <a:avLst/>
          </a:prstGeom>
          <a:solidFill>
            <a:srgbClr val="0A2A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241694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41832" y="2380369"/>
            <a:ext cx="3645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Multi-modal greeting, personalized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41832" y="2618113"/>
            <a:ext cx="492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9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Three-beat wave / nod / open-arms greeting; personalized by name when the face is recognized (or freshly enrolled with consent).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502920" y="3166753"/>
            <a:ext cx="310896" cy="310896"/>
          </a:xfrm>
          <a:prstGeom prst="ellipse">
            <a:avLst/>
          </a:prstGeom>
          <a:solidFill>
            <a:srgbClr val="0A2A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316675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41832" y="3130177"/>
            <a:ext cx="3645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to detection/verification noise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41832" y="3367921"/>
            <a:ext cx="492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9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Asymmetric smoothing (4-of-5 to start, 2-of-5 to sustain) and a wide-margin LBPH threshold absorb flicker and misclassification.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502920" y="3916561"/>
            <a:ext cx="310896" cy="310896"/>
          </a:xfrm>
          <a:prstGeom prst="ellipse">
            <a:avLst/>
          </a:prstGeom>
          <a:solidFill>
            <a:srgbClr val="0A2A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391656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41832" y="3879985"/>
            <a:ext cx="3645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 to find preferred events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41832" y="4117729"/>
            <a:ext cx="492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9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LangGraph dialogue manager elicits six preferences through open, LLM-framed questions.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502920" y="4666369"/>
            <a:ext cx="310896" cy="310896"/>
          </a:xfrm>
          <a:prstGeom prst="ellipse">
            <a:avLst/>
          </a:prstGeom>
          <a:solidFill>
            <a:srgbClr val="0A2A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" y="466636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41832" y="4629793"/>
            <a:ext cx="3645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model + ranked inference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41832" y="4867537"/>
            <a:ext cx="492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9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3-layer Bayesian network (pyAgrum) infers the best-fit event and ranks all 8 candidates by posterior probability.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6324448" y="1667137"/>
            <a:ext cx="310896" cy="310896"/>
          </a:xfrm>
          <a:prstGeom prst="ellipse">
            <a:avLst/>
          </a:prstGeom>
          <a:solidFill>
            <a:srgbClr val="0A2A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324448" y="166713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763360" y="1630561"/>
            <a:ext cx="3645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gestures during speech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763360" y="1868305"/>
            <a:ext cx="492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9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spoken line is paired with a synced gesture: wave, nod, think, present, or a short talk beat for questions.</a:t>
            </a:r>
            <a:endParaRPr lang="en-US" sz="960" dirty="0"/>
          </a:p>
        </p:txBody>
      </p:sp>
      <p:sp>
        <p:nvSpPr>
          <p:cNvPr id="39" name="Shape 37"/>
          <p:cNvSpPr/>
          <p:nvPr/>
        </p:nvSpPr>
        <p:spPr>
          <a:xfrm>
            <a:off x="6324448" y="2416945"/>
            <a:ext cx="310896" cy="310896"/>
          </a:xfrm>
          <a:prstGeom prst="ellipse">
            <a:avLst/>
          </a:prstGeom>
          <a:solidFill>
            <a:srgbClr val="0A2A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324448" y="241694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6763360" y="2380369"/>
            <a:ext cx="3645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Socially appropriate farewell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763360" y="2618113"/>
            <a:ext cx="492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9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spoken goodbye and wave close the interaction, then the FSM resets cleanly for the next visitor.</a:t>
            </a:r>
            <a:endParaRPr lang="en-US" sz="960" dirty="0"/>
          </a:p>
        </p:txBody>
      </p:sp>
      <p:sp>
        <p:nvSpPr>
          <p:cNvPr id="45" name="Shape 43"/>
          <p:cNvSpPr/>
          <p:nvPr/>
        </p:nvSpPr>
        <p:spPr>
          <a:xfrm>
            <a:off x="6324448" y="3166753"/>
            <a:ext cx="310896" cy="310896"/>
          </a:xfrm>
          <a:prstGeom prst="ellipse">
            <a:avLst/>
          </a:prstGeom>
          <a:solidFill>
            <a:srgbClr val="0A2A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324448" y="316675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6763360" y="3130177"/>
            <a:ext cx="3645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abusive language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763360" y="3367921"/>
            <a:ext cx="492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9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flagged-word guard declines to parse hostile replies and politely asks the person to rephrase instead.</a:t>
            </a:r>
            <a:endParaRPr lang="en-US" sz="960" dirty="0"/>
          </a:p>
        </p:txBody>
      </p:sp>
      <p:sp>
        <p:nvSpPr>
          <p:cNvPr id="51" name="Shape 49"/>
          <p:cNvSpPr/>
          <p:nvPr/>
        </p:nvSpPr>
        <p:spPr>
          <a:xfrm>
            <a:off x="6324448" y="3916561"/>
            <a:ext cx="310896" cy="310896"/>
          </a:xfrm>
          <a:prstGeom prst="ellipse">
            <a:avLst/>
          </a:prstGeom>
          <a:solidFill>
            <a:srgbClr val="0A2A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324448" y="391656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6763360" y="3879985"/>
            <a:ext cx="3645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 input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763360" y="4117729"/>
            <a:ext cx="492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9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Replies can be spoken and transcribed on-device with local Whisper, so no audio leaves the machine.</a:t>
            </a:r>
            <a:endParaRPr lang="en-US" sz="960" dirty="0"/>
          </a:p>
        </p:txBody>
      </p:sp>
      <p:sp>
        <p:nvSpPr>
          <p:cNvPr id="57" name="Shape 55"/>
          <p:cNvSpPr/>
          <p:nvPr/>
        </p:nvSpPr>
        <p:spPr>
          <a:xfrm>
            <a:off x="6324448" y="4666369"/>
            <a:ext cx="310896" cy="310896"/>
          </a:xfrm>
          <a:prstGeom prst="ellipse">
            <a:avLst/>
          </a:prstGeom>
          <a:solidFill>
            <a:srgbClr val="0A2A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324448" y="466636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50" dirty="0"/>
          </a:p>
        </p:txBody>
      </p:sp>
      <p:sp>
        <p:nvSpPr>
          <p:cNvPr id="59" name="Text 57"/>
          <p:cNvSpPr/>
          <p:nvPr/>
        </p:nvSpPr>
        <p:spPr>
          <a:xfrm>
            <a:off x="6763360" y="4629793"/>
            <a:ext cx="3645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+ marketing slogan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6763360" y="4867537"/>
            <a:ext cx="492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9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JARVIS: “At your service. Scanning the local grid for maximum energy signatures.”</a:t>
            </a:r>
            <a:endParaRPr lang="en-US" sz="960" dirty="0"/>
          </a:p>
        </p:txBody>
      </p:sp>
      <p:sp>
        <p:nvSpPr>
          <p:cNvPr id="65" name="Text 63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Event Recommendation Agent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1095725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09728"/>
            <a:ext cx="11185526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400" b="1" i="0">
                <a:solidFill>
                  <a:srgbClr val="016ABA"/>
                </a:solidFill>
                <a:latin typeface="Arial"/>
              </a:rPr>
              <a:t>Social Event Recommendation Agent on Pepper: Single-Route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85526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based on Kopp &amp; Hassan, 2022 (slides 7–8)  |  red = processing, green = decision, blue = generation, grey = knowledge. The Dialogue stage is the LangGraph (expanded below).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34505" y="1131625"/>
            <a:ext cx="2709265" cy="525891"/>
          </a:xfrm>
          <a:prstGeom prst="roundRect">
            <a:avLst/>
          </a:prstGeom>
          <a:solidFill>
            <a:srgbClr val="83898F"/>
          </a:solidFill>
          <a:ln w="12700">
            <a:solidFill>
              <a:srgbClr val="83898F"/>
            </a:solidFill>
          </a:ln>
          <a:effectLst/>
        </p:spPr>
        <p:style>
          <a:lnRef idx="1">
            <a:srgbClr val="016ABA"/>
          </a:lnRef>
          <a:fillRef idx="3">
            <a:srgbClr val="016ABA"/>
          </a:fillRef>
          <a:effectRef idx="2">
            <a:srgbClr val="016ABA"/>
          </a:effectRef>
          <a:fontRef idx="minor">
            <a:srgbClr val="FFFFFF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Knowledge &amp; data</a:t>
            </a:r>
          </a:p>
          <a:p>
            <a:pPr algn="ctr"/>
            <a:r>
              <a:rPr sz="800" b="0" i="0">
                <a:solidFill>
                  <a:srgbClr val="F0F0F0"/>
                </a:solidFill>
              </a:rPr>
              <a:t>Bayesian CPTs from event catalogue ·</a:t>
            </a:r>
          </a:p>
          <a:p>
            <a:pPr algn="ctr"/>
            <a:r>
              <a:rPr sz="800" b="0" i="0">
                <a:solidFill>
                  <a:srgbClr val="F0F0F0"/>
                </a:solidFill>
              </a:rPr>
              <a:t>8 events + images (imgs/) · schema (contracts.py)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552077" y="1657517"/>
            <a:ext cx="0" cy="233729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rgbClr val="016ABA"/>
          </a:lnRef>
          <a:fillRef idx="0">
            <a:srgbClr val="016ABA"/>
          </a:fillRef>
          <a:effectRef idx="1">
            <a:srgbClr val="016ABA"/>
          </a:effectRef>
          <a:fontRef idx="minor">
            <a:srgbClr val="222222"/>
          </a:fontRef>
        </p:style>
      </p:cxnSp>
      <p:cxnSp>
        <p:nvCxnSpPr>
          <p:cNvPr id="7" name="Connector 6"/>
          <p:cNvCxnSpPr/>
          <p:nvPr/>
        </p:nvCxnSpPr>
        <p:spPr>
          <a:xfrm>
            <a:off x="8466455" y="1657517"/>
            <a:ext cx="905910" cy="233729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rgbClr val="016ABA"/>
          </a:lnRef>
          <a:fillRef idx="0">
            <a:srgbClr val="016ABA"/>
          </a:fillRef>
          <a:effectRef idx="1">
            <a:srgbClr val="016ABA"/>
          </a:effectRef>
          <a:fontRef idx="minor">
            <a:srgbClr val="222222"/>
          </a:fontRef>
        </p:style>
      </p:cxnSp>
      <p:sp>
        <p:nvSpPr>
          <p:cNvPr id="8" name="Oval 7"/>
          <p:cNvSpPr/>
          <p:nvPr/>
        </p:nvSpPr>
        <p:spPr>
          <a:xfrm>
            <a:off x="50798" y="2008111"/>
            <a:ext cx="1083706" cy="6427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55555"/>
            </a:solidFill>
          </a:ln>
          <a:effectLst/>
        </p:spPr>
        <p:style>
          <a:lnRef idx="1">
            <a:srgbClr val="016ABA"/>
          </a:lnRef>
          <a:fillRef idx="3">
            <a:srgbClr val="016ABA"/>
          </a:fillRef>
          <a:effectRef idx="2">
            <a:srgbClr val="016ABA"/>
          </a:effectRef>
          <a:fontRef idx="minor">
            <a:srgbClr val="FFFFFF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100" b="1" i="0">
                <a:solidFill>
                  <a:srgbClr val="1A1A1A"/>
                </a:solidFill>
              </a:rPr>
              <a:t>User</a:t>
            </a:r>
          </a:p>
          <a:p>
            <a:pPr algn="ctr"/>
            <a:r>
              <a:rPr sz="800" b="0" i="0">
                <a:solidFill>
                  <a:srgbClr val="555555"/>
                </a:solidFill>
              </a:rPr>
              <a:t>face + speech</a:t>
            </a:r>
          </a:p>
        </p:txBody>
      </p:sp>
      <p:sp>
        <p:nvSpPr>
          <p:cNvPr id="9" name="Oval 8"/>
          <p:cNvSpPr/>
          <p:nvPr/>
        </p:nvSpPr>
        <p:spPr>
          <a:xfrm>
            <a:off x="10464538" y="2008111"/>
            <a:ext cx="1083706" cy="6427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55555"/>
            </a:solidFill>
          </a:ln>
          <a:effectLst/>
        </p:spPr>
        <p:style>
          <a:lnRef idx="1">
            <a:srgbClr val="016ABA"/>
          </a:lnRef>
          <a:fillRef idx="3">
            <a:srgbClr val="016ABA"/>
          </a:fillRef>
          <a:effectRef idx="2">
            <a:srgbClr val="016ABA"/>
          </a:effectRef>
          <a:fontRef idx="minor">
            <a:srgbClr val="FFFFFF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100" b="1" i="0">
                <a:solidFill>
                  <a:srgbClr val="1A1A1A"/>
                </a:solidFill>
              </a:rPr>
              <a:t>User</a:t>
            </a:r>
          </a:p>
          <a:p>
            <a:pPr algn="ctr"/>
            <a:r>
              <a:rPr sz="800" b="0" i="0">
                <a:solidFill>
                  <a:srgbClr val="555555"/>
                </a:solidFill>
              </a:rPr>
              <a:t>sees + hears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54632" y="1891246"/>
            <a:ext cx="1566294" cy="876485"/>
          </a:xfrm>
          <a:prstGeom prst="roundRect">
            <a:avLst/>
          </a:prstGeom>
          <a:solidFill>
            <a:srgbClr val="E23B2E"/>
          </a:solidFill>
          <a:ln w="12700">
            <a:solidFill>
              <a:srgbClr val="E23B2E"/>
            </a:solidFill>
          </a:ln>
          <a:effectLst/>
        </p:spPr>
        <p:style>
          <a:lnRef idx="1">
            <a:srgbClr val="016ABA"/>
          </a:lnRef>
          <a:fillRef idx="3">
            <a:srgbClr val="016ABA"/>
          </a:fillRef>
          <a:effectRef idx="2">
            <a:srgbClr val="016ABA"/>
          </a:effectRef>
          <a:fontRef idx="minor">
            <a:srgbClr val="FFFFFF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Perception</a:t>
            </a:r>
          </a:p>
          <a:p>
            <a:pPr algn="ctr"/>
            <a:r>
              <a:rPr sz="800" b="0" i="1">
                <a:solidFill>
                  <a:srgbClr val="FFEEEE"/>
                </a:solidFill>
              </a:rPr>
              <a:t>(sense + recognize)</a:t>
            </a:r>
          </a:p>
          <a:p>
            <a:pPr algn="ctr"/>
            <a:r>
              <a:rPr sz="800" b="0" i="0">
                <a:solidFill>
                  <a:srgbClr val="FFFFFF"/>
                </a:solidFill>
              </a:rPr>
              <a:t>Face: Haar + 5-frame smoothing</a:t>
            </a:r>
          </a:p>
          <a:p>
            <a:pPr algn="ctr"/>
            <a:r>
              <a:rPr sz="800" b="0" i="0">
                <a:solidFill>
                  <a:srgbClr val="FFFFFF"/>
                </a:solidFill>
              </a:rPr>
              <a:t>ASR: faster-whisper (local)</a:t>
            </a:r>
          </a:p>
          <a:p>
            <a:pPr algn="ctr"/>
            <a:r>
              <a:rPr sz="800" b="0" i="0">
                <a:solidFill>
                  <a:srgbClr val="FFFFFF"/>
                </a:solidFill>
              </a:rPr>
              <a:t>or typed 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32588" y="1891246"/>
            <a:ext cx="1566294" cy="876485"/>
          </a:xfrm>
          <a:prstGeom prst="roundRect">
            <a:avLst/>
          </a:prstGeom>
          <a:solidFill>
            <a:srgbClr val="B51F1F"/>
          </a:solidFill>
          <a:ln w="12700">
            <a:solidFill>
              <a:srgbClr val="B51F1F"/>
            </a:solidFill>
          </a:ln>
          <a:effectLst/>
        </p:spPr>
        <p:style>
          <a:lnRef idx="1">
            <a:srgbClr val="016ABA"/>
          </a:lnRef>
          <a:fillRef idx="3">
            <a:srgbClr val="016ABA"/>
          </a:fillRef>
          <a:effectRef idx="2">
            <a:srgbClr val="016ABA"/>
          </a:effectRef>
          <a:fontRef idx="minor">
            <a:srgbClr val="FFFFFF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Interpretation</a:t>
            </a:r>
          </a:p>
          <a:p>
            <a:pPr algn="ctr"/>
            <a:r>
              <a:rPr sz="800" b="0" i="1">
                <a:solidFill>
                  <a:srgbClr val="FFDDDD"/>
                </a:solidFill>
              </a:rPr>
              <a:t>(understand): LLM</a:t>
            </a:r>
          </a:p>
          <a:p>
            <a:pPr algn="ctr"/>
            <a:r>
              <a:rPr sz="800" b="0" i="0">
                <a:solidFill>
                  <a:srgbClr val="FFFFFF"/>
                </a:solidFill>
              </a:rPr>
              <a:t>Groq Llama-3.3 service:</a:t>
            </a:r>
          </a:p>
          <a:p>
            <a:pPr algn="ctr"/>
            <a:r>
              <a:rPr sz="800" b="0" i="0">
                <a:solidFill>
                  <a:srgbClr val="FFFFFF"/>
                </a:solidFill>
              </a:rPr>
              <a:t>frames questions &amp; parses</a:t>
            </a:r>
          </a:p>
          <a:p>
            <a:pPr algn="ctr"/>
            <a:r>
              <a:rPr sz="800" b="0" i="0">
                <a:solidFill>
                  <a:srgbClr val="FFFFFF"/>
                </a:solidFill>
              </a:rPr>
              <a:t>replies → 6 slots (validated)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10543" y="1891246"/>
            <a:ext cx="1650958" cy="876485"/>
          </a:xfrm>
          <a:prstGeom prst="roundRect">
            <a:avLst/>
          </a:prstGeom>
          <a:solidFill>
            <a:srgbClr val="3AAA35"/>
          </a:solidFill>
          <a:ln w="12700">
            <a:solidFill>
              <a:srgbClr val="3AAA35"/>
            </a:solidFill>
          </a:ln>
          <a:effectLst/>
        </p:spPr>
        <p:style>
          <a:lnRef idx="1">
            <a:srgbClr val="016ABA"/>
          </a:lnRef>
          <a:fillRef idx="3">
            <a:srgbClr val="016ABA"/>
          </a:fillRef>
          <a:effectRef idx="2">
            <a:srgbClr val="016ABA"/>
          </a:effectRef>
          <a:fontRef idx="minor">
            <a:srgbClr val="FFFFFF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Dialogue Manager</a:t>
            </a:r>
          </a:p>
          <a:p>
            <a:pPr algn="ctr"/>
            <a:r>
              <a:rPr sz="800" b="0" i="1">
                <a:solidFill>
                  <a:srgbClr val="EAFFEA"/>
                </a:solidFill>
              </a:rPr>
              <a:t>(manage turn / select)</a:t>
            </a:r>
          </a:p>
          <a:p>
            <a:pPr algn="ctr"/>
            <a:r>
              <a:rPr sz="800" b="0" i="0">
                <a:solidFill>
                  <a:srgbClr val="FFFFFF"/>
                </a:solidFill>
              </a:rPr>
              <a:t>FSM 'Conversation' state runs</a:t>
            </a:r>
          </a:p>
          <a:p>
            <a:pPr algn="ctr"/>
            <a:r>
              <a:rPr sz="800" b="0" i="0">
                <a:solidFill>
                  <a:srgbClr val="FFFFFF"/>
                </a:solidFill>
              </a:rPr>
              <a:t>the LangGraph slot-filling loop</a:t>
            </a:r>
          </a:p>
          <a:p>
            <a:pPr algn="ctr"/>
            <a:r>
              <a:rPr sz="800" b="1" i="0">
                <a:solidFill>
                  <a:srgbClr val="FFFFFF"/>
                </a:solidFill>
              </a:rPr>
              <a:t>▼ expanded below 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73164" y="1891246"/>
            <a:ext cx="1566294" cy="876485"/>
          </a:xfrm>
          <a:prstGeom prst="roundRect">
            <a:avLst/>
          </a:prstGeom>
          <a:solidFill>
            <a:srgbClr val="1E8449"/>
          </a:solidFill>
          <a:ln w="12700">
            <a:solidFill>
              <a:srgbClr val="1E8449"/>
            </a:solidFill>
          </a:ln>
          <a:effectLst/>
        </p:spPr>
        <p:style>
          <a:lnRef idx="1">
            <a:srgbClr val="016ABA"/>
          </a:lnRef>
          <a:fillRef idx="3">
            <a:srgbClr val="016ABA"/>
          </a:fillRef>
          <a:effectRef idx="2">
            <a:srgbClr val="016ABA"/>
          </a:effectRef>
          <a:fontRef idx="minor">
            <a:srgbClr val="FFFFFF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Bayesian Reasoning</a:t>
            </a:r>
          </a:p>
          <a:p>
            <a:pPr algn="ctr"/>
            <a:r>
              <a:rPr sz="800" b="0" i="1">
                <a:solidFill>
                  <a:srgbClr val="D7F3DF"/>
                </a:solidFill>
              </a:rPr>
              <a:t>(decide)</a:t>
            </a:r>
          </a:p>
          <a:p>
            <a:pPr algn="ctr"/>
            <a:r>
              <a:rPr sz="800" b="0" i="0">
                <a:solidFill>
                  <a:srgbClr val="FFFFFF"/>
                </a:solidFill>
              </a:rPr>
              <a:t>3-layer Bayes net (pyAgrum)</a:t>
            </a:r>
          </a:p>
          <a:p>
            <a:pPr algn="ctr"/>
            <a:r>
              <a:rPr sz="800" b="0" i="0">
                <a:solidFill>
                  <a:srgbClr val="FFFFFF"/>
                </a:solidFill>
              </a:rPr>
              <a:t>6 evidence → 3 latent → 8 events</a:t>
            </a:r>
          </a:p>
          <a:p>
            <a:pPr algn="ctr"/>
            <a:r>
              <a:rPr sz="800" b="0" i="0">
                <a:solidFill>
                  <a:srgbClr val="FFFFFF"/>
                </a:solidFill>
              </a:rPr>
              <a:t>ranked events + explanation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51119" y="1891246"/>
            <a:ext cx="1650958" cy="876485"/>
          </a:xfrm>
          <a:prstGeom prst="roundRect">
            <a:avLst/>
          </a:prstGeom>
          <a:solidFill>
            <a:srgbClr val="1F6FB2"/>
          </a:solidFill>
          <a:ln w="12700">
            <a:solidFill>
              <a:srgbClr val="1F6FB2"/>
            </a:solidFill>
          </a:ln>
          <a:effectLst/>
        </p:spPr>
        <p:style>
          <a:lnRef idx="1">
            <a:srgbClr val="016ABA"/>
          </a:lnRef>
          <a:fillRef idx="3">
            <a:srgbClr val="016ABA"/>
          </a:fillRef>
          <a:effectRef idx="2">
            <a:srgbClr val="016ABA"/>
          </a:effectRef>
          <a:fontRef idx="minor">
            <a:srgbClr val="FFFFFF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Behaviour &amp; Acting</a:t>
            </a:r>
          </a:p>
          <a:p>
            <a:pPr algn="ctr"/>
            <a:r>
              <a:rPr sz="800" b="0" i="1">
                <a:solidFill>
                  <a:srgbClr val="DCEAF6"/>
                </a:solidFill>
              </a:rPr>
              <a:t>(create + perform)</a:t>
            </a:r>
          </a:p>
          <a:p>
            <a:pPr algn="ctr"/>
            <a:r>
              <a:rPr sz="800" b="0" i="0">
                <a:solidFill>
                  <a:srgbClr val="FFFFFF"/>
                </a:solidFill>
              </a:rPr>
              <a:t>speech (TTS) + gesture</a:t>
            </a:r>
          </a:p>
          <a:p>
            <a:pPr algn="ctr"/>
            <a:r>
              <a:rPr sz="800" b="0" i="0">
                <a:solidFill>
                  <a:srgbClr val="FFFFFF"/>
                </a:solidFill>
              </a:rPr>
              <a:t>(wave/nod/think/present)</a:t>
            </a:r>
          </a:p>
          <a:p>
            <a:pPr algn="ctr"/>
            <a:r>
              <a:rPr sz="800" b="0" i="0">
                <a:solidFill>
                  <a:srgbClr val="FFFFFF"/>
                </a:solidFill>
              </a:rPr>
              <a:t>+ tablet image · Pepper/qiBullet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34504" y="2329489"/>
            <a:ext cx="220128" cy="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rgbClr val="016ABA"/>
          </a:lnRef>
          <a:fillRef idx="0">
            <a:srgbClr val="016ABA"/>
          </a:fillRef>
          <a:effectRef idx="1">
            <a:srgbClr val="016ABA"/>
          </a:effectRef>
          <a:fontRef idx="minor">
            <a:srgbClr val="222222"/>
          </a:fontRef>
        </p:style>
      </p:cxnSp>
      <p:cxnSp>
        <p:nvCxnSpPr>
          <p:cNvPr id="16" name="Connector 15"/>
          <p:cNvCxnSpPr/>
          <p:nvPr/>
        </p:nvCxnSpPr>
        <p:spPr>
          <a:xfrm>
            <a:off x="2920926" y="2329489"/>
            <a:ext cx="211662" cy="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rgbClr val="016ABA"/>
          </a:lnRef>
          <a:fillRef idx="0">
            <a:srgbClr val="016ABA"/>
          </a:fillRef>
          <a:effectRef idx="1">
            <a:srgbClr val="016ABA"/>
          </a:effectRef>
          <a:fontRef idx="minor">
            <a:srgbClr val="222222"/>
          </a:fontRef>
        </p:style>
      </p:cxnSp>
      <p:cxnSp>
        <p:nvCxnSpPr>
          <p:cNvPr id="17" name="Connector 16"/>
          <p:cNvCxnSpPr/>
          <p:nvPr/>
        </p:nvCxnSpPr>
        <p:spPr>
          <a:xfrm>
            <a:off x="4698882" y="2329489"/>
            <a:ext cx="211661" cy="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rgbClr val="016ABA"/>
          </a:lnRef>
          <a:fillRef idx="0">
            <a:srgbClr val="016ABA"/>
          </a:fillRef>
          <a:effectRef idx="1">
            <a:srgbClr val="016ABA"/>
          </a:effectRef>
          <a:fontRef idx="minor">
            <a:srgbClr val="222222"/>
          </a:fontRef>
        </p:style>
      </p:cxnSp>
      <p:cxnSp>
        <p:nvCxnSpPr>
          <p:cNvPr id="18" name="Connector 17"/>
          <p:cNvCxnSpPr/>
          <p:nvPr/>
        </p:nvCxnSpPr>
        <p:spPr>
          <a:xfrm>
            <a:off x="6561502" y="2329489"/>
            <a:ext cx="211662" cy="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rgbClr val="016ABA"/>
          </a:lnRef>
          <a:fillRef idx="0">
            <a:srgbClr val="016ABA"/>
          </a:fillRef>
          <a:effectRef idx="1">
            <a:srgbClr val="016ABA"/>
          </a:effectRef>
          <a:fontRef idx="minor">
            <a:srgbClr val="222222"/>
          </a:fontRef>
        </p:style>
      </p:cxnSp>
      <p:cxnSp>
        <p:nvCxnSpPr>
          <p:cNvPr id="19" name="Connector 18"/>
          <p:cNvCxnSpPr/>
          <p:nvPr/>
        </p:nvCxnSpPr>
        <p:spPr>
          <a:xfrm>
            <a:off x="8339458" y="2329489"/>
            <a:ext cx="211661" cy="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rgbClr val="016ABA"/>
          </a:lnRef>
          <a:fillRef idx="0">
            <a:srgbClr val="016ABA"/>
          </a:fillRef>
          <a:effectRef idx="1">
            <a:srgbClr val="016ABA"/>
          </a:effectRef>
          <a:fontRef idx="minor">
            <a:srgbClr val="222222"/>
          </a:fontRef>
        </p:style>
      </p:cxnSp>
      <p:cxnSp>
        <p:nvCxnSpPr>
          <p:cNvPr id="20" name="Connector 19"/>
          <p:cNvCxnSpPr/>
          <p:nvPr/>
        </p:nvCxnSpPr>
        <p:spPr>
          <a:xfrm>
            <a:off x="10202078" y="2329489"/>
            <a:ext cx="262460" cy="0"/>
          </a:xfrm>
          <a:prstGeom prst="line">
            <a:avLst/>
          </a:prstGeom>
          <a:ln w="25400">
            <a:solidFill>
              <a:srgbClr val="333333"/>
            </a:solidFill>
            <a:tailEnd type="triangle" w="med" len="med"/>
          </a:ln>
        </p:spPr>
        <p:style>
          <a:lnRef idx="2">
            <a:srgbClr val="016ABA"/>
          </a:lnRef>
          <a:fillRef idx="0">
            <a:srgbClr val="016ABA"/>
          </a:fillRef>
          <a:effectRef idx="1">
            <a:srgbClr val="016ABA"/>
          </a:effectRef>
          <a:fontRef idx="minor">
            <a:srgbClr val="222222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9372365" y="1715949"/>
            <a:ext cx="0" cy="175297"/>
          </a:xfrm>
          <a:prstGeom prst="line">
            <a:avLst/>
          </a:prstGeom>
          <a:ln w="16510">
            <a:solidFill>
              <a:srgbClr val="7A7A7A"/>
            </a:solidFill>
            <a:prstDash val="dash"/>
          </a:ln>
        </p:spPr>
        <p:style>
          <a:lnRef idx="2">
            <a:srgbClr val="016ABA"/>
          </a:lnRef>
          <a:fillRef idx="0">
            <a:srgbClr val="016ABA"/>
          </a:fillRef>
          <a:effectRef idx="1">
            <a:srgbClr val="016ABA"/>
          </a:effectRef>
          <a:fontRef idx="minor">
            <a:srgbClr val="222222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2133546" y="1715949"/>
            <a:ext cx="7238819" cy="0"/>
          </a:xfrm>
          <a:prstGeom prst="line">
            <a:avLst/>
          </a:prstGeom>
          <a:ln w="16510">
            <a:solidFill>
              <a:srgbClr val="7A7A7A"/>
            </a:solidFill>
            <a:prstDash val="dash"/>
          </a:ln>
        </p:spPr>
        <p:style>
          <a:lnRef idx="2">
            <a:srgbClr val="016ABA"/>
          </a:lnRef>
          <a:fillRef idx="0">
            <a:srgbClr val="016ABA"/>
          </a:fillRef>
          <a:effectRef idx="1">
            <a:srgbClr val="016ABA"/>
          </a:effectRef>
          <a:fontRef idx="minor">
            <a:srgbClr val="222222"/>
          </a:fontRef>
        </p:style>
      </p:cxnSp>
      <p:cxnSp>
        <p:nvCxnSpPr>
          <p:cNvPr id="23" name="Connector 22"/>
          <p:cNvCxnSpPr/>
          <p:nvPr/>
        </p:nvCxnSpPr>
        <p:spPr>
          <a:xfrm>
            <a:off x="2133546" y="1715949"/>
            <a:ext cx="0" cy="175297"/>
          </a:xfrm>
          <a:prstGeom prst="line">
            <a:avLst/>
          </a:prstGeom>
          <a:ln w="16510">
            <a:solidFill>
              <a:srgbClr val="7A7A7A"/>
            </a:solidFill>
            <a:prstDash val="dash"/>
            <a:tailEnd type="triangle" w="med" len="med"/>
          </a:ln>
        </p:spPr>
        <p:style>
          <a:lnRef idx="2">
            <a:srgbClr val="016ABA"/>
          </a:lnRef>
          <a:fillRef idx="0">
            <a:srgbClr val="016ABA"/>
          </a:fillRef>
          <a:effectRef idx="1">
            <a:srgbClr val="016ABA"/>
          </a:effectRef>
          <a:fontRef idx="minor">
            <a:srgbClr val="222222"/>
          </a:fontRef>
        </p:style>
      </p:cxnSp>
      <p:sp>
        <p:nvSpPr>
          <p:cNvPr id="24" name="TextBox 23"/>
          <p:cNvSpPr txBox="1"/>
          <p:nvPr/>
        </p:nvSpPr>
        <p:spPr>
          <a:xfrm>
            <a:off x="3809904" y="1569764"/>
            <a:ext cx="2539936" cy="204513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850" b="0" i="0" dirty="0">
                <a:solidFill>
                  <a:srgbClr val="777777"/>
                </a:solidFill>
              </a:rPr>
              <a:t>per turn: Pepper asks (TTS) → user answers (ASR) → repeats until 6 </a:t>
            </a:r>
            <a:r>
              <a:rPr sz="850" b="0" i="0" dirty="0" err="1">
                <a:solidFill>
                  <a:srgbClr val="777777"/>
                </a:solidFill>
              </a:rPr>
              <a:t>prefs</a:t>
            </a:r>
            <a:r>
              <a:rPr sz="850" b="0" i="0" dirty="0">
                <a:solidFill>
                  <a:srgbClr val="777777"/>
                </a:solidFill>
              </a:rPr>
              <a:t> filled</a:t>
            </a:r>
          </a:p>
        </p:txBody>
      </p:sp>
      <p:sp>
        <p:nvSpPr>
          <p:cNvPr id="25" name="Freeform 24"/>
          <p:cNvSpPr/>
          <p:nvPr/>
        </p:nvSpPr>
        <p:spPr>
          <a:xfrm>
            <a:off x="1426128" y="2767732"/>
            <a:ext cx="9368601" cy="730405"/>
          </a:xfrm>
          <a:custGeom>
            <a:avLst/>
            <a:gdLst/>
            <a:ahLst/>
            <a:cxnLst/>
            <a:rect l="l" t="t" r="r" b="b"/>
            <a:pathLst>
              <a:path w="10159746" h="730405">
                <a:moveTo>
                  <a:pt x="3894569" y="0"/>
                </a:moveTo>
                <a:lnTo>
                  <a:pt x="5545528" y="0"/>
                </a:lnTo>
                <a:lnTo>
                  <a:pt x="10159746" y="730405"/>
                </a:lnTo>
                <a:lnTo>
                  <a:pt x="0" y="730405"/>
                </a:lnTo>
                <a:lnTo>
                  <a:pt x="3894569" y="0"/>
                </a:lnTo>
                <a:close/>
              </a:path>
            </a:pathLst>
          </a:custGeom>
          <a:solidFill>
            <a:srgbClr val="F3FAF3"/>
          </a:solidFill>
          <a:ln w="9525">
            <a:solidFill>
              <a:srgbClr val="BFE3BF"/>
            </a:solidFill>
          </a:ln>
          <a:effectLst/>
        </p:spPr>
        <p:style>
          <a:lnRef idx="1">
            <a:srgbClr val="016ABA"/>
          </a:lnRef>
          <a:fillRef idx="3">
            <a:srgbClr val="016ABA"/>
          </a:fillRef>
          <a:effectRef idx="2">
            <a:srgbClr val="016ABA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15974" y="3498137"/>
            <a:ext cx="10159746" cy="3067700"/>
          </a:xfrm>
          <a:prstGeom prst="roundRect">
            <a:avLst/>
          </a:prstGeom>
          <a:solidFill>
            <a:srgbClr val="F3FAF3"/>
          </a:solidFill>
          <a:ln w="19050">
            <a:solidFill>
              <a:srgbClr val="3AAA35"/>
            </a:solidFill>
          </a:ln>
          <a:effectLst/>
        </p:spPr>
        <p:style>
          <a:lnRef idx="1">
            <a:srgbClr val="016ABA"/>
          </a:lnRef>
          <a:fillRef idx="3">
            <a:srgbClr val="016ABA"/>
          </a:fillRef>
          <a:effectRef idx="2">
            <a:srgbClr val="016ABA"/>
          </a:effectRef>
          <a:fontRef idx="minor">
            <a:srgbClr val="FFFFFF"/>
          </a:fontRef>
        </p:style>
        <p:txBody>
          <a:bodyPr wrap="square" lIns="25400" tIns="12700" rIns="25400" bIns="1270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85303" y="3585786"/>
            <a:ext cx="7619809" cy="17529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200" b="1" i="0" dirty="0">
                <a:solidFill>
                  <a:srgbClr val="1E7A2B"/>
                </a:solidFill>
              </a:rPr>
              <a:t>Dialogue Manager: </a:t>
            </a:r>
            <a:r>
              <a:rPr sz="1200" b="1" i="0" dirty="0" err="1">
                <a:solidFill>
                  <a:srgbClr val="1E7A2B"/>
                </a:solidFill>
              </a:rPr>
              <a:t>LangGraph</a:t>
            </a:r>
            <a:r>
              <a:rPr sz="1200" b="1" i="0" dirty="0">
                <a:solidFill>
                  <a:srgbClr val="1E7A2B"/>
                </a:solidFill>
              </a:rPr>
              <a:t> (dialogue/graph.py)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5303" y="3746475"/>
            <a:ext cx="9313100" cy="146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900" b="0" i="0">
                <a:solidFill>
                  <a:srgbClr val="556677"/>
                </a:solidFill>
              </a:rPr>
              <a:t>runs during the FSM 'Conversation' state · fills the 6 preference slots one at a time, with LLM reframing and conflict handling</a:t>
            </a:r>
          </a:p>
        </p:txBody>
      </p:sp>
      <p:sp>
        <p:nvSpPr>
          <p:cNvPr id="29" name="Oval 28"/>
          <p:cNvSpPr/>
          <p:nvPr/>
        </p:nvSpPr>
        <p:spPr>
          <a:xfrm>
            <a:off x="1126038" y="4885906"/>
            <a:ext cx="711182" cy="321378"/>
          </a:xfrm>
          <a:prstGeom prst="ellipse">
            <a:avLst/>
          </a:prstGeom>
          <a:solidFill>
            <a:srgbClr val="83898F"/>
          </a:solidFill>
          <a:ln w="12700">
            <a:solidFill>
              <a:srgbClr val="83898F"/>
            </a:solidFill>
          </a:ln>
          <a:effectLst/>
        </p:spPr>
        <p:style>
          <a:lnRef idx="1">
            <a:srgbClr val="016ABA"/>
          </a:lnRef>
          <a:fillRef idx="3">
            <a:srgbClr val="016ABA"/>
          </a:fillRef>
          <a:effectRef idx="2">
            <a:srgbClr val="016ABA"/>
          </a:effectRef>
          <a:fontRef idx="minor">
            <a:srgbClr val="FFFFFF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START</a:t>
            </a:r>
          </a:p>
        </p:txBody>
      </p:sp>
      <p:sp>
        <p:nvSpPr>
          <p:cNvPr id="30" name="Oval 29"/>
          <p:cNvSpPr/>
          <p:nvPr/>
        </p:nvSpPr>
        <p:spPr>
          <a:xfrm>
            <a:off x="1126038" y="5820824"/>
            <a:ext cx="711182" cy="321378"/>
          </a:xfrm>
          <a:prstGeom prst="ellipse">
            <a:avLst/>
          </a:prstGeom>
          <a:solidFill>
            <a:srgbClr val="83898F"/>
          </a:solidFill>
          <a:ln w="12700">
            <a:solidFill>
              <a:srgbClr val="83898F"/>
            </a:solidFill>
          </a:ln>
          <a:effectLst/>
        </p:spPr>
        <p:style>
          <a:lnRef idx="1">
            <a:srgbClr val="016ABA"/>
          </a:lnRef>
          <a:fillRef idx="3">
            <a:srgbClr val="016ABA"/>
          </a:fillRef>
          <a:effectRef idx="2">
            <a:srgbClr val="016ABA"/>
          </a:effectRef>
          <a:fontRef idx="minor">
            <a:srgbClr val="FFFFFF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END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031949" y="5791608"/>
            <a:ext cx="1269968" cy="379810"/>
          </a:xfrm>
          <a:prstGeom prst="roundRect">
            <a:avLst/>
          </a:prstGeom>
          <a:solidFill>
            <a:srgbClr val="6CC24A"/>
          </a:solidFill>
          <a:ln w="12700">
            <a:solidFill>
              <a:srgbClr val="6CC24A"/>
            </a:solidFill>
          </a:ln>
          <a:effectLst/>
        </p:spPr>
        <p:style>
          <a:lnRef idx="1">
            <a:srgbClr val="016ABA"/>
          </a:lnRef>
          <a:fillRef idx="3">
            <a:srgbClr val="016ABA"/>
          </a:fillRef>
          <a:effectRef idx="2">
            <a:srgbClr val="016ABA"/>
          </a:effectRef>
          <a:fontRef idx="minor">
            <a:srgbClr val="FFFFFF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Finish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074281" y="4754433"/>
            <a:ext cx="1269968" cy="569715"/>
          </a:xfrm>
          <a:prstGeom prst="roundRect">
            <a:avLst/>
          </a:prstGeom>
          <a:solidFill>
            <a:srgbClr val="3AAA35"/>
          </a:solidFill>
          <a:ln w="12700">
            <a:solidFill>
              <a:srgbClr val="3AAA35"/>
            </a:solidFill>
          </a:ln>
          <a:effectLst/>
        </p:spPr>
        <p:style>
          <a:lnRef idx="1">
            <a:srgbClr val="016ABA"/>
          </a:lnRef>
          <a:fillRef idx="3">
            <a:srgbClr val="016ABA"/>
          </a:fillRef>
          <a:effectRef idx="2">
            <a:srgbClr val="016ABA"/>
          </a:effectRef>
          <a:fontRef idx="minor">
            <a:srgbClr val="FFFFFF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Router</a:t>
            </a:r>
          </a:p>
          <a:p>
            <a:pPr algn="ctr"/>
            <a:r>
              <a:rPr sz="800" b="0" i="0">
                <a:solidFill>
                  <a:srgbClr val="EAFFEA"/>
                </a:solidFill>
              </a:rPr>
              <a:t>pick next empty slot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979233" y="4754433"/>
            <a:ext cx="1354632" cy="569715"/>
          </a:xfrm>
          <a:prstGeom prst="roundRect">
            <a:avLst/>
          </a:prstGeom>
          <a:solidFill>
            <a:srgbClr val="3AAA35"/>
          </a:solidFill>
          <a:ln w="12700">
            <a:solidFill>
              <a:srgbClr val="3AAA35"/>
            </a:solidFill>
          </a:ln>
          <a:effectLst/>
        </p:spPr>
        <p:style>
          <a:lnRef idx="1">
            <a:srgbClr val="016ABA"/>
          </a:lnRef>
          <a:fillRef idx="3">
            <a:srgbClr val="016ABA"/>
          </a:fillRef>
          <a:effectRef idx="2">
            <a:srgbClr val="016ABA"/>
          </a:effectRef>
          <a:fontRef idx="minor">
            <a:srgbClr val="FFFFFF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QuestionFramer</a:t>
            </a:r>
          </a:p>
          <a:p>
            <a:pPr algn="ctr"/>
            <a:r>
              <a:rPr sz="800" b="0" i="0">
                <a:solidFill>
                  <a:srgbClr val="EAFFEA"/>
                </a:solidFill>
              </a:rPr>
              <a:t>ask (LLM-framed),</a:t>
            </a:r>
          </a:p>
          <a:p>
            <a:pPr algn="ctr"/>
            <a:r>
              <a:rPr sz="800" b="0" i="0">
                <a:solidFill>
                  <a:srgbClr val="EAFFEA"/>
                </a:solidFill>
              </a:rPr>
              <a:t>capture the reply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26518" y="4754433"/>
            <a:ext cx="1354632" cy="569715"/>
          </a:xfrm>
          <a:prstGeom prst="roundRect">
            <a:avLst/>
          </a:prstGeom>
          <a:solidFill>
            <a:srgbClr val="3AAA35"/>
          </a:solidFill>
          <a:ln w="12700">
            <a:solidFill>
              <a:srgbClr val="3AAA35"/>
            </a:solidFill>
          </a:ln>
          <a:effectLst/>
        </p:spPr>
        <p:style>
          <a:lnRef idx="1">
            <a:srgbClr val="016ABA"/>
          </a:lnRef>
          <a:fillRef idx="3">
            <a:srgbClr val="016ABA"/>
          </a:fillRef>
          <a:effectRef idx="2">
            <a:srgbClr val="016ABA"/>
          </a:effectRef>
          <a:fontRef idx="minor">
            <a:srgbClr val="FFFFFF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AnswerParser</a:t>
            </a:r>
          </a:p>
          <a:p>
            <a:pPr algn="ctr"/>
            <a:r>
              <a:rPr sz="800" b="0" i="0">
                <a:solidFill>
                  <a:srgbClr val="EAFFEA"/>
                </a:solidFill>
              </a:rPr>
              <a:t>reply → candidate</a:t>
            </a:r>
          </a:p>
          <a:p>
            <a:pPr algn="ctr"/>
            <a:r>
              <a:rPr sz="800" b="0" i="0">
                <a:solidFill>
                  <a:srgbClr val="EAFFEA"/>
                </a:solidFill>
              </a:rPr>
              <a:t>evidence (LLM)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73803" y="4754433"/>
            <a:ext cx="1354632" cy="569715"/>
          </a:xfrm>
          <a:prstGeom prst="roundRect">
            <a:avLst/>
          </a:prstGeom>
          <a:solidFill>
            <a:srgbClr val="3AAA35"/>
          </a:solidFill>
          <a:ln w="12700">
            <a:solidFill>
              <a:srgbClr val="3AAA35"/>
            </a:solidFill>
          </a:ln>
          <a:effectLst/>
        </p:spPr>
        <p:style>
          <a:lnRef idx="1">
            <a:srgbClr val="016ABA"/>
          </a:lnRef>
          <a:fillRef idx="3">
            <a:srgbClr val="016ABA"/>
          </a:fillRef>
          <a:effectRef idx="2">
            <a:srgbClr val="016ABA"/>
          </a:effectRef>
          <a:fontRef idx="minor">
            <a:srgbClr val="FFFFFF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ConflictResolver</a:t>
            </a:r>
          </a:p>
          <a:p>
            <a:pPr algn="ctr"/>
            <a:r>
              <a:rPr sz="800" b="0" i="0">
                <a:solidFill>
                  <a:srgbClr val="EAFFEA"/>
                </a:solidFill>
              </a:rPr>
              <a:t>spot contradictions,</a:t>
            </a:r>
          </a:p>
          <a:p>
            <a:pPr algn="ctr"/>
            <a:r>
              <a:rPr sz="800" b="0" i="0">
                <a:solidFill>
                  <a:srgbClr val="EAFFEA"/>
                </a:solidFill>
              </a:rPr>
              <a:t>re-open the slot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21087" y="4754433"/>
            <a:ext cx="1185303" cy="569715"/>
          </a:xfrm>
          <a:prstGeom prst="roundRect">
            <a:avLst/>
          </a:prstGeom>
          <a:solidFill>
            <a:srgbClr val="3AAA35"/>
          </a:solidFill>
          <a:ln w="12700">
            <a:solidFill>
              <a:srgbClr val="3AAA35"/>
            </a:solidFill>
          </a:ln>
          <a:effectLst/>
        </p:spPr>
        <p:style>
          <a:lnRef idx="1">
            <a:srgbClr val="016ABA"/>
          </a:lnRef>
          <a:fillRef idx="3">
            <a:srgbClr val="016ABA"/>
          </a:fillRef>
          <a:effectRef idx="2">
            <a:srgbClr val="016ABA"/>
          </a:effectRef>
          <a:fontRef idx="minor">
            <a:srgbClr val="FFFFFF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Evaluator</a:t>
            </a:r>
          </a:p>
          <a:p>
            <a:pPr algn="ctr"/>
            <a:r>
              <a:rPr sz="800" b="0" i="0">
                <a:solidFill>
                  <a:srgbClr val="EAFFEA"/>
                </a:solidFill>
              </a:rPr>
              <a:t>commit / reframe /</a:t>
            </a:r>
          </a:p>
          <a:p>
            <a:pPr algn="ctr"/>
            <a:r>
              <a:rPr sz="800" b="0" i="0">
                <a:solidFill>
                  <a:srgbClr val="EAFFEA"/>
                </a:solidFill>
              </a:rPr>
              <a:t>default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837220" y="5046595"/>
            <a:ext cx="237061" cy="0"/>
          </a:xfrm>
          <a:prstGeom prst="line">
            <a:avLst/>
          </a:prstGeom>
          <a:ln w="22860">
            <a:solidFill>
              <a:srgbClr val="333333"/>
            </a:solidFill>
            <a:tailEnd type="triangle" w="med" len="med"/>
          </a:ln>
        </p:spPr>
        <p:style>
          <a:lnRef idx="2">
            <a:srgbClr val="016ABA"/>
          </a:lnRef>
          <a:fillRef idx="0">
            <a:srgbClr val="016ABA"/>
          </a:fillRef>
          <a:effectRef idx="1">
            <a:srgbClr val="016ABA"/>
          </a:effectRef>
          <a:fontRef idx="minor">
            <a:srgbClr val="222222"/>
          </a:fontRef>
        </p:style>
      </p:cxnSp>
      <p:cxnSp>
        <p:nvCxnSpPr>
          <p:cNvPr id="38" name="Connector 37"/>
          <p:cNvCxnSpPr/>
          <p:nvPr/>
        </p:nvCxnSpPr>
        <p:spPr>
          <a:xfrm>
            <a:off x="3344249" y="5039291"/>
            <a:ext cx="634984" cy="0"/>
          </a:xfrm>
          <a:prstGeom prst="line">
            <a:avLst/>
          </a:prstGeom>
          <a:ln w="22860">
            <a:solidFill>
              <a:srgbClr val="333333"/>
            </a:solidFill>
            <a:tailEnd type="triangle" w="med" len="med"/>
          </a:ln>
        </p:spPr>
        <p:style>
          <a:lnRef idx="2">
            <a:srgbClr val="016ABA"/>
          </a:lnRef>
          <a:fillRef idx="0">
            <a:srgbClr val="016ABA"/>
          </a:fillRef>
          <a:effectRef idx="1">
            <a:srgbClr val="016ABA"/>
          </a:effectRef>
          <a:fontRef idx="minor">
            <a:srgbClr val="222222"/>
          </a:fontRef>
        </p:style>
      </p:cxnSp>
      <p:sp>
        <p:nvSpPr>
          <p:cNvPr id="39" name="TextBox 38"/>
          <p:cNvSpPr txBox="1"/>
          <p:nvPr/>
        </p:nvSpPr>
        <p:spPr>
          <a:xfrm>
            <a:off x="2387540" y="4900514"/>
            <a:ext cx="2539936" cy="204513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</a:rPr>
              <a:t>missing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333866" y="5039291"/>
            <a:ext cx="592652" cy="0"/>
          </a:xfrm>
          <a:prstGeom prst="line">
            <a:avLst/>
          </a:prstGeom>
          <a:ln w="22860">
            <a:solidFill>
              <a:srgbClr val="333333"/>
            </a:solidFill>
            <a:tailEnd type="triangle" w="med" len="med"/>
          </a:ln>
        </p:spPr>
        <p:style>
          <a:lnRef idx="2">
            <a:srgbClr val="016ABA"/>
          </a:lnRef>
          <a:fillRef idx="0">
            <a:srgbClr val="016ABA"/>
          </a:fillRef>
          <a:effectRef idx="1">
            <a:srgbClr val="016ABA"/>
          </a:effectRef>
          <a:fontRef idx="minor">
            <a:srgbClr val="222222"/>
          </a:fontRef>
        </p:style>
      </p:cxnSp>
      <p:cxnSp>
        <p:nvCxnSpPr>
          <p:cNvPr id="41" name="Connector 40"/>
          <p:cNvCxnSpPr/>
          <p:nvPr/>
        </p:nvCxnSpPr>
        <p:spPr>
          <a:xfrm>
            <a:off x="7281151" y="5039291"/>
            <a:ext cx="592652" cy="0"/>
          </a:xfrm>
          <a:prstGeom prst="line">
            <a:avLst/>
          </a:prstGeom>
          <a:ln w="22860">
            <a:solidFill>
              <a:srgbClr val="333333"/>
            </a:solidFill>
            <a:tailEnd type="triangle" w="med" len="med"/>
          </a:ln>
        </p:spPr>
        <p:style>
          <a:lnRef idx="2">
            <a:srgbClr val="016ABA"/>
          </a:lnRef>
          <a:fillRef idx="0">
            <a:srgbClr val="016ABA"/>
          </a:fillRef>
          <a:effectRef idx="1">
            <a:srgbClr val="016ABA"/>
          </a:effectRef>
          <a:fontRef idx="minor">
            <a:srgbClr val="222222"/>
          </a:fontRef>
        </p:style>
      </p:cxnSp>
      <p:cxnSp>
        <p:nvCxnSpPr>
          <p:cNvPr id="42" name="Connector 41"/>
          <p:cNvCxnSpPr/>
          <p:nvPr/>
        </p:nvCxnSpPr>
        <p:spPr>
          <a:xfrm>
            <a:off x="9228435" y="5039291"/>
            <a:ext cx="592652" cy="0"/>
          </a:xfrm>
          <a:prstGeom prst="line">
            <a:avLst/>
          </a:prstGeom>
          <a:ln w="22860">
            <a:solidFill>
              <a:srgbClr val="333333"/>
            </a:solidFill>
            <a:tailEnd type="triangle" w="med" len="med"/>
          </a:ln>
        </p:spPr>
        <p:style>
          <a:lnRef idx="2">
            <a:srgbClr val="016ABA"/>
          </a:lnRef>
          <a:fillRef idx="0">
            <a:srgbClr val="016ABA"/>
          </a:fillRef>
          <a:effectRef idx="1">
            <a:srgbClr val="016ABA"/>
          </a:effectRef>
          <a:fontRef idx="minor">
            <a:srgbClr val="222222"/>
          </a:fontRef>
        </p:style>
      </p:cxnSp>
      <p:sp>
        <p:nvSpPr>
          <p:cNvPr id="43" name="TextBox 42"/>
          <p:cNvSpPr txBox="1"/>
          <p:nvPr/>
        </p:nvSpPr>
        <p:spPr>
          <a:xfrm>
            <a:off x="8254793" y="4900514"/>
            <a:ext cx="2539936" cy="204513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</a:rPr>
              <a:t>no conflict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2709265" y="5324149"/>
            <a:ext cx="0" cy="467459"/>
          </a:xfrm>
          <a:prstGeom prst="line">
            <a:avLst/>
          </a:prstGeom>
          <a:ln w="22860">
            <a:solidFill>
              <a:srgbClr val="333333"/>
            </a:solidFill>
            <a:tailEnd type="triangle" w="med" len="med"/>
          </a:ln>
        </p:spPr>
        <p:style>
          <a:lnRef idx="2">
            <a:srgbClr val="016ABA"/>
          </a:lnRef>
          <a:fillRef idx="0">
            <a:srgbClr val="016ABA"/>
          </a:fillRef>
          <a:effectRef idx="1">
            <a:srgbClr val="016ABA"/>
          </a:effectRef>
          <a:fontRef idx="minor">
            <a:srgbClr val="222222"/>
          </a:fontRef>
        </p:style>
      </p:cxnSp>
      <p:sp>
        <p:nvSpPr>
          <p:cNvPr id="45" name="TextBox 44"/>
          <p:cNvSpPr txBox="1"/>
          <p:nvPr/>
        </p:nvSpPr>
        <p:spPr>
          <a:xfrm>
            <a:off x="2760064" y="5484838"/>
            <a:ext cx="1185303" cy="146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</a:rPr>
              <a:t>all slots filled</a:t>
            </a:r>
          </a:p>
        </p:txBody>
      </p:sp>
      <p:cxnSp>
        <p:nvCxnSpPr>
          <p:cNvPr id="46" name="Connector 45"/>
          <p:cNvCxnSpPr/>
          <p:nvPr/>
        </p:nvCxnSpPr>
        <p:spPr>
          <a:xfrm flipH="1">
            <a:off x="1854153" y="5981513"/>
            <a:ext cx="177796" cy="0"/>
          </a:xfrm>
          <a:prstGeom prst="line">
            <a:avLst/>
          </a:prstGeom>
          <a:ln w="22860">
            <a:solidFill>
              <a:srgbClr val="333333"/>
            </a:solidFill>
            <a:tailEnd type="triangle" w="med" len="med"/>
          </a:ln>
        </p:spPr>
        <p:style>
          <a:lnRef idx="2">
            <a:srgbClr val="016ABA"/>
          </a:lnRef>
          <a:fillRef idx="0">
            <a:srgbClr val="016ABA"/>
          </a:fillRef>
          <a:effectRef idx="1">
            <a:srgbClr val="016ABA"/>
          </a:effectRef>
          <a:fontRef idx="minor">
            <a:srgbClr val="222222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8551119" y="4462271"/>
            <a:ext cx="0" cy="292162"/>
          </a:xfrm>
          <a:prstGeom prst="line">
            <a:avLst/>
          </a:prstGeom>
          <a:ln w="19050">
            <a:solidFill>
              <a:srgbClr val="B51F1F"/>
            </a:solidFill>
          </a:ln>
        </p:spPr>
        <p:style>
          <a:lnRef idx="2">
            <a:srgbClr val="016ABA"/>
          </a:lnRef>
          <a:fillRef idx="0">
            <a:srgbClr val="016ABA"/>
          </a:fillRef>
          <a:effectRef idx="1">
            <a:srgbClr val="016ABA"/>
          </a:effectRef>
          <a:fontRef idx="minor">
            <a:srgbClr val="222222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4656550" y="4462271"/>
            <a:ext cx="3894569" cy="0"/>
          </a:xfrm>
          <a:prstGeom prst="line">
            <a:avLst/>
          </a:prstGeom>
          <a:ln w="19050">
            <a:solidFill>
              <a:srgbClr val="B51F1F"/>
            </a:solidFill>
          </a:ln>
        </p:spPr>
        <p:style>
          <a:lnRef idx="2">
            <a:srgbClr val="016ABA"/>
          </a:lnRef>
          <a:fillRef idx="0">
            <a:srgbClr val="016ABA"/>
          </a:fillRef>
          <a:effectRef idx="1">
            <a:srgbClr val="016ABA"/>
          </a:effectRef>
          <a:fontRef idx="minor">
            <a:srgbClr val="222222"/>
          </a:fontRef>
        </p:style>
      </p:cxnSp>
      <p:cxnSp>
        <p:nvCxnSpPr>
          <p:cNvPr id="49" name="Connector 48"/>
          <p:cNvCxnSpPr/>
          <p:nvPr/>
        </p:nvCxnSpPr>
        <p:spPr>
          <a:xfrm>
            <a:off x="4656550" y="4462271"/>
            <a:ext cx="0" cy="292162"/>
          </a:xfrm>
          <a:prstGeom prst="line">
            <a:avLst/>
          </a:prstGeom>
          <a:ln w="19050">
            <a:solidFill>
              <a:srgbClr val="B51F1F"/>
            </a:solidFill>
            <a:tailEnd type="triangle" w="med" len="med"/>
          </a:ln>
        </p:spPr>
        <p:style>
          <a:lnRef idx="2">
            <a:srgbClr val="016ABA"/>
          </a:lnRef>
          <a:fillRef idx="0">
            <a:srgbClr val="016ABA"/>
          </a:fillRef>
          <a:effectRef idx="1">
            <a:srgbClr val="016ABA"/>
          </a:effectRef>
          <a:fontRef idx="minor">
            <a:srgbClr val="222222"/>
          </a:fontRef>
        </p:style>
      </p:cxnSp>
      <p:sp>
        <p:nvSpPr>
          <p:cNvPr id="50" name="TextBox 49"/>
          <p:cNvSpPr txBox="1"/>
          <p:nvPr/>
        </p:nvSpPr>
        <p:spPr>
          <a:xfrm>
            <a:off x="5333866" y="4316190"/>
            <a:ext cx="2539936" cy="204513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850" b="0" i="0">
                <a:solidFill>
                  <a:srgbClr val="B51F1F"/>
                </a:solidFill>
              </a:rPr>
              <a:t>conflict → ask either/or</a:t>
            </a:r>
          </a:p>
        </p:txBody>
      </p:sp>
      <p:cxnSp>
        <p:nvCxnSpPr>
          <p:cNvPr id="51" name="Connector 50"/>
          <p:cNvCxnSpPr/>
          <p:nvPr/>
        </p:nvCxnSpPr>
        <p:spPr>
          <a:xfrm flipV="1">
            <a:off x="10413739" y="4257758"/>
            <a:ext cx="0" cy="496675"/>
          </a:xfrm>
          <a:prstGeom prst="line">
            <a:avLst/>
          </a:prstGeom>
          <a:ln w="19050">
            <a:solidFill>
              <a:srgbClr val="B51F1F"/>
            </a:solidFill>
          </a:ln>
        </p:spPr>
        <p:style>
          <a:lnRef idx="2">
            <a:srgbClr val="016ABA"/>
          </a:lnRef>
          <a:fillRef idx="0">
            <a:srgbClr val="016ABA"/>
          </a:fillRef>
          <a:effectRef idx="1">
            <a:srgbClr val="016ABA"/>
          </a:effectRef>
          <a:fontRef idx="minor">
            <a:srgbClr val="222222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4444888" y="4257758"/>
            <a:ext cx="5968851" cy="0"/>
          </a:xfrm>
          <a:prstGeom prst="line">
            <a:avLst/>
          </a:prstGeom>
          <a:ln w="19050">
            <a:solidFill>
              <a:srgbClr val="B51F1F"/>
            </a:solidFill>
          </a:ln>
        </p:spPr>
        <p:style>
          <a:lnRef idx="2">
            <a:srgbClr val="016ABA"/>
          </a:lnRef>
          <a:fillRef idx="0">
            <a:srgbClr val="016ABA"/>
          </a:fillRef>
          <a:effectRef idx="1">
            <a:srgbClr val="016ABA"/>
          </a:effectRef>
          <a:fontRef idx="minor">
            <a:srgbClr val="222222"/>
          </a:fontRef>
        </p:style>
      </p:cxnSp>
      <p:cxnSp>
        <p:nvCxnSpPr>
          <p:cNvPr id="53" name="Connector 52"/>
          <p:cNvCxnSpPr/>
          <p:nvPr/>
        </p:nvCxnSpPr>
        <p:spPr>
          <a:xfrm>
            <a:off x="4444888" y="4257758"/>
            <a:ext cx="0" cy="496675"/>
          </a:xfrm>
          <a:prstGeom prst="line">
            <a:avLst/>
          </a:prstGeom>
          <a:ln w="19050">
            <a:solidFill>
              <a:srgbClr val="B51F1F"/>
            </a:solidFill>
            <a:tailEnd type="triangle" w="med" len="med"/>
          </a:ln>
        </p:spPr>
        <p:style>
          <a:lnRef idx="2">
            <a:srgbClr val="016ABA"/>
          </a:lnRef>
          <a:fillRef idx="0">
            <a:srgbClr val="016ABA"/>
          </a:fillRef>
          <a:effectRef idx="1">
            <a:srgbClr val="016ABA"/>
          </a:effectRef>
          <a:fontRef idx="minor">
            <a:srgbClr val="222222"/>
          </a:fontRef>
        </p:style>
      </p:cxnSp>
      <p:sp>
        <p:nvSpPr>
          <p:cNvPr id="54" name="TextBox 53"/>
          <p:cNvSpPr txBox="1"/>
          <p:nvPr/>
        </p:nvSpPr>
        <p:spPr>
          <a:xfrm>
            <a:off x="6180512" y="4111677"/>
            <a:ext cx="2539936" cy="204513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850" b="0" i="0">
                <a:solidFill>
                  <a:srgbClr val="B51F1F"/>
                </a:solidFill>
              </a:rPr>
              <a:t>answer not usable → reframe</a:t>
            </a:r>
          </a:p>
        </p:txBody>
      </p:sp>
      <p:cxnSp>
        <p:nvCxnSpPr>
          <p:cNvPr id="55" name="Connector 54"/>
          <p:cNvCxnSpPr>
            <a:cxnSpLocks/>
          </p:cNvCxnSpPr>
          <p:nvPr/>
        </p:nvCxnSpPr>
        <p:spPr>
          <a:xfrm flipH="1" flipV="1">
            <a:off x="10752396" y="4053244"/>
            <a:ext cx="6485" cy="701189"/>
          </a:xfrm>
          <a:prstGeom prst="line">
            <a:avLst/>
          </a:prstGeom>
          <a:ln w="19050">
            <a:solidFill>
              <a:srgbClr val="1E8449"/>
            </a:solidFill>
          </a:ln>
        </p:spPr>
        <p:style>
          <a:lnRef idx="2">
            <a:srgbClr val="016ABA"/>
          </a:lnRef>
          <a:fillRef idx="0">
            <a:srgbClr val="016ABA"/>
          </a:fillRef>
          <a:effectRef idx="1">
            <a:srgbClr val="016ABA"/>
          </a:effectRef>
          <a:fontRef idx="minor">
            <a:srgbClr val="222222"/>
          </a:fontRef>
        </p:style>
      </p:cxnSp>
      <p:cxnSp>
        <p:nvCxnSpPr>
          <p:cNvPr id="56" name="Connector 55"/>
          <p:cNvCxnSpPr>
            <a:cxnSpLocks/>
          </p:cNvCxnSpPr>
          <p:nvPr/>
        </p:nvCxnSpPr>
        <p:spPr>
          <a:xfrm flipH="1">
            <a:off x="2709265" y="4053244"/>
            <a:ext cx="8043131" cy="0"/>
          </a:xfrm>
          <a:prstGeom prst="line">
            <a:avLst/>
          </a:prstGeom>
          <a:ln w="19050">
            <a:solidFill>
              <a:srgbClr val="1E8449"/>
            </a:solidFill>
          </a:ln>
        </p:spPr>
        <p:style>
          <a:lnRef idx="2">
            <a:srgbClr val="016ABA"/>
          </a:lnRef>
          <a:fillRef idx="0">
            <a:srgbClr val="016ABA"/>
          </a:fillRef>
          <a:effectRef idx="1">
            <a:srgbClr val="016ABA"/>
          </a:effectRef>
          <a:fontRef idx="minor">
            <a:srgbClr val="222222"/>
          </a:fontRef>
        </p:style>
      </p:cxnSp>
      <p:cxnSp>
        <p:nvCxnSpPr>
          <p:cNvPr id="57" name="Connector 56"/>
          <p:cNvCxnSpPr/>
          <p:nvPr/>
        </p:nvCxnSpPr>
        <p:spPr>
          <a:xfrm>
            <a:off x="2709265" y="4053244"/>
            <a:ext cx="0" cy="701189"/>
          </a:xfrm>
          <a:prstGeom prst="line">
            <a:avLst/>
          </a:prstGeom>
          <a:ln w="19050">
            <a:solidFill>
              <a:srgbClr val="1E8449"/>
            </a:solidFill>
            <a:tailEnd type="triangle" w="med" len="med"/>
          </a:ln>
        </p:spPr>
        <p:style>
          <a:lnRef idx="2">
            <a:srgbClr val="016ABA"/>
          </a:lnRef>
          <a:fillRef idx="0">
            <a:srgbClr val="016ABA"/>
          </a:fillRef>
          <a:effectRef idx="1">
            <a:srgbClr val="016ABA"/>
          </a:effectRef>
          <a:fontRef idx="minor">
            <a:srgbClr val="222222"/>
          </a:fontRef>
        </p:style>
      </p:cxnSp>
      <p:sp>
        <p:nvSpPr>
          <p:cNvPr id="58" name="TextBox 57"/>
          <p:cNvSpPr txBox="1"/>
          <p:nvPr/>
        </p:nvSpPr>
        <p:spPr>
          <a:xfrm>
            <a:off x="4656550" y="3892111"/>
            <a:ext cx="2539936" cy="204513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850" b="0" i="0" dirty="0">
                <a:solidFill>
                  <a:srgbClr val="1E8449"/>
                </a:solidFill>
              </a:rPr>
              <a:t>usable / committed / default → next slot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86582" y="5353365"/>
            <a:ext cx="2539936" cy="204513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800" b="0" i="1">
                <a:solidFill>
                  <a:srgbClr val="1F6FB2"/>
                </a:solidFill>
              </a:rPr>
              <a:t>↑ question out via Behaviour-TTS · answer in via Perception-ASR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33866" y="5353365"/>
            <a:ext cx="2539936" cy="204513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800" b="0" i="1">
                <a:solidFill>
                  <a:srgbClr val="B51F1F"/>
                </a:solidFill>
              </a:rPr>
              <a:t>↑ uses Interpretation-LLM</a:t>
            </a:r>
          </a:p>
        </p:txBody>
      </p:sp>
      <p:cxnSp>
        <p:nvCxnSpPr>
          <p:cNvPr id="61" name="Connector 60"/>
          <p:cNvCxnSpPr>
            <a:cxnSpLocks/>
            <a:endCxn id="5" idx="3"/>
          </p:cNvCxnSpPr>
          <p:nvPr/>
        </p:nvCxnSpPr>
        <p:spPr>
          <a:xfrm flipV="1">
            <a:off x="3301917" y="1394571"/>
            <a:ext cx="5841853" cy="4586942"/>
          </a:xfrm>
          <a:prstGeom prst="bentConnector3">
            <a:avLst>
              <a:gd name="adj1" fmla="val 148499"/>
            </a:avLst>
          </a:prstGeom>
          <a:ln w="19050">
            <a:solidFill>
              <a:srgbClr val="1E8449"/>
            </a:solidFill>
            <a:prstDash val="dash"/>
            <a:tailEnd type="triangle"/>
          </a:ln>
        </p:spPr>
        <p:style>
          <a:lnRef idx="2">
            <a:srgbClr val="016ABA"/>
          </a:lnRef>
          <a:fillRef idx="0">
            <a:srgbClr val="016ABA"/>
          </a:fillRef>
          <a:effectRef idx="1">
            <a:srgbClr val="016ABA"/>
          </a:effectRef>
          <a:fontRef idx="minor">
            <a:srgbClr val="222222"/>
          </a:fontRef>
        </p:style>
      </p:cxnSp>
      <p:sp>
        <p:nvSpPr>
          <p:cNvPr id="63" name="TextBox 62"/>
          <p:cNvSpPr txBox="1"/>
          <p:nvPr/>
        </p:nvSpPr>
        <p:spPr>
          <a:xfrm>
            <a:off x="4571885" y="5835432"/>
            <a:ext cx="2539936" cy="204513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850" b="0" i="0" dirty="0">
                <a:solidFill>
                  <a:srgbClr val="1E8449"/>
                </a:solidFill>
              </a:rPr>
              <a:t>Finish → returns the 6-slot evidence to the FSM → Bayesian Reasoning (above)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</a:rPr>
              <a:t>Single route: perception → interpretation → dialogue (LangGraph, looping per turn) → Bayesian reasoning → behaviour → Pepper. One recommendation is reasoned once all 6 preferences are gathered.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16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143000"/>
            <a:ext cx="1589989" cy="1188720"/>
          </a:xfrm>
          <a:prstGeom prst="roundRect">
            <a:avLst>
              <a:gd name="adj" fmla="val 5385"/>
            </a:avLst>
          </a:prstGeom>
          <a:solidFill>
            <a:srgbClr val="F3F5F8"/>
          </a:solidFill>
          <a:ln w="9525">
            <a:solidFill>
              <a:srgbClr val="D8DC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51611" y="1261872"/>
            <a:ext cx="292608" cy="292608"/>
          </a:xfrm>
          <a:prstGeom prst="ellipse">
            <a:avLst/>
          </a:prstGeom>
          <a:solidFill>
            <a:srgbClr val="016AB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51611" y="1261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76072" y="1600200"/>
            <a:ext cx="144368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30" dirty="0">
                <a:solidFill>
                  <a:srgbClr val="0A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IDLE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1856232"/>
            <a:ext cx="140710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Watches for a face held stable across a 5-frame window.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422093" y="1143000"/>
            <a:ext cx="1589989" cy="1188720"/>
          </a:xfrm>
          <a:prstGeom prst="roundRect">
            <a:avLst>
              <a:gd name="adj" fmla="val 5385"/>
            </a:avLst>
          </a:prstGeom>
          <a:solidFill>
            <a:srgbClr val="F3F5F8"/>
          </a:solidFill>
          <a:ln w="9525">
            <a:solidFill>
              <a:srgbClr val="D8DC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070784" y="1261872"/>
            <a:ext cx="292608" cy="292608"/>
          </a:xfrm>
          <a:prstGeom prst="ellipse">
            <a:avLst/>
          </a:prstGeom>
          <a:solidFill>
            <a:srgbClr val="016AB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070784" y="1261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95245" y="1600200"/>
            <a:ext cx="144368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30" dirty="0">
                <a:solidFill>
                  <a:srgbClr val="0A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GREETING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513533" y="1856232"/>
            <a:ext cx="140710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Identifies or enrolls the visitor, then waves and introduces itself.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341266" y="1143000"/>
            <a:ext cx="1589989" cy="1188720"/>
          </a:xfrm>
          <a:prstGeom prst="roundRect">
            <a:avLst>
              <a:gd name="adj" fmla="val 5385"/>
            </a:avLst>
          </a:prstGeom>
          <a:solidFill>
            <a:srgbClr val="F3F5F8"/>
          </a:solidFill>
          <a:ln w="9525">
            <a:solidFill>
              <a:srgbClr val="D8DC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989957" y="1261872"/>
            <a:ext cx="292608" cy="292608"/>
          </a:xfrm>
          <a:prstGeom prst="ellipse">
            <a:avLst/>
          </a:prstGeom>
          <a:solidFill>
            <a:srgbClr val="016AB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89957" y="1261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14418" y="1600200"/>
            <a:ext cx="144368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30" dirty="0">
                <a:solidFill>
                  <a:srgbClr val="0A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432706" y="1856232"/>
            <a:ext cx="140710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fills 6 evidence slots: Budget, Group, Activity, Setting, Time, Interest.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260440" y="1143000"/>
            <a:ext cx="1589989" cy="1188720"/>
          </a:xfrm>
          <a:prstGeom prst="roundRect">
            <a:avLst>
              <a:gd name="adj" fmla="val 5385"/>
            </a:avLst>
          </a:prstGeom>
          <a:solidFill>
            <a:srgbClr val="F3F5F8"/>
          </a:solidFill>
          <a:ln w="9525">
            <a:solidFill>
              <a:srgbClr val="D8DC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909130" y="1261872"/>
            <a:ext cx="292608" cy="292608"/>
          </a:xfrm>
          <a:prstGeom prst="ellipse">
            <a:avLst/>
          </a:prstGeom>
          <a:solidFill>
            <a:srgbClr val="016AB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909130" y="1261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33592" y="1600200"/>
            <a:ext cx="144368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30" dirty="0">
                <a:solidFill>
                  <a:srgbClr val="0A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51880" y="1856232"/>
            <a:ext cx="140710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Bayesian network turns evidence into 3 latent factors, then ranks 8 event types.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8179613" y="1143000"/>
            <a:ext cx="1589989" cy="1188720"/>
          </a:xfrm>
          <a:prstGeom prst="roundRect">
            <a:avLst>
              <a:gd name="adj" fmla="val 5385"/>
            </a:avLst>
          </a:prstGeom>
          <a:solidFill>
            <a:srgbClr val="F3F5F8"/>
          </a:solidFill>
          <a:ln w="9525">
            <a:solidFill>
              <a:srgbClr val="D8DC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828303" y="1261872"/>
            <a:ext cx="292608" cy="292608"/>
          </a:xfrm>
          <a:prstGeom prst="ellipse">
            <a:avLst/>
          </a:prstGeom>
          <a:solidFill>
            <a:srgbClr val="016AB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828303" y="1261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52765" y="1600200"/>
            <a:ext cx="144368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30" dirty="0">
                <a:solidFill>
                  <a:srgbClr val="0A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271053" y="1856232"/>
            <a:ext cx="140710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the top event on the tablet and explains why it fits.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0098786" y="1143000"/>
            <a:ext cx="1589989" cy="1188720"/>
          </a:xfrm>
          <a:prstGeom prst="roundRect">
            <a:avLst>
              <a:gd name="adj" fmla="val 5385"/>
            </a:avLst>
          </a:prstGeom>
          <a:solidFill>
            <a:srgbClr val="F3F5F8"/>
          </a:solidFill>
          <a:ln w="9525">
            <a:solidFill>
              <a:srgbClr val="D8DC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0747477" y="1261872"/>
            <a:ext cx="292608" cy="292608"/>
          </a:xfrm>
          <a:prstGeom prst="ellipse">
            <a:avLst/>
          </a:prstGeom>
          <a:solidFill>
            <a:srgbClr val="016AB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0747477" y="1261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171938" y="1600200"/>
            <a:ext cx="144368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30" dirty="0">
                <a:solidFill>
                  <a:srgbClr val="0A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FAREWELL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0190226" y="1856232"/>
            <a:ext cx="140710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Says goodbye, then resets to Idle once the visitor leaves.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02920" y="2551176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16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IT (src/main.py)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02920" y="2907791"/>
            <a:ext cx="4069080" cy="658368"/>
          </a:xfrm>
          <a:prstGeom prst="roundRect">
            <a:avLst>
              <a:gd name="adj" fmla="val 8333"/>
            </a:avLst>
          </a:prstGeom>
          <a:solidFill>
            <a:srgbClr val="F3F5F8"/>
          </a:solidFill>
          <a:ln w="9525">
            <a:solidFill>
              <a:srgbClr val="D8DC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49224" y="2980943"/>
            <a:ext cx="3776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--source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49224" y="3182111"/>
            <a:ext cx="3776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016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webcam · pepper · hybrid</a:t>
            </a:r>
            <a:endParaRPr lang="en-US" sz="980" dirty="0"/>
          </a:p>
        </p:txBody>
      </p:sp>
      <p:sp>
        <p:nvSpPr>
          <p:cNvPr id="42" name="Text 40"/>
          <p:cNvSpPr/>
          <p:nvPr/>
        </p:nvSpPr>
        <p:spPr>
          <a:xfrm>
            <a:off x="649224" y="3364991"/>
            <a:ext cx="3776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8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faces come from / whether Pepper is spawned in qiBullet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502920" y="3733324"/>
            <a:ext cx="4069080" cy="658368"/>
          </a:xfrm>
          <a:prstGeom prst="roundRect">
            <a:avLst>
              <a:gd name="adj" fmla="val 8333"/>
            </a:avLst>
          </a:prstGeom>
          <a:solidFill>
            <a:srgbClr val="F3F5F8"/>
          </a:solidFill>
          <a:ln w="9525">
            <a:solidFill>
              <a:srgbClr val="D8DC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49224" y="3806476"/>
            <a:ext cx="3776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--answer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649224" y="4007644"/>
            <a:ext cx="3776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016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· speech</a:t>
            </a:r>
            <a:endParaRPr lang="en-US" sz="980" dirty="0"/>
          </a:p>
        </p:txBody>
      </p:sp>
      <p:sp>
        <p:nvSpPr>
          <p:cNvPr id="46" name="Text 44"/>
          <p:cNvSpPr/>
          <p:nvPr/>
        </p:nvSpPr>
        <p:spPr>
          <a:xfrm>
            <a:off x="649224" y="4190524"/>
            <a:ext cx="3776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8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 replies vs. spoken, transcribed on-device by local Whisper</a:t>
            </a:r>
            <a:endParaRPr lang="en-US" sz="880" dirty="0"/>
          </a:p>
        </p:txBody>
      </p:sp>
      <p:sp>
        <p:nvSpPr>
          <p:cNvPr id="47" name="Text 45"/>
          <p:cNvSpPr/>
          <p:nvPr/>
        </p:nvSpPr>
        <p:spPr>
          <a:xfrm>
            <a:off x="529523" y="4714305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0A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Optional: pre-enroll a face offline</a:t>
            </a:r>
            <a:endParaRPr lang="en-US" sz="980" dirty="0"/>
          </a:p>
        </p:txBody>
      </p:sp>
      <p:sp>
        <p:nvSpPr>
          <p:cNvPr id="48" name="Shape 46"/>
          <p:cNvSpPr/>
          <p:nvPr/>
        </p:nvSpPr>
        <p:spPr>
          <a:xfrm>
            <a:off x="529523" y="4915473"/>
            <a:ext cx="4069080" cy="310896"/>
          </a:xfrm>
          <a:prstGeom prst="roundRect">
            <a:avLst>
              <a:gd name="adj" fmla="val 14706"/>
            </a:avLst>
          </a:prstGeom>
          <a:solidFill>
            <a:srgbClr val="F3F5F8"/>
          </a:solidFill>
          <a:ln w="9525">
            <a:solidFill>
              <a:srgbClr val="D8DC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57539" y="4915473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 run python src/enroll_face.py --name Alex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29523" y="5299521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0A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pipeline used in the live demo:</a:t>
            </a:r>
            <a:endParaRPr lang="en-US" sz="980" dirty="0"/>
          </a:p>
        </p:txBody>
      </p:sp>
      <p:sp>
        <p:nvSpPr>
          <p:cNvPr id="51" name="Shape 49"/>
          <p:cNvSpPr/>
          <p:nvPr/>
        </p:nvSpPr>
        <p:spPr>
          <a:xfrm>
            <a:off x="529523" y="5500689"/>
            <a:ext cx="4069080" cy="384048"/>
          </a:xfrm>
          <a:prstGeom prst="roundRect">
            <a:avLst>
              <a:gd name="adj" fmla="val 11905"/>
            </a:avLst>
          </a:prstGeom>
          <a:solidFill>
            <a:srgbClr val="0A2A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57539" y="5500689"/>
            <a:ext cx="3813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 run python src/main.py --source hybrid --dialogue real --answer speech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919472" y="2551176"/>
            <a:ext cx="67693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6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EXCHANGE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919472" y="2825495"/>
            <a:ext cx="6769303" cy="3058807"/>
          </a:xfrm>
          <a:prstGeom prst="roundRect">
            <a:avLst>
              <a:gd name="adj" fmla="val 2333"/>
            </a:avLst>
          </a:prstGeom>
          <a:solidFill>
            <a:srgbClr val="0A2A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5120640" y="3026664"/>
            <a:ext cx="6366967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6FB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JARVIS: 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don't think we've met yet. What's your name?</a:t>
            </a:r>
            <a:endParaRPr lang="en-US" sz="1100" dirty="0"/>
          </a:p>
          <a:p>
            <a:pPr marL="0" indent="0">
              <a:lnSpc>
                <a:spcPct val="14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E0A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You: </a:t>
            </a:r>
            <a:r>
              <a:rPr lang="en-US" sz="11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</a:t>
            </a:r>
            <a:endParaRPr lang="en-US" sz="1100" dirty="0"/>
          </a:p>
          <a:p>
            <a:pPr marL="0" indent="0">
              <a:lnSpc>
                <a:spcPct val="14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6FB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JARVIS: 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Nice to meet you, Alex. Mind if I remember your face?</a:t>
            </a:r>
            <a:endParaRPr lang="en-US" sz="1100" dirty="0"/>
          </a:p>
          <a:p>
            <a:pPr marL="0" indent="0">
              <a:lnSpc>
                <a:spcPct val="14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E0A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You: </a:t>
            </a:r>
            <a:r>
              <a:rPr lang="en-US" sz="11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r>
              <a:rPr lang="en-US" sz="1100" dirty="0">
                <a:solidFill>
                  <a:srgbClr val="9AA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(captures ~15 samples, retrains)</a:t>
            </a:r>
            <a:endParaRPr lang="en-US" sz="1100" dirty="0"/>
          </a:p>
          <a:p>
            <a:pPr marL="0" indent="0">
              <a:lnSpc>
                <a:spcPct val="14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6FB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JARVIS: 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Great, I'll remember you next time, Alex!  </a:t>
            </a:r>
            <a:r>
              <a:rPr lang="en-US" sz="1100" dirty="0">
                <a:solidFill>
                  <a:srgbClr val="9AA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(wave · nod)</a:t>
            </a:r>
          </a:p>
          <a:p>
            <a:pPr marL="0" indent="0">
              <a:lnSpc>
                <a:spcPct val="14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9AA5B0"/>
                </a:solidFill>
                <a:latin typeface="Arial" pitchFamily="34" charset="0"/>
                <a:cs typeface="Arial" pitchFamily="34" charset="-120"/>
              </a:rPr>
              <a:t>…….</a:t>
            </a:r>
            <a:endParaRPr lang="en-US" sz="1100" dirty="0"/>
          </a:p>
          <a:p>
            <a:pPr marL="0" indent="0">
              <a:lnSpc>
                <a:spcPct val="14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6FB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JARVIS: 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what you told me:</a:t>
            </a:r>
            <a:endParaRPr lang="en-US" sz="1100" dirty="0"/>
          </a:p>
          <a:p>
            <a:pPr marL="0" indent="0">
              <a:lnSpc>
                <a:spcPct val="14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C7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Museum (34%)   2. Workshop (19%)   3. Food (15%)</a:t>
            </a:r>
            <a:endParaRPr lang="en-US" sz="1100" dirty="0"/>
          </a:p>
          <a:p>
            <a:pPr marL="0" indent="0">
              <a:lnSpc>
                <a:spcPct val="140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6FB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JARVIS: 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suggest Museum, since a cultural, low-key venue fits what you told me.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919472" y="5957178"/>
            <a:ext cx="67693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b="1" dirty="0">
                <a:solidFill>
                  <a:srgbClr val="0A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Alex declines, or is already known: </a:t>
            </a:r>
            <a:r>
              <a:rPr lang="en-US" sz="93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greeting adapts immediately, with no enrollment step.</a:t>
            </a:r>
            <a:endParaRPr lang="en-US" sz="930" dirty="0"/>
          </a:p>
        </p:txBody>
      </p:sp>
      <p:sp>
        <p:nvSpPr>
          <p:cNvPr id="57" name="Text 55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Event Recommendation Agent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1095725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5D6A5C47-16C0-B311-D113-AE9D4B6404DF}"/>
              </a:ext>
            </a:extLst>
          </p:cNvPr>
          <p:cNvCxnSpPr>
            <a:stCxn id="3" idx="3"/>
            <a:endCxn id="9" idx="1"/>
          </p:cNvCxnSpPr>
          <p:nvPr/>
        </p:nvCxnSpPr>
        <p:spPr>
          <a:xfrm>
            <a:off x="2092909" y="1737360"/>
            <a:ext cx="3291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1B4AAA9D-0FB0-F6DD-9591-0661030C39AD}"/>
              </a:ext>
            </a:extLst>
          </p:cNvPr>
          <p:cNvCxnSpPr>
            <a:stCxn id="9" idx="3"/>
            <a:endCxn id="15" idx="1"/>
          </p:cNvCxnSpPr>
          <p:nvPr/>
        </p:nvCxnSpPr>
        <p:spPr>
          <a:xfrm>
            <a:off x="4012082" y="1737360"/>
            <a:ext cx="3291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3CBDFB89-F2F1-9602-BFC1-F162FE783A42}"/>
              </a:ext>
            </a:extLst>
          </p:cNvPr>
          <p:cNvCxnSpPr>
            <a:stCxn id="15" idx="3"/>
            <a:endCxn id="21" idx="1"/>
          </p:cNvCxnSpPr>
          <p:nvPr/>
        </p:nvCxnSpPr>
        <p:spPr>
          <a:xfrm>
            <a:off x="5931255" y="1737360"/>
            <a:ext cx="3291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6C5B65BB-D6E1-AC88-24B3-277740D06AB2}"/>
              </a:ext>
            </a:extLst>
          </p:cNvPr>
          <p:cNvCxnSpPr>
            <a:stCxn id="21" idx="3"/>
            <a:endCxn id="27" idx="1"/>
          </p:cNvCxnSpPr>
          <p:nvPr/>
        </p:nvCxnSpPr>
        <p:spPr>
          <a:xfrm>
            <a:off x="7850429" y="1737360"/>
            <a:ext cx="3291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E7A926CA-6657-2C55-30C6-DF1A9AF9F68F}"/>
              </a:ext>
            </a:extLst>
          </p:cNvPr>
          <p:cNvCxnSpPr>
            <a:stCxn id="27" idx="3"/>
            <a:endCxn id="33" idx="1"/>
          </p:cNvCxnSpPr>
          <p:nvPr/>
        </p:nvCxnSpPr>
        <p:spPr>
          <a:xfrm>
            <a:off x="9769602" y="1737360"/>
            <a:ext cx="3291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16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CHALLENGES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3545738" cy="1965960"/>
          </a:xfrm>
          <a:prstGeom prst="roundRect">
            <a:avLst>
              <a:gd name="adj" fmla="val 3256"/>
            </a:avLst>
          </a:prstGeom>
          <a:solidFill>
            <a:srgbClr val="F3F5F8"/>
          </a:solidFill>
          <a:ln w="9525">
            <a:solidFill>
              <a:srgbClr val="D8DC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9224" y="1517904"/>
            <a:ext cx="402336" cy="402336"/>
          </a:xfrm>
          <a:prstGeom prst="ellipse">
            <a:avLst/>
          </a:prstGeom>
          <a:solidFill>
            <a:srgbClr val="016AB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9224" y="15179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79576" y="1490472"/>
            <a:ext cx="27410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incompatible Python versions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9224" y="1975104"/>
            <a:ext cx="325313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qiBullet/NAOqi needs Python 3.8; LangGraph needs ≥ 3.9</a:t>
            </a:r>
            <a:endParaRPr lang="en-US" sz="950" dirty="0"/>
          </a:p>
          <a:p>
            <a:pPr marL="152400" indent="-1524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Bridged by running the dialogue side as its own OS process, over stdin/stdout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22978" y="1371600"/>
            <a:ext cx="3545738" cy="1965960"/>
          </a:xfrm>
          <a:prstGeom prst="roundRect">
            <a:avLst>
              <a:gd name="adj" fmla="val 3256"/>
            </a:avLst>
          </a:prstGeom>
          <a:solidFill>
            <a:srgbClr val="F3F5F8"/>
          </a:solidFill>
          <a:ln w="9525">
            <a:solidFill>
              <a:srgbClr val="D8DC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469282" y="1517904"/>
            <a:ext cx="402336" cy="402336"/>
          </a:xfrm>
          <a:prstGeom prst="ellipse">
            <a:avLst/>
          </a:prstGeom>
          <a:solidFill>
            <a:srgbClr val="016AB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469282" y="15179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99634" y="1490472"/>
            <a:ext cx="27410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models tested, cloud model used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469282" y="1975104"/>
            <a:ext cx="325313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Tried local models sized for 6 GB VRAM: Llama 3.2 3B, Phi-3.5-mini, Qwen2.5-7B (4-bit)</a:t>
            </a:r>
            <a:endParaRPr lang="en-US" sz="950" dirty="0"/>
          </a:p>
          <a:p>
            <a:pPr marL="152400" indent="-1524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Groq's cloud Llama 3.3 was faster and sharper; only speech-to-text stayed local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143037" y="1371600"/>
            <a:ext cx="3545738" cy="1965960"/>
          </a:xfrm>
          <a:prstGeom prst="roundRect">
            <a:avLst>
              <a:gd name="adj" fmla="val 3256"/>
            </a:avLst>
          </a:prstGeom>
          <a:solidFill>
            <a:srgbClr val="F3F5F8"/>
          </a:solidFill>
          <a:ln w="9525">
            <a:solidFill>
              <a:srgbClr val="D8DC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289341" y="1517904"/>
            <a:ext cx="402336" cy="402336"/>
          </a:xfrm>
          <a:prstGeom prst="ellipse">
            <a:avLst/>
          </a:prstGeom>
          <a:solidFill>
            <a:srgbClr val="016AB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89341" y="15179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819693" y="1490472"/>
            <a:ext cx="27410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Gesture timing matched to speech length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89341" y="1975104"/>
            <a:ext cx="325313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Gestures run on their own thread, timed to speech</a:t>
            </a:r>
            <a:endParaRPr lang="en-US" sz="950" dirty="0"/>
          </a:p>
          <a:p>
            <a:pPr marL="152400" indent="-1524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~3.2 s open_arms swing didn't fit variable-length LLM questions</a:t>
            </a:r>
            <a:endParaRPr lang="en-US" sz="950" dirty="0"/>
          </a:p>
          <a:p>
            <a:pPr marL="152400" indent="-1524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Shortened to a ~1.25 s “talk” beat for conversation turns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3611880"/>
            <a:ext cx="3545738" cy="1965960"/>
          </a:xfrm>
          <a:prstGeom prst="roundRect">
            <a:avLst>
              <a:gd name="adj" fmla="val 3256"/>
            </a:avLst>
          </a:prstGeom>
          <a:solidFill>
            <a:srgbClr val="F3F5F8"/>
          </a:solidFill>
          <a:ln w="9525">
            <a:solidFill>
              <a:srgbClr val="D8DC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9224" y="3758184"/>
            <a:ext cx="402336" cy="402336"/>
          </a:xfrm>
          <a:prstGeom prst="ellipse">
            <a:avLst/>
          </a:prstGeom>
          <a:solidFill>
            <a:srgbClr val="016AB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9224" y="37581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79576" y="3730752"/>
            <a:ext cx="27410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recognition can misidentify people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9224" y="4215384"/>
            <a:ext cx="325313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unenrolled friend was usually flagged as unrecognized</a:t>
            </a:r>
            <a:endParaRPr lang="en-US" sz="950" dirty="0"/>
          </a:p>
          <a:p>
            <a:pPr marL="152400" indent="-1524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was occasionally greeted as “Sunesh” anyway</a:t>
            </a:r>
            <a:endParaRPr lang="en-US" sz="950" dirty="0"/>
          </a:p>
          <a:p>
            <a:pPr marL="152400" indent="-1524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 LBPH margin (~0 vs. ~180) helps, but doesn't guarantee zero false positives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322978" y="3611880"/>
            <a:ext cx="3545738" cy="1965960"/>
          </a:xfrm>
          <a:prstGeom prst="roundRect">
            <a:avLst>
              <a:gd name="adj" fmla="val 3256"/>
            </a:avLst>
          </a:prstGeom>
          <a:solidFill>
            <a:srgbClr val="F3F5F8"/>
          </a:solidFill>
          <a:ln w="9525">
            <a:solidFill>
              <a:srgbClr val="D8DC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469282" y="3758184"/>
            <a:ext cx="402336" cy="402336"/>
          </a:xfrm>
          <a:prstGeom prst="ellipse">
            <a:avLst/>
          </a:prstGeom>
          <a:solidFill>
            <a:srgbClr val="016AB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469282" y="37581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999634" y="3730752"/>
            <a:ext cx="27410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Fitting speech recognition on a 6 GB GPU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469282" y="4215384"/>
            <a:ext cx="325313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large-v3 in int8_float16 needs ~2.2 GB, vs. 3.4 GB at float16</a:t>
            </a:r>
            <a:endParaRPr lang="en-US" sz="950" dirty="0"/>
          </a:p>
          <a:p>
            <a:pPr marL="152400" indent="-1524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Fits comfortably on a 6 GB card</a:t>
            </a:r>
            <a:endParaRPr lang="en-US" sz="950" dirty="0"/>
          </a:p>
          <a:p>
            <a:pPr marL="152400" indent="-1524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Took manual setup to get GPU drivers working on Windows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143037" y="3611880"/>
            <a:ext cx="3545738" cy="1965960"/>
          </a:xfrm>
          <a:prstGeom prst="roundRect">
            <a:avLst>
              <a:gd name="adj" fmla="val 3256"/>
            </a:avLst>
          </a:prstGeom>
          <a:solidFill>
            <a:srgbClr val="F3F5F8"/>
          </a:solidFill>
          <a:ln w="9525">
            <a:solidFill>
              <a:srgbClr val="D8DC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289341" y="3758184"/>
            <a:ext cx="402336" cy="402336"/>
          </a:xfrm>
          <a:prstGeom prst="ellipse">
            <a:avLst/>
          </a:prstGeom>
          <a:solidFill>
            <a:srgbClr val="016AB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289341" y="37581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819693" y="3730752"/>
            <a:ext cx="27410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Keeping the event image aligned with the tablet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289341" y="4215384"/>
            <a:ext cx="325313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qiBullet exposes the Tablet_frame link, but no tablet API</a:t>
            </a:r>
            <a:endParaRPr lang="en-US" sz="950" dirty="0"/>
          </a:p>
          <a:p>
            <a:pPr marL="152400" indent="-1524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thin textured panel re-positions from live forward-kinematics every 30 ms</a:t>
            </a:r>
            <a:endParaRPr lang="en-US" sz="950" dirty="0"/>
          </a:p>
          <a:p>
            <a:pPr marL="152400" indent="-1524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Offset to sit in front of the built-in screen, not behind it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Event Recommendation Agent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095725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16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ETHICAL CONCERNS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3545738" cy="1965960"/>
          </a:xfrm>
          <a:prstGeom prst="roundRect">
            <a:avLst>
              <a:gd name="adj" fmla="val 3256"/>
            </a:avLst>
          </a:prstGeom>
          <a:solidFill>
            <a:srgbClr val="F3F5F8"/>
          </a:solidFill>
          <a:ln w="9525">
            <a:solidFill>
              <a:srgbClr val="D8DC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9224" y="1517904"/>
            <a:ext cx="402336" cy="402336"/>
          </a:xfrm>
          <a:prstGeom prst="ellipse">
            <a:avLst/>
          </a:prstGeom>
          <a:solidFill>
            <a:srgbClr val="C96A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9224" y="15179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79576" y="1490472"/>
            <a:ext cx="27410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Biometric data, only with consent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9224" y="1975104"/>
            <a:ext cx="325313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JARVIS asks first: a name, then “would it be okay if I remember your face?”</a:t>
            </a:r>
            <a:endParaRPr lang="en-US" sz="950" dirty="0"/>
          </a:p>
          <a:p>
            <a:pPr marL="152400" indent="-1524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Declining is honoured; nothing is captured</a:t>
            </a:r>
            <a:endParaRPr lang="en-US" sz="950" dirty="0"/>
          </a:p>
          <a:p>
            <a:pPr marL="152400" indent="-1524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Accepted photos stay local under known_faces/, git-ignored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22978" y="1371600"/>
            <a:ext cx="3545738" cy="1965960"/>
          </a:xfrm>
          <a:prstGeom prst="roundRect">
            <a:avLst>
              <a:gd name="adj" fmla="val 3256"/>
            </a:avLst>
          </a:prstGeom>
          <a:solidFill>
            <a:srgbClr val="F3F5F8"/>
          </a:solidFill>
          <a:ln w="9525">
            <a:solidFill>
              <a:srgbClr val="D8DC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469282" y="1517904"/>
            <a:ext cx="402336" cy="402336"/>
          </a:xfrm>
          <a:prstGeom prst="ellipse">
            <a:avLst/>
          </a:prstGeom>
          <a:solidFill>
            <a:srgbClr val="C96A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469282" y="15179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99634" y="1490472"/>
            <a:ext cx="27410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delete option for enrolled faces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469282" y="1975104"/>
            <a:ext cx="325313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is opt-in, but there's no way to ask JARVIS to delete photos afterward</a:t>
            </a:r>
            <a:endParaRPr lang="en-US" sz="950" dirty="0"/>
          </a:p>
          <a:p>
            <a:pPr marL="152400" indent="-1524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Removing yourself today means manually deleting a folder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143037" y="1371600"/>
            <a:ext cx="3545738" cy="1965960"/>
          </a:xfrm>
          <a:prstGeom prst="roundRect">
            <a:avLst>
              <a:gd name="adj" fmla="val 3256"/>
            </a:avLst>
          </a:prstGeom>
          <a:solidFill>
            <a:srgbClr val="F3F5F8"/>
          </a:solidFill>
          <a:ln w="9525">
            <a:solidFill>
              <a:srgbClr val="D8DC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289341" y="1517904"/>
            <a:ext cx="402336" cy="402336"/>
          </a:xfrm>
          <a:prstGeom prst="ellipse">
            <a:avLst/>
          </a:prstGeom>
          <a:solidFill>
            <a:srgbClr val="C96A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89341" y="15179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819693" y="1490472"/>
            <a:ext cx="27410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Always-on camera, before consent applies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89341" y="1975104"/>
            <a:ext cx="325313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Idle continuously watches for a face before any interaction starts</a:t>
            </a:r>
            <a:endParaRPr lang="en-US" sz="950" dirty="0"/>
          </a:p>
          <a:p>
            <a:pPr marL="152400" indent="-1524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 only ever covers what happens after that point, not the watching itself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3611880"/>
            <a:ext cx="3545738" cy="1965960"/>
          </a:xfrm>
          <a:prstGeom prst="roundRect">
            <a:avLst>
              <a:gd name="adj" fmla="val 3256"/>
            </a:avLst>
          </a:prstGeom>
          <a:solidFill>
            <a:srgbClr val="F3F5F8"/>
          </a:solidFill>
          <a:ln w="9525">
            <a:solidFill>
              <a:srgbClr val="D8DC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9224" y="3758184"/>
            <a:ext cx="402336" cy="402336"/>
          </a:xfrm>
          <a:prstGeom prst="ellipse">
            <a:avLst/>
          </a:prstGeom>
          <a:solidFill>
            <a:srgbClr val="C96A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9224" y="37581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79576" y="3730752"/>
            <a:ext cx="27410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 still leaves the device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9224" y="4215384"/>
            <a:ext cx="325313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Parsed preference text is still sent to Groq's cloud LLM</a:t>
            </a:r>
            <a:endParaRPr lang="en-US" sz="950" dirty="0"/>
          </a:p>
          <a:p>
            <a:pPr marL="152400" indent="-1524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voice audio (local Whisper) and face photos (local LBPH) stay on-device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322978" y="3611880"/>
            <a:ext cx="3545738" cy="1965960"/>
          </a:xfrm>
          <a:prstGeom prst="roundRect">
            <a:avLst>
              <a:gd name="adj" fmla="val 3256"/>
            </a:avLst>
          </a:prstGeom>
          <a:solidFill>
            <a:srgbClr val="F3F5F8"/>
          </a:solidFill>
          <a:ln w="9525">
            <a:solidFill>
              <a:srgbClr val="D8DC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469282" y="3758184"/>
            <a:ext cx="402336" cy="402336"/>
          </a:xfrm>
          <a:prstGeom prst="ellipse">
            <a:avLst/>
          </a:prstGeom>
          <a:solidFill>
            <a:srgbClr val="C96A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469282" y="37581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999634" y="3730752"/>
            <a:ext cx="27410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Personalization raises the trust stakes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469282" y="4215384"/>
            <a:ext cx="325313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Being remembered by name and face makes JARVIS feel less like a generic greeter</a:t>
            </a:r>
            <a:endParaRPr lang="en-US" sz="950" dirty="0"/>
          </a:p>
          <a:p>
            <a:pPr marL="152400" indent="-1524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warmth makes it easy to forget its picks are just ranked guesses, not judgments from someone who knows you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143037" y="3611880"/>
            <a:ext cx="3545738" cy="1965960"/>
          </a:xfrm>
          <a:prstGeom prst="roundRect">
            <a:avLst>
              <a:gd name="adj" fmla="val 3256"/>
            </a:avLst>
          </a:prstGeom>
          <a:solidFill>
            <a:srgbClr val="F3F5F8"/>
          </a:solidFill>
          <a:ln w="9525">
            <a:solidFill>
              <a:srgbClr val="D8DC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289341" y="3758184"/>
            <a:ext cx="402336" cy="402336"/>
          </a:xfrm>
          <a:prstGeom prst="ellipse">
            <a:avLst/>
          </a:prstGeom>
          <a:solidFill>
            <a:srgbClr val="C96A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289341" y="37581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819693" y="3730752"/>
            <a:ext cx="27410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abuse filter is a simple word list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289341" y="4215384"/>
            <a:ext cx="325313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a short list of flagged words: cheap and easy to explain</a:t>
            </a:r>
            <a:endParaRPr lang="en-US" sz="950" dirty="0"/>
          </a:p>
          <a:p>
            <a:pPr marL="152400" indent="-1524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Won't catch hostility phrased differently, a conscious trade-off for simplicity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Event Recommendation Agent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095725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build/hbr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4048"/>
            <a:ext cx="2136267" cy="384048"/>
          </a:xfrm>
          <a:prstGeom prst="rect">
            <a:avLst/>
          </a:prstGeom>
        </p:spPr>
      </p:pic>
      <p:pic>
        <p:nvPicPr>
          <p:cNvPr id="3" name="Image 1" descr="/tmp/build/iaas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8890" y="365760"/>
            <a:ext cx="1369886" cy="457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2920" y="265176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16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1"/>
          <p:cNvSpPr/>
          <p:nvPr/>
        </p:nvSpPr>
        <p:spPr>
          <a:xfrm>
            <a:off x="502920" y="3520440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Event Recommendation Agent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521208" y="4023360"/>
            <a:ext cx="3017520" cy="45720"/>
          </a:xfrm>
          <a:prstGeom prst="rect">
            <a:avLst/>
          </a:prstGeom>
          <a:solidFill>
            <a:srgbClr val="016AB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502920" y="425196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Sunesh Praveen Raja Sundarasami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502920" y="45720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welcome.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1456</Words>
  <Application>Microsoft Office PowerPoint</Application>
  <PresentationFormat>Widescreen</PresentationFormat>
  <Paragraphs>217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Sunesh Praveen Raja Sundarasami</cp:lastModifiedBy>
  <cp:revision>6</cp:revision>
  <dcterms:created xsi:type="dcterms:W3CDTF">2026-07-15T20:30:45Z</dcterms:created>
  <dcterms:modified xsi:type="dcterms:W3CDTF">2026-07-15T21:22:50Z</dcterms:modified>
</cp:coreProperties>
</file>