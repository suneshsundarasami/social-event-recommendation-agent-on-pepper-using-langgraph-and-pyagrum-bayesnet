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5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0" r:id="rId11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  <Relationship Id="rId11" Type="http://schemas.openxmlformats.org/officeDocument/2006/relationships/slide" Target="slides/slide5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932688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agent must do, and how it must behave while doing it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5455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E6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201168" cy="201168"/>
          </a:xfrm>
          <a:prstGeom prst="ellipse">
            <a:avLst/>
          </a:prstGeom>
          <a:solidFill>
            <a:srgbClr val="2E6E9E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856232"/>
            <a:ext cx="516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the user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9808" y="2112264"/>
            <a:ext cx="516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the interaction from a stable face detection — no button, no rigid start.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670048"/>
            <a:ext cx="201168" cy="201168"/>
          </a:xfrm>
          <a:prstGeom prst="ellipse">
            <a:avLst/>
          </a:prstGeom>
          <a:solidFill>
            <a:srgbClr val="2E6E9E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606040"/>
            <a:ext cx="516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Converse naturally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49808" y="2862072"/>
            <a:ext cx="516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Elicit six preferences (Budget, Group size, Activity level, Setting, Time of day, Interest) through open questions, not a form.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19856"/>
            <a:ext cx="201168" cy="201168"/>
          </a:xfrm>
          <a:prstGeom prst="ellipse">
            <a:avLst/>
          </a:prstGeom>
          <a:solidFill>
            <a:srgbClr val="2E6E9E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3355848"/>
            <a:ext cx="516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transparently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49808" y="3611880"/>
            <a:ext cx="516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the 8 candidate events from the collected evidence — an inspectable decision, not a black-box score.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4169664"/>
            <a:ext cx="201168" cy="201168"/>
          </a:xfrm>
          <a:prstGeom prst="ellipse">
            <a:avLst/>
          </a:prstGeom>
          <a:solidFill>
            <a:srgbClr val="2E6E9E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4105656"/>
            <a:ext cx="516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 &amp; explain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49808" y="4361688"/>
            <a:ext cx="516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the top event(s), show the matching image on the tablet, and state why it fits.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4919472"/>
            <a:ext cx="201168" cy="201168"/>
          </a:xfrm>
          <a:prstGeom prst="ellipse">
            <a:avLst/>
          </a:prstGeom>
          <a:solidFill>
            <a:srgbClr val="2E6E9E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4855464"/>
            <a:ext cx="516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 gracefully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49808" y="5111496"/>
            <a:ext cx="516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from partial evidence, and reset cleanly to Idle if the person leaves mid-conversation.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278728" y="1508760"/>
            <a:ext cx="5455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D65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NON-FUNCTIONAL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78728" y="1920240"/>
            <a:ext cx="201168" cy="201168"/>
          </a:xfrm>
          <a:prstGeom prst="ellipse">
            <a:avLst/>
          </a:prstGeom>
          <a:solidFill>
            <a:srgbClr val="D65D42"/>
          </a:solidFill>
          <a:ln/>
        </p:spPr>
      </p:sp>
      <p:sp>
        <p:nvSpPr>
          <p:cNvPr id="22" name="Text 20"/>
          <p:cNvSpPr/>
          <p:nvPr/>
        </p:nvSpPr>
        <p:spPr>
          <a:xfrm>
            <a:off x="6571336" y="1856232"/>
            <a:ext cx="516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by design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571336" y="2112264"/>
            <a:ext cx="516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recommendation traces back to observed evidence and interpretable latent factors.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78728" y="2670048"/>
            <a:ext cx="201168" cy="201168"/>
          </a:xfrm>
          <a:prstGeom prst="ellipse">
            <a:avLst/>
          </a:prstGeom>
          <a:solidFill>
            <a:srgbClr val="D65D42"/>
          </a:solidFill>
          <a:ln/>
        </p:spPr>
      </p:sp>
      <p:sp>
        <p:nvSpPr>
          <p:cNvPr id="25" name="Text 23"/>
          <p:cNvSpPr/>
          <p:nvPr/>
        </p:nvSpPr>
        <p:spPr>
          <a:xfrm>
            <a:off x="6571336" y="2606040"/>
            <a:ext cx="516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to failure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71336" y="2862072"/>
            <a:ext cx="516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Camera, mic, LLM, GPU or network trouble must never stop the demo — only degrade it.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78728" y="3419856"/>
            <a:ext cx="201168" cy="201168"/>
          </a:xfrm>
          <a:prstGeom prst="ellipse">
            <a:avLst/>
          </a:prstGeom>
          <a:solidFill>
            <a:srgbClr val="D65D42"/>
          </a:solidFill>
          <a:ln/>
        </p:spPr>
      </p:sp>
      <p:sp>
        <p:nvSpPr>
          <p:cNvPr id="28" name="Text 26"/>
          <p:cNvSpPr/>
          <p:nvPr/>
        </p:nvSpPr>
        <p:spPr>
          <a:xfrm>
            <a:off x="6571336" y="3355848"/>
            <a:ext cx="516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Split-runtime constraint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571336" y="3611880"/>
            <a:ext cx="516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side pinned to Python 3.8 (qiBullet/NAOqi); dialogue needs ≥ 3.9 — bridged, not merged.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278728" y="4169664"/>
            <a:ext cx="201168" cy="201168"/>
          </a:xfrm>
          <a:prstGeom prst="ellipse">
            <a:avLst/>
          </a:prstGeom>
          <a:solidFill>
            <a:srgbClr val="D65D42"/>
          </a:solidFill>
          <a:ln/>
        </p:spPr>
      </p:sp>
      <p:sp>
        <p:nvSpPr>
          <p:cNvPr id="31" name="Text 29"/>
          <p:cNvSpPr/>
          <p:nvPr/>
        </p:nvSpPr>
        <p:spPr>
          <a:xfrm>
            <a:off x="6571336" y="4105656"/>
            <a:ext cx="516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coordination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571336" y="4361688"/>
            <a:ext cx="516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and gesture must play together, not one after another.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7200" y="56967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CHECKS AT DEMO TIME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" y="5989320"/>
            <a:ext cx="1962851" cy="38404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5989320"/>
            <a:ext cx="19628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detection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785811" y="5989320"/>
            <a:ext cx="1962851" cy="38404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37" name="Text 35"/>
          <p:cNvSpPr/>
          <p:nvPr/>
        </p:nvSpPr>
        <p:spPr>
          <a:xfrm>
            <a:off x="2785811" y="5989320"/>
            <a:ext cx="19628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114422" y="5989320"/>
            <a:ext cx="1962851" cy="38404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39" name="Text 37"/>
          <p:cNvSpPr/>
          <p:nvPr/>
        </p:nvSpPr>
        <p:spPr>
          <a:xfrm>
            <a:off x="5114422" y="5989320"/>
            <a:ext cx="19628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443033" y="5989320"/>
            <a:ext cx="1962851" cy="38404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41" name="Text 39"/>
          <p:cNvSpPr/>
          <p:nvPr/>
        </p:nvSpPr>
        <p:spPr>
          <a:xfrm>
            <a:off x="7443033" y="5989320"/>
            <a:ext cx="19628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9771644" y="5989320"/>
            <a:ext cx="1962851" cy="38404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43" name="Text 41"/>
          <p:cNvSpPr/>
          <p:nvPr/>
        </p:nvSpPr>
        <p:spPr>
          <a:xfrm>
            <a:off x="9771644" y="5989320"/>
            <a:ext cx="19628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57200" y="6510528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Event Recommendation Agent on Pepper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991295" y="651052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932688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interaction, start to finish — four run modes, one bridge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2E6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MODES (src/main.py)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4206240" cy="960120"/>
          </a:xfrm>
          <a:prstGeom prst="roundRect">
            <a:avLst>
              <a:gd name="adj" fmla="val 6667"/>
            </a:avLst>
          </a:prstGeom>
          <a:solidFill>
            <a:srgbClr val="F3F5F8"/>
          </a:solidFill>
          <a:ln w="9525">
            <a:solidFill>
              <a:srgbClr val="DDE2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0116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--source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22860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scripted · webcam · pepper · hybrid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254203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faces come from / whether Pepper is spawned in qiBullet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017520"/>
            <a:ext cx="4206240" cy="960120"/>
          </a:xfrm>
          <a:prstGeom prst="roundRect">
            <a:avLst>
              <a:gd name="adj" fmla="val 6667"/>
            </a:avLst>
          </a:prstGeom>
          <a:solidFill>
            <a:srgbClr val="F3F5F8"/>
          </a:solidFill>
          <a:ln w="9525">
            <a:solidFill>
              <a:srgbClr val="DDE2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310896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--dialogue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94360" y="33832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stub · real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363931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stand-in vs. the live LangGraph + Groq conversation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4114800"/>
            <a:ext cx="4206240" cy="960120"/>
          </a:xfrm>
          <a:prstGeom prst="roundRect">
            <a:avLst>
              <a:gd name="adj" fmla="val 6667"/>
            </a:avLst>
          </a:prstGeom>
          <a:solidFill>
            <a:srgbClr val="F3F5F8"/>
          </a:solidFill>
          <a:ln w="9525">
            <a:solidFill>
              <a:srgbClr val="DDE2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420624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--answer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4360" y="448056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· speech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4360" y="473659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replies vs. spoken, transcribed on-device by local Whisper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52578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pipeline used in the live demo: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5559552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1B2A4A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5559552"/>
            <a:ext cx="39867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 run python src/main.py --source hybrid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--dialogue real --answer speech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029200" y="1554480"/>
            <a:ext cx="6705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D65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LOOKS LIKE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029200" y="1920240"/>
            <a:ext cx="6705295" cy="3383280"/>
          </a:xfrm>
          <a:prstGeom prst="roundRect">
            <a:avLst>
              <a:gd name="adj" fmla="val 2162"/>
            </a:avLst>
          </a:prstGeom>
          <a:solidFill>
            <a:srgbClr val="0F1B33"/>
          </a:solidFill>
          <a:ln/>
        </p:spPr>
      </p:sp>
      <p:sp>
        <p:nvSpPr>
          <p:cNvPr id="22" name="Text 20"/>
          <p:cNvSpPr/>
          <p:nvPr/>
        </p:nvSpPr>
        <p:spPr>
          <a:xfrm>
            <a:off x="5212080" y="2057400"/>
            <a:ext cx="633953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C1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Pepper: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 there!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C1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Pepper: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kind of evening would actually make you feel recharged?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0B2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You:   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something laid back, not a big crowd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C1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Pepper: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when do you usually like to head out?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0B2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You:   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evenings mostly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C1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Pepper: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me think about that.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8A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(thinking pose)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C1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Pepper: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Based on what you told me: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7D6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1. Museum     34%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7D6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2. Workshop   19%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7D6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3. Food       15%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C1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Pepper: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suggest Museum — a cultural, low-key, intimate venue fits what you told me.</a:t>
            </a:r>
            <a:endParaRPr lang="en-US" sz="1050" dirty="0"/>
          </a:p>
        </p:txBody>
      </p:sp>
      <p:pic>
        <p:nvPicPr>
          <p:cNvPr id="23" name="Image 0" descr="/tmp/build/assets/museu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5440680"/>
            <a:ext cx="1417320" cy="886968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6629400" y="5440680"/>
            <a:ext cx="5105095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 shows the winning event’s image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pinned to Pepper’s tablet link, cleared at the end of each interaction.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457200" y="6510528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Event Recommendation Agent on Pepper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8991295" y="651052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Challenges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932688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problems the implementation had to solve, not just design around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576218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 w="9525">
            <a:solidFill>
              <a:srgbClr val="DDE2E8"/>
            </a:solidFill>
            <a:prstDash val="solid"/>
          </a:ln>
          <a:effectLst>
            <a:outerShdw sx="100000" sy="100000" kx="0" ky="0" algn="bl" rotWithShape="0" blurRad="76200" dist="25400" dir="5400000">
              <a:srgbClr val="8A8F9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21792" y="1764792"/>
            <a:ext cx="457200" cy="457200"/>
          </a:xfrm>
          <a:prstGeom prst="ellipse">
            <a:avLst/>
          </a:prstGeom>
          <a:solidFill>
            <a:srgbClr val="2E6E9E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16152" y="1737360"/>
            <a:ext cx="268010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incompatible runtimes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" y="2267712"/>
            <a:ext cx="324703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qiBullet/NAOqi need Python 3.8; LangGraph needs ≥ 3.9. Bridged as two processes over newline-delimited JSON on stdio — adds latency and a new failure surface to guard.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07738" y="1600200"/>
            <a:ext cx="3576218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 w="9525">
            <a:solidFill>
              <a:srgbClr val="DDE2E8"/>
            </a:solidFill>
            <a:prstDash val="solid"/>
          </a:ln>
          <a:effectLst>
            <a:outerShdw sx="100000" sy="100000" kx="0" ky="0" algn="bl" rotWithShape="0" blurRad="76200" dist="25400" dir="5400000">
              <a:srgbClr val="8A8F98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72330" y="1764792"/>
            <a:ext cx="457200" cy="457200"/>
          </a:xfrm>
          <a:prstGeom prst="ellipse">
            <a:avLst/>
          </a:prstGeom>
          <a:solidFill>
            <a:srgbClr val="2E6E9E"/>
          </a:solidFill>
          <a:ln/>
        </p:spPr>
      </p:sp>
      <p:sp>
        <p:nvSpPr>
          <p:cNvPr id="11" name="Text 9"/>
          <p:cNvSpPr/>
          <p:nvPr/>
        </p:nvSpPr>
        <p:spPr>
          <a:xfrm>
            <a:off x="447233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66690" y="1737360"/>
            <a:ext cx="268010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the LLM inside the lines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72330" y="2267712"/>
            <a:ext cx="324703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text must resolve to one of a fixed set of legal evidence labels. Validated at three layers — parser, contracts.validate_evidence, and the network itself — so a bad output can never corrupt the model.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58277" y="1600200"/>
            <a:ext cx="3576218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 w="9525">
            <a:solidFill>
              <a:srgbClr val="DDE2E8"/>
            </a:solidFill>
            <a:prstDash val="solid"/>
          </a:ln>
          <a:effectLst>
            <a:outerShdw sx="100000" sy="100000" kx="0" ky="0" algn="bl" rotWithShape="0" blurRad="76200" dist="25400" dir="5400000">
              <a:srgbClr val="8A8F98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22869" y="1764792"/>
            <a:ext cx="457200" cy="457200"/>
          </a:xfrm>
          <a:prstGeom prst="ellipse">
            <a:avLst/>
          </a:prstGeom>
          <a:solidFill>
            <a:srgbClr val="2E6E9E"/>
          </a:solidFill>
          <a:ln/>
        </p:spPr>
      </p:sp>
      <p:sp>
        <p:nvSpPr>
          <p:cNvPr id="16" name="Text 14"/>
          <p:cNvSpPr/>
          <p:nvPr/>
        </p:nvSpPr>
        <p:spPr>
          <a:xfrm>
            <a:off x="8322869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917229" y="1737360"/>
            <a:ext cx="268010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Face-detection flicker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22869" y="2267712"/>
            <a:ext cx="324703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naive Haar trigger toggles on/off frame to frame. Fixed with asymmetric smoothing: 4-of-5 frames to start an interaction, a looser 2-of-5 to keep it going.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3840480"/>
            <a:ext cx="3576218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 w="9525">
            <a:solidFill>
              <a:srgbClr val="DDE2E8"/>
            </a:solidFill>
            <a:prstDash val="solid"/>
          </a:ln>
          <a:effectLst>
            <a:outerShdw sx="100000" sy="100000" kx="0" ky="0" algn="bl" rotWithShape="0" blurRad="76200" dist="25400" dir="5400000">
              <a:srgbClr val="8A8F98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1792" y="4005072"/>
            <a:ext cx="457200" cy="457200"/>
          </a:xfrm>
          <a:prstGeom prst="ellipse">
            <a:avLst/>
          </a:prstGeom>
          <a:solidFill>
            <a:srgbClr val="2E6E9E"/>
          </a:solidFill>
          <a:ln/>
        </p:spPr>
      </p:sp>
      <p:sp>
        <p:nvSpPr>
          <p:cNvPr id="21" name="Text 19"/>
          <p:cNvSpPr/>
          <p:nvPr/>
        </p:nvSpPr>
        <p:spPr>
          <a:xfrm>
            <a:off x="621792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16152" y="3977640"/>
            <a:ext cx="268010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19-point fallback matrix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21792" y="4507992"/>
            <a:ext cx="324703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Network, LLM, mic, GPU, tablet and webcam can each fail mid-demo. Every one has a scripted fallback — offline parser, pyttsx3, CPU Whisper, preview window — so the run never crashes.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07738" y="3840480"/>
            <a:ext cx="3576218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 w="9525">
            <a:solidFill>
              <a:srgbClr val="DDE2E8"/>
            </a:solidFill>
            <a:prstDash val="solid"/>
          </a:ln>
          <a:effectLst>
            <a:outerShdw sx="100000" sy="100000" kx="0" ky="0" algn="bl" rotWithShape="0" blurRad="76200" dist="25400" dir="5400000">
              <a:srgbClr val="8A8F98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472330" y="4005072"/>
            <a:ext cx="457200" cy="457200"/>
          </a:xfrm>
          <a:prstGeom prst="ellipse">
            <a:avLst/>
          </a:prstGeom>
          <a:solidFill>
            <a:srgbClr val="2E6E9E"/>
          </a:solidFill>
          <a:ln/>
        </p:spPr>
      </p:sp>
      <p:sp>
        <p:nvSpPr>
          <p:cNvPr id="26" name="Text 24"/>
          <p:cNvSpPr/>
          <p:nvPr/>
        </p:nvSpPr>
        <p:spPr>
          <a:xfrm>
            <a:off x="4472330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066690" y="3977640"/>
            <a:ext cx="268010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on partial evidence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472330" y="4507992"/>
            <a:ext cx="324703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user may answer only 3 of 6 questions. The Bayesian network still has to return a sensible ranked answer, falling back to priors for whatever wasn't observed.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158277" y="3840480"/>
            <a:ext cx="3576218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 w="9525">
            <a:solidFill>
              <a:srgbClr val="DDE2E8"/>
            </a:solidFill>
            <a:prstDash val="solid"/>
          </a:ln>
          <a:effectLst>
            <a:outerShdw sx="100000" sy="100000" kx="0" ky="0" algn="bl" rotWithShape="0" blurRad="76200" dist="25400" dir="5400000">
              <a:srgbClr val="8A8F98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322869" y="4005072"/>
            <a:ext cx="457200" cy="457200"/>
          </a:xfrm>
          <a:prstGeom prst="ellipse">
            <a:avLst/>
          </a:prstGeom>
          <a:solidFill>
            <a:srgbClr val="2E6E9E"/>
          </a:solidFill>
          <a:ln/>
        </p:spPr>
      </p:sp>
      <p:sp>
        <p:nvSpPr>
          <p:cNvPr id="31" name="Text 29"/>
          <p:cNvSpPr/>
          <p:nvPr/>
        </p:nvSpPr>
        <p:spPr>
          <a:xfrm>
            <a:off x="8322869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917229" y="3977640"/>
            <a:ext cx="268010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and gesture in sync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322869" y="4507992"/>
            <a:ext cx="324703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say_with_gesture() blocks until both the spoken line and the animation finish — otherwise the robot reads as sequential and mechanical, not embodied.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6510528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Event Recommendation Agent on Pepper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991295" y="651052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Challenges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Ethical Concerns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932688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socially embodied, cloud-assisted agent needs care, and how the design responds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576218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 w="9525">
            <a:solidFill>
              <a:srgbClr val="DDE2E8"/>
            </a:solidFill>
            <a:prstDash val="solid"/>
          </a:ln>
          <a:effectLst>
            <a:outerShdw sx="100000" sy="100000" kx="0" ky="0" algn="bl" rotWithShape="0" blurRad="76200" dist="25400" dir="5400000">
              <a:srgbClr val="8A8F9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21792" y="1764792"/>
            <a:ext cx="457200" cy="457200"/>
          </a:xfrm>
          <a:prstGeom prst="ellipse">
            <a:avLst/>
          </a:prstGeom>
          <a:solidFill>
            <a:srgbClr val="D65D42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16152" y="1737360"/>
            <a:ext cx="268010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Always-on camera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" y="2267712"/>
            <a:ext cx="324703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continuously watches for a face before any interaction starts — a passive-monitoring concern even when no one is being greeted.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07738" y="1600200"/>
            <a:ext cx="3576218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 w="9525">
            <a:solidFill>
              <a:srgbClr val="DDE2E8"/>
            </a:solidFill>
            <a:prstDash val="solid"/>
          </a:ln>
          <a:effectLst>
            <a:outerShdw sx="100000" sy="100000" kx="0" ky="0" algn="bl" rotWithShape="0" blurRad="76200" dist="25400" dir="5400000">
              <a:srgbClr val="8A8F98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72330" y="1764792"/>
            <a:ext cx="457200" cy="457200"/>
          </a:xfrm>
          <a:prstGeom prst="ellipse">
            <a:avLst/>
          </a:prstGeom>
          <a:solidFill>
            <a:srgbClr val="D65D42"/>
          </a:solidFill>
          <a:ln/>
        </p:spPr>
      </p:sp>
      <p:sp>
        <p:nvSpPr>
          <p:cNvPr id="11" name="Text 9"/>
          <p:cNvSpPr/>
          <p:nvPr/>
        </p:nvSpPr>
        <p:spPr>
          <a:xfrm>
            <a:off x="447233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66690" y="1737360"/>
            <a:ext cx="268010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leaves the device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72330" y="2267712"/>
            <a:ext cx="324703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are sent to Groq's cloud LLM for parsing. Voice audio stays local (on-device Whisper); the transcribed text does not.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58277" y="1600200"/>
            <a:ext cx="3576218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 w="9525">
            <a:solidFill>
              <a:srgbClr val="DDE2E8"/>
            </a:solidFill>
            <a:prstDash val="solid"/>
          </a:ln>
          <a:effectLst>
            <a:outerShdw sx="100000" sy="100000" kx="0" ky="0" algn="bl" rotWithShape="0" blurRad="76200" dist="25400" dir="5400000">
              <a:srgbClr val="8A8F98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22869" y="1764792"/>
            <a:ext cx="457200" cy="457200"/>
          </a:xfrm>
          <a:prstGeom prst="ellipse">
            <a:avLst/>
          </a:prstGeom>
          <a:solidFill>
            <a:srgbClr val="D65D42"/>
          </a:solidFill>
          <a:ln/>
        </p:spPr>
      </p:sp>
      <p:sp>
        <p:nvSpPr>
          <p:cNvPr id="16" name="Text 14"/>
          <p:cNvSpPr/>
          <p:nvPr/>
        </p:nvSpPr>
        <p:spPr>
          <a:xfrm>
            <a:off x="8322869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917229" y="1737360"/>
            <a:ext cx="268010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Guarding against covert steering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22869" y="2267712"/>
            <a:ext cx="324703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three-layer whitelist stops the LLM from ever injecting an illegal value — its influence is limited to preferences the user actually stated.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3840480"/>
            <a:ext cx="3576218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 w="9525">
            <a:solidFill>
              <a:srgbClr val="DDE2E8"/>
            </a:solidFill>
            <a:prstDash val="solid"/>
          </a:ln>
          <a:effectLst>
            <a:outerShdw sx="100000" sy="100000" kx="0" ky="0" algn="bl" rotWithShape="0" blurRad="76200" dist="25400" dir="5400000">
              <a:srgbClr val="8A8F98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1792" y="4005072"/>
            <a:ext cx="457200" cy="457200"/>
          </a:xfrm>
          <a:prstGeom prst="ellipse">
            <a:avLst/>
          </a:prstGeom>
          <a:solidFill>
            <a:srgbClr val="D65D42"/>
          </a:solidFill>
          <a:ln/>
        </p:spPr>
      </p:sp>
      <p:sp>
        <p:nvSpPr>
          <p:cNvPr id="21" name="Text 19"/>
          <p:cNvSpPr/>
          <p:nvPr/>
        </p:nvSpPr>
        <p:spPr>
          <a:xfrm>
            <a:off x="621792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16152" y="3977640"/>
            <a:ext cx="268010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Anthropomorphic trust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21792" y="4507992"/>
            <a:ext cx="324703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warm, gesturing humanoid can carry implied authority. Recommendations are framed as ranked suggestions to consider, not directives to follow.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07738" y="3840480"/>
            <a:ext cx="3576218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 w="9525">
            <a:solidFill>
              <a:srgbClr val="DDE2E8"/>
            </a:solidFill>
            <a:prstDash val="solid"/>
          </a:ln>
          <a:effectLst>
            <a:outerShdw sx="100000" sy="100000" kx="0" ky="0" algn="bl" rotWithShape="0" blurRad="76200" dist="25400" dir="5400000">
              <a:srgbClr val="8A8F98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472330" y="4005072"/>
            <a:ext cx="457200" cy="457200"/>
          </a:xfrm>
          <a:prstGeom prst="ellipse">
            <a:avLst/>
          </a:prstGeom>
          <a:solidFill>
            <a:srgbClr val="D65D42"/>
          </a:solidFill>
          <a:ln/>
        </p:spPr>
      </p:sp>
      <p:sp>
        <p:nvSpPr>
          <p:cNvPr id="26" name="Text 24"/>
          <p:cNvSpPr/>
          <p:nvPr/>
        </p:nvSpPr>
        <p:spPr>
          <a:xfrm>
            <a:off x="4472330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066690" y="3977640"/>
            <a:ext cx="268010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Whose catalogue of “social”?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472330" y="4507992"/>
            <a:ext cx="324703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8 event categories and their CPTs are rule-derived by one designer, not learned from biased data — but the catalogue still reflects one idea of a good night out, not everyone's.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158277" y="3840480"/>
            <a:ext cx="3576218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 w="9525">
            <a:solidFill>
              <a:srgbClr val="DDE2E8"/>
            </a:solidFill>
            <a:prstDash val="solid"/>
          </a:ln>
          <a:effectLst>
            <a:outerShdw sx="100000" sy="100000" kx="0" ky="0" algn="bl" rotWithShape="0" blurRad="76200" dist="25400" dir="5400000">
              <a:srgbClr val="8A8F98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322869" y="4005072"/>
            <a:ext cx="457200" cy="457200"/>
          </a:xfrm>
          <a:prstGeom prst="ellipse">
            <a:avLst/>
          </a:prstGeom>
          <a:solidFill>
            <a:srgbClr val="D65D42"/>
          </a:solidFill>
          <a:ln/>
        </p:spPr>
      </p:sp>
      <p:sp>
        <p:nvSpPr>
          <p:cNvPr id="31" name="Text 29"/>
          <p:cNvSpPr/>
          <p:nvPr/>
        </p:nvSpPr>
        <p:spPr>
          <a:xfrm>
            <a:off x="8322869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917229" y="3977640"/>
            <a:ext cx="268010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 as safeguard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322869" y="4507992"/>
            <a:ext cx="324703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“because…” step is an ethical choice as much as a technical one: the user can see and question the reasoning instead of trusting a black box.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6510528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Event Recommendation Agent on Pepper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991295" y="651052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Concerns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09728"/>
            <a:ext cx="1170432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000" b="1" i="0">
                <a:solidFill>
                  <a:srgbClr val="1A1A1A"/>
                </a:solidFill>
              </a:rPr>
              <a:t>Social Event Recommendation Agent on Pepper — Single-Route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02920"/>
            <a:ext cx="117043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</a:rPr>
              <a:t>based on Kopp &amp; Hassan, 2022 (slides 7–8)  |  red = processing, green = decision, blue = generation, grey = knowledge. The Dialogue stage is the LangGraph (expanded below).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22960"/>
            <a:ext cx="11704320" cy="317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rgbClr val="4F81BD"/>
          </a:lnRef>
          <a:fillRef idx="3">
            <a:srgbClr val="4F81BD"/>
          </a:fillRef>
          <a:effectRef idx="2">
            <a:srgbClr val="4F81BD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34505" y="1131625"/>
            <a:ext cx="2709265" cy="525891"/>
          </a:xfrm>
          <a:prstGeom prst="roundRect">
            <a:avLst/>
          </a:prstGeom>
          <a:solidFill>
            <a:srgbClr val="83898F"/>
          </a:solidFill>
          <a:ln w="12700">
            <a:solidFill>
              <a:srgbClr val="83898F"/>
            </a:solidFill>
          </a:ln>
          <a:effectLst/>
        </p:spPr>
        <p:style>
          <a:lnRef idx="1">
            <a:srgbClr val="4F81BD"/>
          </a:lnRef>
          <a:fillRef idx="3">
            <a:srgbClr val="4F81BD"/>
          </a:fillRef>
          <a:effectRef idx="2">
            <a:srgbClr val="4F81BD"/>
          </a:effectRef>
          <a:fontRef idx="minor">
            <a:srgbClr val="FFFFFF"/>
          </a:fontRef>
        </p:style>
        <p:txBody>
          <a:bodyPr wrap="square" lIns="25400" tIns="12700" rIns="25400" bIns="1270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Knowledge &amp; data</a:t>
            </a:r>
          </a:p>
          <a:p>
            <a:pPr algn="ctr"/>
            <a:r>
              <a:rPr sz="800" b="0" i="0">
                <a:solidFill>
                  <a:srgbClr val="F0F0F0"/>
                </a:solidFill>
              </a:rPr>
              <a:t>Bayesian CPTs from event catalogue ·</a:t>
            </a:r>
          </a:p>
          <a:p>
            <a:pPr algn="ctr"/>
            <a:r>
              <a:rPr sz="800" b="0" i="0">
                <a:solidFill>
                  <a:srgbClr val="F0F0F0"/>
                </a:solidFill>
              </a:rPr>
              <a:t>8 events + images (imgs/) · schema (contracts.py)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552077" y="1657517"/>
            <a:ext cx="0" cy="233729"/>
          </a:xfrm>
          <a:prstGeom prst="line">
            <a:avLst/>
          </a:prstGeom>
          <a:ln w="19050">
            <a:solidFill>
              <a:srgbClr val="333333"/>
            </a:solidFill>
            <a:tailEnd type="triangle" w="med" len="med"/>
          </a:ln>
        </p:spPr>
        <p:style>
          <a:lnRef idx="2">
            <a:srgbClr val="4F81BD"/>
          </a:lnRef>
          <a:fillRef idx="0">
            <a:srgbClr val="4F81BD"/>
          </a:fillRef>
          <a:effectRef idx="1">
            <a:srgbClr val="4F81BD"/>
          </a:effectRef>
          <a:fontRef idx="minor">
            <a:srgbClr val="000000"/>
          </a:fontRef>
        </p:style>
      </p:cxnSp>
      <p:cxnSp>
        <p:nvCxnSpPr>
          <p:cNvPr id="7" name="Connector 6"/>
          <p:cNvCxnSpPr/>
          <p:nvPr/>
        </p:nvCxnSpPr>
        <p:spPr>
          <a:xfrm>
            <a:off x="8466455" y="1657517"/>
            <a:ext cx="905910" cy="233729"/>
          </a:xfrm>
          <a:prstGeom prst="line">
            <a:avLst/>
          </a:prstGeom>
          <a:ln w="19050">
            <a:solidFill>
              <a:srgbClr val="333333"/>
            </a:solidFill>
            <a:tailEnd type="triangle" w="med" len="med"/>
          </a:ln>
        </p:spPr>
        <p:style>
          <a:lnRef idx="2">
            <a:srgbClr val="4F81BD"/>
          </a:lnRef>
          <a:fillRef idx="0">
            <a:srgbClr val="4F81BD"/>
          </a:fillRef>
          <a:effectRef idx="1">
            <a:srgbClr val="4F81BD"/>
          </a:effectRef>
          <a:fontRef idx="minor">
            <a:srgbClr val="000000"/>
          </a:fontRef>
        </p:style>
      </p:cxnSp>
      <p:sp>
        <p:nvSpPr>
          <p:cNvPr id="8" name="Oval 7"/>
          <p:cNvSpPr/>
          <p:nvPr/>
        </p:nvSpPr>
        <p:spPr>
          <a:xfrm>
            <a:off x="50798" y="2008111"/>
            <a:ext cx="1083706" cy="6427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55555"/>
            </a:solidFill>
          </a:ln>
          <a:effectLst/>
        </p:spPr>
        <p:style>
          <a:lnRef idx="1">
            <a:srgbClr val="4F81BD"/>
          </a:lnRef>
          <a:fillRef idx="3">
            <a:srgbClr val="4F81BD"/>
          </a:fillRef>
          <a:effectRef idx="2">
            <a:srgbClr val="4F81BD"/>
          </a:effectRef>
          <a:fontRef idx="minor">
            <a:srgbClr val="FFFFFF"/>
          </a:fontRef>
        </p:style>
        <p:txBody>
          <a:bodyPr wrap="square" lIns="25400" tIns="12700" rIns="25400" bIns="12700" rtlCol="0" anchor="ctr"/>
          <a:lstStyle/>
          <a:p>
            <a:pPr algn="ctr"/>
            <a:r>
              <a:rPr sz="1100" b="1" i="0">
                <a:solidFill>
                  <a:srgbClr val="1A1A1A"/>
                </a:solidFill>
              </a:rPr>
              <a:t>User</a:t>
            </a:r>
          </a:p>
          <a:p>
            <a:pPr algn="ctr"/>
            <a:r>
              <a:rPr sz="800" b="0" i="0">
                <a:solidFill>
                  <a:srgbClr val="555555"/>
                </a:solidFill>
              </a:rPr>
              <a:t>face + speech</a:t>
            </a:r>
          </a:p>
        </p:txBody>
      </p:sp>
      <p:sp>
        <p:nvSpPr>
          <p:cNvPr id="9" name="Oval 8"/>
          <p:cNvSpPr/>
          <p:nvPr/>
        </p:nvSpPr>
        <p:spPr>
          <a:xfrm>
            <a:off x="10464538" y="2008111"/>
            <a:ext cx="1083706" cy="6427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55555"/>
            </a:solidFill>
          </a:ln>
          <a:effectLst/>
        </p:spPr>
        <p:style>
          <a:lnRef idx="1">
            <a:srgbClr val="4F81BD"/>
          </a:lnRef>
          <a:fillRef idx="3">
            <a:srgbClr val="4F81BD"/>
          </a:fillRef>
          <a:effectRef idx="2">
            <a:srgbClr val="4F81BD"/>
          </a:effectRef>
          <a:fontRef idx="minor">
            <a:srgbClr val="FFFFFF"/>
          </a:fontRef>
        </p:style>
        <p:txBody>
          <a:bodyPr wrap="square" lIns="25400" tIns="12700" rIns="25400" bIns="12700" rtlCol="0" anchor="ctr"/>
          <a:lstStyle/>
          <a:p>
            <a:pPr algn="ctr"/>
            <a:r>
              <a:rPr sz="1100" b="1" i="0">
                <a:solidFill>
                  <a:srgbClr val="1A1A1A"/>
                </a:solidFill>
              </a:rPr>
              <a:t>User</a:t>
            </a:r>
          </a:p>
          <a:p>
            <a:pPr algn="ctr"/>
            <a:r>
              <a:rPr sz="800" b="0" i="0">
                <a:solidFill>
                  <a:srgbClr val="555555"/>
                </a:solidFill>
              </a:rPr>
              <a:t>sees + hears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54632" y="1891246"/>
            <a:ext cx="1566294" cy="876485"/>
          </a:xfrm>
          <a:prstGeom prst="roundRect">
            <a:avLst/>
          </a:prstGeom>
          <a:solidFill>
            <a:srgbClr val="E23B2E"/>
          </a:solidFill>
          <a:ln w="12700">
            <a:solidFill>
              <a:srgbClr val="E23B2E"/>
            </a:solidFill>
          </a:ln>
          <a:effectLst/>
        </p:spPr>
        <p:style>
          <a:lnRef idx="1">
            <a:srgbClr val="4F81BD"/>
          </a:lnRef>
          <a:fillRef idx="3">
            <a:srgbClr val="4F81BD"/>
          </a:fillRef>
          <a:effectRef idx="2">
            <a:srgbClr val="4F81BD"/>
          </a:effectRef>
          <a:fontRef idx="minor">
            <a:srgbClr val="FFFFFF"/>
          </a:fontRef>
        </p:style>
        <p:txBody>
          <a:bodyPr wrap="square" lIns="25400" tIns="12700" rIns="25400" bIns="1270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Perception</a:t>
            </a:r>
          </a:p>
          <a:p>
            <a:pPr algn="ctr"/>
            <a:r>
              <a:rPr sz="800" b="0" i="1">
                <a:solidFill>
                  <a:srgbClr val="FFEEEE"/>
                </a:solidFill>
              </a:rPr>
              <a:t>(sense + recognize)</a:t>
            </a:r>
          </a:p>
          <a:p>
            <a:pPr algn="ctr"/>
            <a:r>
              <a:rPr sz="800" b="0" i="0">
                <a:solidFill>
                  <a:srgbClr val="FFFFFF"/>
                </a:solidFill>
              </a:rPr>
              <a:t>Face: Haar + 5-frame smoothing</a:t>
            </a:r>
          </a:p>
          <a:p>
            <a:pPr algn="ctr"/>
            <a:r>
              <a:rPr sz="800" b="0" i="0">
                <a:solidFill>
                  <a:srgbClr val="FFFFFF"/>
                </a:solidFill>
              </a:rPr>
              <a:t>ASR: faster-whisper (local)</a:t>
            </a:r>
          </a:p>
          <a:p>
            <a:pPr algn="ctr"/>
            <a:r>
              <a:rPr sz="800" b="0" i="0">
                <a:solidFill>
                  <a:srgbClr val="FFFFFF"/>
                </a:solidFill>
              </a:rPr>
              <a:t>or typed 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32588" y="1891246"/>
            <a:ext cx="1566294" cy="876485"/>
          </a:xfrm>
          <a:prstGeom prst="roundRect">
            <a:avLst/>
          </a:prstGeom>
          <a:solidFill>
            <a:srgbClr val="B51F1F"/>
          </a:solidFill>
          <a:ln w="12700">
            <a:solidFill>
              <a:srgbClr val="B51F1F"/>
            </a:solidFill>
          </a:ln>
          <a:effectLst/>
        </p:spPr>
        <p:style>
          <a:lnRef idx="1">
            <a:srgbClr val="4F81BD"/>
          </a:lnRef>
          <a:fillRef idx="3">
            <a:srgbClr val="4F81BD"/>
          </a:fillRef>
          <a:effectRef idx="2">
            <a:srgbClr val="4F81BD"/>
          </a:effectRef>
          <a:fontRef idx="minor">
            <a:srgbClr val="FFFFFF"/>
          </a:fontRef>
        </p:style>
        <p:txBody>
          <a:bodyPr wrap="square" lIns="25400" tIns="12700" rIns="25400" bIns="1270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Interpretation</a:t>
            </a:r>
          </a:p>
          <a:p>
            <a:pPr algn="ctr"/>
            <a:r>
              <a:rPr sz="800" b="0" i="1">
                <a:solidFill>
                  <a:srgbClr val="FFDDDD"/>
                </a:solidFill>
              </a:rPr>
              <a:t>(understand) — LLM</a:t>
            </a:r>
          </a:p>
          <a:p>
            <a:pPr algn="ctr"/>
            <a:r>
              <a:rPr sz="800" b="0" i="0">
                <a:solidFill>
                  <a:srgbClr val="FFFFFF"/>
                </a:solidFill>
              </a:rPr>
              <a:t>Groq Llama-3.3 service:</a:t>
            </a:r>
          </a:p>
          <a:p>
            <a:pPr algn="ctr"/>
            <a:r>
              <a:rPr sz="800" b="0" i="0">
                <a:solidFill>
                  <a:srgbClr val="FFFFFF"/>
                </a:solidFill>
              </a:rPr>
              <a:t>frames questions &amp; parses</a:t>
            </a:r>
          </a:p>
          <a:p>
            <a:pPr algn="ctr"/>
            <a:r>
              <a:rPr sz="800" b="0" i="0">
                <a:solidFill>
                  <a:srgbClr val="FFFFFF"/>
                </a:solidFill>
              </a:rPr>
              <a:t>replies → 6 slots (validated)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10543" y="1891246"/>
            <a:ext cx="1650958" cy="876485"/>
          </a:xfrm>
          <a:prstGeom prst="roundRect">
            <a:avLst/>
          </a:prstGeom>
          <a:solidFill>
            <a:srgbClr val="3AAA35"/>
          </a:solidFill>
          <a:ln w="12700">
            <a:solidFill>
              <a:srgbClr val="3AAA35"/>
            </a:solidFill>
          </a:ln>
          <a:effectLst/>
        </p:spPr>
        <p:style>
          <a:lnRef idx="1">
            <a:srgbClr val="4F81BD"/>
          </a:lnRef>
          <a:fillRef idx="3">
            <a:srgbClr val="4F81BD"/>
          </a:fillRef>
          <a:effectRef idx="2">
            <a:srgbClr val="4F81BD"/>
          </a:effectRef>
          <a:fontRef idx="minor">
            <a:srgbClr val="FFFFFF"/>
          </a:fontRef>
        </p:style>
        <p:txBody>
          <a:bodyPr wrap="square" lIns="25400" tIns="12700" rIns="25400" bIns="1270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Dialogue Manager</a:t>
            </a:r>
          </a:p>
          <a:p>
            <a:pPr algn="ctr"/>
            <a:r>
              <a:rPr sz="800" b="0" i="1">
                <a:solidFill>
                  <a:srgbClr val="EAFFEA"/>
                </a:solidFill>
              </a:rPr>
              <a:t>(manage turn / select)</a:t>
            </a:r>
          </a:p>
          <a:p>
            <a:pPr algn="ctr"/>
            <a:r>
              <a:rPr sz="800" b="0" i="0">
                <a:solidFill>
                  <a:srgbClr val="FFFFFF"/>
                </a:solidFill>
              </a:rPr>
              <a:t>FSM 'Conversation' state runs</a:t>
            </a:r>
          </a:p>
          <a:p>
            <a:pPr algn="ctr"/>
            <a:r>
              <a:rPr sz="800" b="0" i="0">
                <a:solidFill>
                  <a:srgbClr val="FFFFFF"/>
                </a:solidFill>
              </a:rPr>
              <a:t>the LangGraph slot-filling loop</a:t>
            </a:r>
          </a:p>
          <a:p>
            <a:pPr algn="ctr"/>
            <a:r>
              <a:rPr sz="800" b="1" i="0">
                <a:solidFill>
                  <a:srgbClr val="FFFFFF"/>
                </a:solidFill>
              </a:rPr>
              <a:t>▼ expanded below 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73164" y="1891246"/>
            <a:ext cx="1566294" cy="876485"/>
          </a:xfrm>
          <a:prstGeom prst="roundRect">
            <a:avLst/>
          </a:prstGeom>
          <a:solidFill>
            <a:srgbClr val="1E8449"/>
          </a:solidFill>
          <a:ln w="12700">
            <a:solidFill>
              <a:srgbClr val="1E8449"/>
            </a:solidFill>
          </a:ln>
          <a:effectLst/>
        </p:spPr>
        <p:style>
          <a:lnRef idx="1">
            <a:srgbClr val="4F81BD"/>
          </a:lnRef>
          <a:fillRef idx="3">
            <a:srgbClr val="4F81BD"/>
          </a:fillRef>
          <a:effectRef idx="2">
            <a:srgbClr val="4F81BD"/>
          </a:effectRef>
          <a:fontRef idx="minor">
            <a:srgbClr val="FFFFFF"/>
          </a:fontRef>
        </p:style>
        <p:txBody>
          <a:bodyPr wrap="square" lIns="25400" tIns="12700" rIns="25400" bIns="12700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</a:rPr>
              <a:t>Bayesian Reasoning</a:t>
            </a:r>
          </a:p>
          <a:p>
            <a:pPr algn="ctr"/>
            <a:r>
              <a:rPr sz="800" b="0" i="1">
                <a:solidFill>
                  <a:srgbClr val="D7F3DF"/>
                </a:solidFill>
              </a:rPr>
              <a:t>(decide)</a:t>
            </a:r>
          </a:p>
          <a:p>
            <a:pPr algn="ctr"/>
            <a:r>
              <a:rPr sz="800" b="0" i="0">
                <a:solidFill>
                  <a:srgbClr val="FFFFFF"/>
                </a:solidFill>
              </a:rPr>
              <a:t>3-layer Bayes net (pyAgrum)</a:t>
            </a:r>
          </a:p>
          <a:p>
            <a:pPr algn="ctr"/>
            <a:r>
              <a:rPr sz="800" b="0" i="0">
                <a:solidFill>
                  <a:srgbClr val="FFFFFF"/>
                </a:solidFill>
              </a:rPr>
              <a:t>6 evidence → 3 latent → 8 events</a:t>
            </a:r>
          </a:p>
          <a:p>
            <a:pPr algn="ctr"/>
            <a:r>
              <a:rPr sz="800" b="0" i="0">
                <a:solidFill>
                  <a:srgbClr val="FFFFFF"/>
                </a:solidFill>
              </a:rPr>
              <a:t>ranked events + explanation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51119" y="1891246"/>
            <a:ext cx="1650958" cy="876485"/>
          </a:xfrm>
          <a:prstGeom prst="roundRect">
            <a:avLst/>
          </a:prstGeom>
          <a:solidFill>
            <a:srgbClr val="1F6FB2"/>
          </a:solidFill>
          <a:ln w="12700">
            <a:solidFill>
              <a:srgbClr val="1F6FB2"/>
            </a:solidFill>
          </a:ln>
          <a:effectLst/>
        </p:spPr>
        <p:style>
          <a:lnRef idx="1">
            <a:srgbClr val="4F81BD"/>
          </a:lnRef>
          <a:fillRef idx="3">
            <a:srgbClr val="4F81BD"/>
          </a:fillRef>
          <a:effectRef idx="2">
            <a:srgbClr val="4F81BD"/>
          </a:effectRef>
          <a:fontRef idx="minor">
            <a:srgbClr val="FFFFFF"/>
          </a:fontRef>
        </p:style>
        <p:txBody>
          <a:bodyPr wrap="square" lIns="25400" tIns="12700" rIns="25400" bIns="12700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</a:rPr>
              <a:t>Behaviour &amp; Acting</a:t>
            </a:r>
          </a:p>
          <a:p>
            <a:pPr algn="ctr"/>
            <a:r>
              <a:rPr sz="800" b="0" i="1">
                <a:solidFill>
                  <a:srgbClr val="DCEAF6"/>
                </a:solidFill>
              </a:rPr>
              <a:t>(create + perform)</a:t>
            </a:r>
          </a:p>
          <a:p>
            <a:pPr algn="ctr"/>
            <a:r>
              <a:rPr sz="800" b="0" i="0">
                <a:solidFill>
                  <a:srgbClr val="FFFFFF"/>
                </a:solidFill>
              </a:rPr>
              <a:t>speech (TTS) + gesture</a:t>
            </a:r>
          </a:p>
          <a:p>
            <a:pPr algn="ctr"/>
            <a:r>
              <a:rPr sz="800" b="0" i="0">
                <a:solidFill>
                  <a:srgbClr val="FFFFFF"/>
                </a:solidFill>
              </a:rPr>
              <a:t>(wave/nod/think/present)</a:t>
            </a:r>
          </a:p>
          <a:p>
            <a:pPr algn="ctr"/>
            <a:r>
              <a:rPr sz="800" b="0" i="0">
                <a:solidFill>
                  <a:srgbClr val="FFFFFF"/>
                </a:solidFill>
              </a:rPr>
              <a:t>+ tablet image · Pepper/qiBullet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34504" y="2329489"/>
            <a:ext cx="220128" cy="0"/>
          </a:xfrm>
          <a:prstGeom prst="line">
            <a:avLst/>
          </a:prstGeom>
          <a:ln w="25400">
            <a:solidFill>
              <a:srgbClr val="333333"/>
            </a:solidFill>
            <a:tailEnd type="triangle" w="med" len="med"/>
          </a:ln>
        </p:spPr>
        <p:style>
          <a:lnRef idx="2">
            <a:srgbClr val="4F81BD"/>
          </a:lnRef>
          <a:fillRef idx="0">
            <a:srgbClr val="4F81BD"/>
          </a:fillRef>
          <a:effectRef idx="1">
            <a:srgbClr val="4F81BD"/>
          </a:effectRef>
          <a:fontRef idx="minor">
            <a:srgbClr val="000000"/>
          </a:fontRef>
        </p:style>
      </p:cxnSp>
      <p:cxnSp>
        <p:nvCxnSpPr>
          <p:cNvPr id="16" name="Connector 15"/>
          <p:cNvCxnSpPr/>
          <p:nvPr/>
        </p:nvCxnSpPr>
        <p:spPr>
          <a:xfrm>
            <a:off x="2920926" y="2329489"/>
            <a:ext cx="211662" cy="0"/>
          </a:xfrm>
          <a:prstGeom prst="line">
            <a:avLst/>
          </a:prstGeom>
          <a:ln w="25400">
            <a:solidFill>
              <a:srgbClr val="333333"/>
            </a:solidFill>
            <a:tailEnd type="triangle" w="med" len="med"/>
          </a:ln>
        </p:spPr>
        <p:style>
          <a:lnRef idx="2">
            <a:srgbClr val="4F81BD"/>
          </a:lnRef>
          <a:fillRef idx="0">
            <a:srgbClr val="4F81BD"/>
          </a:fillRef>
          <a:effectRef idx="1">
            <a:srgbClr val="4F81BD"/>
          </a:effectRef>
          <a:fontRef idx="minor">
            <a:srgbClr val="000000"/>
          </a:fontRef>
        </p:style>
      </p:cxnSp>
      <p:cxnSp>
        <p:nvCxnSpPr>
          <p:cNvPr id="17" name="Connector 16"/>
          <p:cNvCxnSpPr/>
          <p:nvPr/>
        </p:nvCxnSpPr>
        <p:spPr>
          <a:xfrm>
            <a:off x="4698882" y="2329489"/>
            <a:ext cx="211661" cy="0"/>
          </a:xfrm>
          <a:prstGeom prst="line">
            <a:avLst/>
          </a:prstGeom>
          <a:ln w="25400">
            <a:solidFill>
              <a:srgbClr val="333333"/>
            </a:solidFill>
            <a:tailEnd type="triangle" w="med" len="med"/>
          </a:ln>
        </p:spPr>
        <p:style>
          <a:lnRef idx="2">
            <a:srgbClr val="4F81BD"/>
          </a:lnRef>
          <a:fillRef idx="0">
            <a:srgbClr val="4F81BD"/>
          </a:fillRef>
          <a:effectRef idx="1">
            <a:srgbClr val="4F81BD"/>
          </a:effectRef>
          <a:fontRef idx="minor">
            <a:srgbClr val="000000"/>
          </a:fontRef>
        </p:style>
      </p:cxnSp>
      <p:cxnSp>
        <p:nvCxnSpPr>
          <p:cNvPr id="18" name="Connector 17"/>
          <p:cNvCxnSpPr/>
          <p:nvPr/>
        </p:nvCxnSpPr>
        <p:spPr>
          <a:xfrm>
            <a:off x="6561502" y="2329489"/>
            <a:ext cx="211662" cy="0"/>
          </a:xfrm>
          <a:prstGeom prst="line">
            <a:avLst/>
          </a:prstGeom>
          <a:ln w="25400">
            <a:solidFill>
              <a:srgbClr val="333333"/>
            </a:solidFill>
            <a:tailEnd type="triangle" w="med" len="med"/>
          </a:ln>
        </p:spPr>
        <p:style>
          <a:lnRef idx="2">
            <a:srgbClr val="4F81BD"/>
          </a:lnRef>
          <a:fillRef idx="0">
            <a:srgbClr val="4F81BD"/>
          </a:fillRef>
          <a:effectRef idx="1">
            <a:srgbClr val="4F81BD"/>
          </a:effectRef>
          <a:fontRef idx="minor">
            <a:srgbClr val="000000"/>
          </a:fontRef>
        </p:style>
      </p:cxnSp>
      <p:cxnSp>
        <p:nvCxnSpPr>
          <p:cNvPr id="19" name="Connector 18"/>
          <p:cNvCxnSpPr/>
          <p:nvPr/>
        </p:nvCxnSpPr>
        <p:spPr>
          <a:xfrm>
            <a:off x="8339458" y="2329489"/>
            <a:ext cx="211661" cy="0"/>
          </a:xfrm>
          <a:prstGeom prst="line">
            <a:avLst/>
          </a:prstGeom>
          <a:ln w="25400">
            <a:solidFill>
              <a:srgbClr val="333333"/>
            </a:solidFill>
            <a:tailEnd type="triangle" w="med" len="med"/>
          </a:ln>
        </p:spPr>
        <p:style>
          <a:lnRef idx="2">
            <a:srgbClr val="4F81BD"/>
          </a:lnRef>
          <a:fillRef idx="0">
            <a:srgbClr val="4F81BD"/>
          </a:fillRef>
          <a:effectRef idx="1">
            <a:srgbClr val="4F81BD"/>
          </a:effectRef>
          <a:fontRef idx="minor">
            <a:srgbClr val="000000"/>
          </a:fontRef>
        </p:style>
      </p:cxnSp>
      <p:cxnSp>
        <p:nvCxnSpPr>
          <p:cNvPr id="20" name="Connector 19"/>
          <p:cNvCxnSpPr/>
          <p:nvPr/>
        </p:nvCxnSpPr>
        <p:spPr>
          <a:xfrm>
            <a:off x="10202078" y="2329489"/>
            <a:ext cx="262460" cy="0"/>
          </a:xfrm>
          <a:prstGeom prst="line">
            <a:avLst/>
          </a:prstGeom>
          <a:ln w="25400">
            <a:solidFill>
              <a:srgbClr val="333333"/>
            </a:solidFill>
            <a:tailEnd type="triangle" w="med" len="med"/>
          </a:ln>
        </p:spPr>
        <p:style>
          <a:lnRef idx="2">
            <a:srgbClr val="4F81BD"/>
          </a:lnRef>
          <a:fillRef idx="0">
            <a:srgbClr val="4F81BD"/>
          </a:fillRef>
          <a:effectRef idx="1">
            <a:srgbClr val="4F81BD"/>
          </a:effectRef>
          <a:fontRef idx="minor">
            <a:srgbClr val="000000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9372365" y="1715949"/>
            <a:ext cx="0" cy="175297"/>
          </a:xfrm>
          <a:prstGeom prst="line">
            <a:avLst/>
          </a:prstGeom>
          <a:ln w="16510">
            <a:solidFill>
              <a:srgbClr val="7A7A7A"/>
            </a:solidFill>
            <a:prstDash val="dash"/>
          </a:ln>
        </p:spPr>
        <p:style>
          <a:lnRef idx="2">
            <a:srgbClr val="4F81BD"/>
          </a:lnRef>
          <a:fillRef idx="0">
            <a:srgbClr val="4F81BD"/>
          </a:fillRef>
          <a:effectRef idx="1">
            <a:srgbClr val="4F81BD"/>
          </a:effectRef>
          <a:fontRef idx="minor">
            <a:srgbClr val="000000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2133546" y="1715949"/>
            <a:ext cx="7238819" cy="0"/>
          </a:xfrm>
          <a:prstGeom prst="line">
            <a:avLst/>
          </a:prstGeom>
          <a:ln w="16510">
            <a:solidFill>
              <a:srgbClr val="7A7A7A"/>
            </a:solidFill>
            <a:prstDash val="dash"/>
          </a:ln>
        </p:spPr>
        <p:style>
          <a:lnRef idx="2">
            <a:srgbClr val="4F81BD"/>
          </a:lnRef>
          <a:fillRef idx="0">
            <a:srgbClr val="4F81BD"/>
          </a:fillRef>
          <a:effectRef idx="1">
            <a:srgbClr val="4F81BD"/>
          </a:effectRef>
          <a:fontRef idx="minor">
            <a:srgbClr val="000000"/>
          </a:fontRef>
        </p:style>
      </p:cxnSp>
      <p:cxnSp>
        <p:nvCxnSpPr>
          <p:cNvPr id="23" name="Connector 22"/>
          <p:cNvCxnSpPr/>
          <p:nvPr/>
        </p:nvCxnSpPr>
        <p:spPr>
          <a:xfrm>
            <a:off x="2133546" y="1715949"/>
            <a:ext cx="0" cy="175297"/>
          </a:xfrm>
          <a:prstGeom prst="line">
            <a:avLst/>
          </a:prstGeom>
          <a:ln w="16510">
            <a:solidFill>
              <a:srgbClr val="7A7A7A"/>
            </a:solidFill>
            <a:prstDash val="dash"/>
            <a:tailEnd type="triangle" w="med" len="med"/>
          </a:ln>
        </p:spPr>
        <p:style>
          <a:lnRef idx="2">
            <a:srgbClr val="4F81BD"/>
          </a:lnRef>
          <a:fillRef idx="0">
            <a:srgbClr val="4F81BD"/>
          </a:fillRef>
          <a:effectRef idx="1">
            <a:srgbClr val="4F81BD"/>
          </a:effectRef>
          <a:fontRef idx="minor">
            <a:srgbClr val="000000"/>
          </a:fontRef>
        </p:style>
      </p:cxnSp>
      <p:sp>
        <p:nvSpPr>
          <p:cNvPr id="24" name="TextBox 23"/>
          <p:cNvSpPr txBox="1"/>
          <p:nvPr/>
        </p:nvSpPr>
        <p:spPr>
          <a:xfrm>
            <a:off x="3809904" y="1569764"/>
            <a:ext cx="2539936" cy="20451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850" b="0" i="0" dirty="0">
                <a:solidFill>
                  <a:srgbClr val="777777"/>
                </a:solidFill>
              </a:rPr>
              <a:t>per turn: Pepper asks (TTS) → user answers (ASR) → repeats until 6 </a:t>
            </a:r>
            <a:r>
              <a:rPr sz="850" b="0" i="0" dirty="0" err="1">
                <a:solidFill>
                  <a:srgbClr val="777777"/>
                </a:solidFill>
              </a:rPr>
              <a:t>prefs</a:t>
            </a:r>
            <a:r>
              <a:rPr sz="850" b="0" i="0" dirty="0">
                <a:solidFill>
                  <a:srgbClr val="777777"/>
                </a:solidFill>
              </a:rPr>
              <a:t> filled</a:t>
            </a:r>
          </a:p>
        </p:txBody>
      </p:sp>
      <p:sp>
        <p:nvSpPr>
          <p:cNvPr id="25" name="Freeform 24"/>
          <p:cNvSpPr/>
          <p:nvPr/>
        </p:nvSpPr>
        <p:spPr>
          <a:xfrm>
            <a:off x="1426128" y="2767732"/>
            <a:ext cx="9368601" cy="730405"/>
          </a:xfrm>
          <a:custGeom>
            <a:avLst/>
            <a:gdLst/>
            <a:ahLst/>
            <a:cxnLst/>
            <a:rect l="l" t="t" r="r" b="b"/>
            <a:pathLst>
              <a:path w="10159746" h="730405">
                <a:moveTo>
                  <a:pt x="3894569" y="0"/>
                </a:moveTo>
                <a:lnTo>
                  <a:pt x="5545528" y="0"/>
                </a:lnTo>
                <a:lnTo>
                  <a:pt x="10159746" y="730405"/>
                </a:lnTo>
                <a:lnTo>
                  <a:pt x="0" y="730405"/>
                </a:lnTo>
                <a:lnTo>
                  <a:pt x="3894569" y="0"/>
                </a:lnTo>
                <a:close/>
              </a:path>
            </a:pathLst>
          </a:custGeom>
          <a:solidFill>
            <a:srgbClr val="F3FAF3"/>
          </a:solidFill>
          <a:ln w="9525">
            <a:solidFill>
              <a:srgbClr val="BFE3BF"/>
            </a:solidFill>
          </a:ln>
          <a:effectLst/>
        </p:spPr>
        <p:style>
          <a:lnRef idx="1">
            <a:srgbClr val="4F81BD"/>
          </a:lnRef>
          <a:fillRef idx="3">
            <a:srgbClr val="4F81BD"/>
          </a:fillRef>
          <a:effectRef idx="2">
            <a:srgbClr val="4F81BD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1015974" y="3498137"/>
            <a:ext cx="10159746" cy="3067700"/>
          </a:xfrm>
          <a:prstGeom prst="roundRect">
            <a:avLst/>
          </a:prstGeom>
          <a:solidFill>
            <a:srgbClr val="F3FAF3"/>
          </a:solidFill>
          <a:ln w="19050">
            <a:solidFill>
              <a:srgbClr val="3AAA35"/>
            </a:solidFill>
          </a:ln>
          <a:effectLst/>
        </p:spPr>
        <p:style>
          <a:lnRef idx="1">
            <a:srgbClr val="4F81BD"/>
          </a:lnRef>
          <a:fillRef idx="3">
            <a:srgbClr val="4F81BD"/>
          </a:fillRef>
          <a:effectRef idx="2">
            <a:srgbClr val="4F81BD"/>
          </a:effectRef>
          <a:fontRef idx="minor">
            <a:srgbClr val="FFFFFF"/>
          </a:fontRef>
        </p:style>
        <p:txBody>
          <a:bodyPr wrap="square" lIns="25400" tIns="12700" rIns="25400" bIns="12700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185303" y="3585786"/>
            <a:ext cx="7619809" cy="17529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 dirty="0">
                <a:solidFill>
                  <a:srgbClr val="1E7A2B"/>
                </a:solidFill>
              </a:rPr>
              <a:t>Dialogue Manager — </a:t>
            </a:r>
            <a:r>
              <a:rPr sz="1200" b="1" i="0" dirty="0" err="1">
                <a:solidFill>
                  <a:srgbClr val="1E7A2B"/>
                </a:solidFill>
              </a:rPr>
              <a:t>LangGraph</a:t>
            </a:r>
            <a:r>
              <a:rPr sz="1200" b="1" i="0" dirty="0">
                <a:solidFill>
                  <a:srgbClr val="1E7A2B"/>
                </a:solidFill>
              </a:rPr>
              <a:t> (dialogue/graph.py)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5303" y="3746475"/>
            <a:ext cx="9313100" cy="146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556677"/>
                </a:solidFill>
              </a:rPr>
              <a:t>runs during the FSM 'Conversation' state · fills the 6 preference slots one at a time, with LLM reframing and conflict handling</a:t>
            </a:r>
          </a:p>
        </p:txBody>
      </p:sp>
      <p:sp>
        <p:nvSpPr>
          <p:cNvPr id="29" name="Oval 28"/>
          <p:cNvSpPr/>
          <p:nvPr/>
        </p:nvSpPr>
        <p:spPr>
          <a:xfrm>
            <a:off x="1126038" y="4885906"/>
            <a:ext cx="711182" cy="321378"/>
          </a:xfrm>
          <a:prstGeom prst="ellipse">
            <a:avLst/>
          </a:prstGeom>
          <a:solidFill>
            <a:srgbClr val="83898F"/>
          </a:solidFill>
          <a:ln w="12700">
            <a:solidFill>
              <a:srgbClr val="83898F"/>
            </a:solidFill>
          </a:ln>
          <a:effectLst/>
        </p:spPr>
        <p:style>
          <a:lnRef idx="1">
            <a:srgbClr val="4F81BD"/>
          </a:lnRef>
          <a:fillRef idx="3">
            <a:srgbClr val="4F81BD"/>
          </a:fillRef>
          <a:effectRef idx="2">
            <a:srgbClr val="4F81BD"/>
          </a:effectRef>
          <a:fontRef idx="minor">
            <a:srgbClr val="FFFFFF"/>
          </a:fontRef>
        </p:style>
        <p:txBody>
          <a:bodyPr wrap="square" lIns="25400" tIns="12700" rIns="25400" bIns="12700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30" name="Oval 29"/>
          <p:cNvSpPr/>
          <p:nvPr/>
        </p:nvSpPr>
        <p:spPr>
          <a:xfrm>
            <a:off x="1126038" y="5820824"/>
            <a:ext cx="711182" cy="321378"/>
          </a:xfrm>
          <a:prstGeom prst="ellipse">
            <a:avLst/>
          </a:prstGeom>
          <a:solidFill>
            <a:srgbClr val="83898F"/>
          </a:solidFill>
          <a:ln w="12700">
            <a:solidFill>
              <a:srgbClr val="83898F"/>
            </a:solidFill>
          </a:ln>
          <a:effectLst/>
        </p:spPr>
        <p:style>
          <a:lnRef idx="1">
            <a:srgbClr val="4F81BD"/>
          </a:lnRef>
          <a:fillRef idx="3">
            <a:srgbClr val="4F81BD"/>
          </a:fillRef>
          <a:effectRef idx="2">
            <a:srgbClr val="4F81BD"/>
          </a:effectRef>
          <a:fontRef idx="minor">
            <a:srgbClr val="FFFFFF"/>
          </a:fontRef>
        </p:style>
        <p:txBody>
          <a:bodyPr wrap="square" lIns="25400" tIns="12700" rIns="25400" bIns="12700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END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031949" y="5791608"/>
            <a:ext cx="1269968" cy="379810"/>
          </a:xfrm>
          <a:prstGeom prst="roundRect">
            <a:avLst/>
          </a:prstGeom>
          <a:solidFill>
            <a:srgbClr val="6CC24A"/>
          </a:solidFill>
          <a:ln w="12700">
            <a:solidFill>
              <a:srgbClr val="6CC24A"/>
            </a:solidFill>
          </a:ln>
          <a:effectLst/>
        </p:spPr>
        <p:style>
          <a:lnRef idx="1">
            <a:srgbClr val="4F81BD"/>
          </a:lnRef>
          <a:fillRef idx="3">
            <a:srgbClr val="4F81BD"/>
          </a:fillRef>
          <a:effectRef idx="2">
            <a:srgbClr val="4F81BD"/>
          </a:effectRef>
          <a:fontRef idx="minor">
            <a:srgbClr val="FFFFFF"/>
          </a:fontRef>
        </p:style>
        <p:txBody>
          <a:bodyPr wrap="square" lIns="25400" tIns="12700" rIns="25400" bIns="1270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Finish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074281" y="4754433"/>
            <a:ext cx="1269968" cy="569715"/>
          </a:xfrm>
          <a:prstGeom prst="roundRect">
            <a:avLst/>
          </a:prstGeom>
          <a:solidFill>
            <a:srgbClr val="3AAA35"/>
          </a:solidFill>
          <a:ln w="12700">
            <a:solidFill>
              <a:srgbClr val="3AAA35"/>
            </a:solidFill>
          </a:ln>
          <a:effectLst/>
        </p:spPr>
        <p:style>
          <a:lnRef idx="1">
            <a:srgbClr val="4F81BD"/>
          </a:lnRef>
          <a:fillRef idx="3">
            <a:srgbClr val="4F81BD"/>
          </a:fillRef>
          <a:effectRef idx="2">
            <a:srgbClr val="4F81BD"/>
          </a:effectRef>
          <a:fontRef idx="minor">
            <a:srgbClr val="FFFFFF"/>
          </a:fontRef>
        </p:style>
        <p:txBody>
          <a:bodyPr wrap="square" lIns="25400" tIns="12700" rIns="25400" bIns="1270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Router</a:t>
            </a:r>
          </a:p>
          <a:p>
            <a:pPr algn="ctr"/>
            <a:r>
              <a:rPr sz="800" b="0" i="0">
                <a:solidFill>
                  <a:srgbClr val="EAFFEA"/>
                </a:solidFill>
              </a:rPr>
              <a:t>pick next empty slot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979233" y="4754433"/>
            <a:ext cx="1354632" cy="569715"/>
          </a:xfrm>
          <a:prstGeom prst="roundRect">
            <a:avLst/>
          </a:prstGeom>
          <a:solidFill>
            <a:srgbClr val="3AAA35"/>
          </a:solidFill>
          <a:ln w="12700">
            <a:solidFill>
              <a:srgbClr val="3AAA35"/>
            </a:solidFill>
          </a:ln>
          <a:effectLst/>
        </p:spPr>
        <p:style>
          <a:lnRef idx="1">
            <a:srgbClr val="4F81BD"/>
          </a:lnRef>
          <a:fillRef idx="3">
            <a:srgbClr val="4F81BD"/>
          </a:fillRef>
          <a:effectRef idx="2">
            <a:srgbClr val="4F81BD"/>
          </a:effectRef>
          <a:fontRef idx="minor">
            <a:srgbClr val="FFFFFF"/>
          </a:fontRef>
        </p:style>
        <p:txBody>
          <a:bodyPr wrap="square" lIns="25400" tIns="12700" rIns="25400" bIns="12700"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QuestionFramer</a:t>
            </a:r>
          </a:p>
          <a:p>
            <a:pPr algn="ctr"/>
            <a:r>
              <a:rPr sz="800" b="0" i="0">
                <a:solidFill>
                  <a:srgbClr val="EAFFEA"/>
                </a:solidFill>
              </a:rPr>
              <a:t>ask (LLM-framed),</a:t>
            </a:r>
          </a:p>
          <a:p>
            <a:pPr algn="ctr"/>
            <a:r>
              <a:rPr sz="800" b="0" i="0">
                <a:solidFill>
                  <a:srgbClr val="EAFFEA"/>
                </a:solidFill>
              </a:rPr>
              <a:t>capture the reply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26518" y="4754433"/>
            <a:ext cx="1354632" cy="569715"/>
          </a:xfrm>
          <a:prstGeom prst="roundRect">
            <a:avLst/>
          </a:prstGeom>
          <a:solidFill>
            <a:srgbClr val="3AAA35"/>
          </a:solidFill>
          <a:ln w="12700">
            <a:solidFill>
              <a:srgbClr val="3AAA35"/>
            </a:solidFill>
          </a:ln>
          <a:effectLst/>
        </p:spPr>
        <p:style>
          <a:lnRef idx="1">
            <a:srgbClr val="4F81BD"/>
          </a:lnRef>
          <a:fillRef idx="3">
            <a:srgbClr val="4F81BD"/>
          </a:fillRef>
          <a:effectRef idx="2">
            <a:srgbClr val="4F81BD"/>
          </a:effectRef>
          <a:fontRef idx="minor">
            <a:srgbClr val="FFFFFF"/>
          </a:fontRef>
        </p:style>
        <p:txBody>
          <a:bodyPr wrap="square" lIns="25400" tIns="12700" rIns="25400" bIns="12700"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AnswerParser</a:t>
            </a:r>
          </a:p>
          <a:p>
            <a:pPr algn="ctr"/>
            <a:r>
              <a:rPr sz="800" b="0" i="0">
                <a:solidFill>
                  <a:srgbClr val="EAFFEA"/>
                </a:solidFill>
              </a:rPr>
              <a:t>reply → candidate</a:t>
            </a:r>
          </a:p>
          <a:p>
            <a:pPr algn="ctr"/>
            <a:r>
              <a:rPr sz="800" b="0" i="0">
                <a:solidFill>
                  <a:srgbClr val="EAFFEA"/>
                </a:solidFill>
              </a:rPr>
              <a:t>evidence (LLM)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873803" y="4754433"/>
            <a:ext cx="1354632" cy="569715"/>
          </a:xfrm>
          <a:prstGeom prst="roundRect">
            <a:avLst/>
          </a:prstGeom>
          <a:solidFill>
            <a:srgbClr val="3AAA35"/>
          </a:solidFill>
          <a:ln w="12700">
            <a:solidFill>
              <a:srgbClr val="3AAA35"/>
            </a:solidFill>
          </a:ln>
          <a:effectLst/>
        </p:spPr>
        <p:style>
          <a:lnRef idx="1">
            <a:srgbClr val="4F81BD"/>
          </a:lnRef>
          <a:fillRef idx="3">
            <a:srgbClr val="4F81BD"/>
          </a:fillRef>
          <a:effectRef idx="2">
            <a:srgbClr val="4F81BD"/>
          </a:effectRef>
          <a:fontRef idx="minor">
            <a:srgbClr val="FFFFFF"/>
          </a:fontRef>
        </p:style>
        <p:txBody>
          <a:bodyPr wrap="square" lIns="25400" tIns="12700" rIns="25400" bIns="12700"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ConflictResolver</a:t>
            </a:r>
          </a:p>
          <a:p>
            <a:pPr algn="ctr"/>
            <a:r>
              <a:rPr sz="800" b="0" i="0">
                <a:solidFill>
                  <a:srgbClr val="EAFFEA"/>
                </a:solidFill>
              </a:rPr>
              <a:t>spot contradictions,</a:t>
            </a:r>
          </a:p>
          <a:p>
            <a:pPr algn="ctr"/>
            <a:r>
              <a:rPr sz="800" b="0" i="0">
                <a:solidFill>
                  <a:srgbClr val="EAFFEA"/>
                </a:solidFill>
              </a:rPr>
              <a:t>re-open the slot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821087" y="4754433"/>
            <a:ext cx="1185303" cy="569715"/>
          </a:xfrm>
          <a:prstGeom prst="roundRect">
            <a:avLst/>
          </a:prstGeom>
          <a:solidFill>
            <a:srgbClr val="3AAA35"/>
          </a:solidFill>
          <a:ln w="12700">
            <a:solidFill>
              <a:srgbClr val="3AAA35"/>
            </a:solidFill>
          </a:ln>
          <a:effectLst/>
        </p:spPr>
        <p:style>
          <a:lnRef idx="1">
            <a:srgbClr val="4F81BD"/>
          </a:lnRef>
          <a:fillRef idx="3">
            <a:srgbClr val="4F81BD"/>
          </a:fillRef>
          <a:effectRef idx="2">
            <a:srgbClr val="4F81BD"/>
          </a:effectRef>
          <a:fontRef idx="minor">
            <a:srgbClr val="FFFFFF"/>
          </a:fontRef>
        </p:style>
        <p:txBody>
          <a:bodyPr wrap="square" lIns="25400" tIns="12700" rIns="25400" bIns="1270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Evaluator</a:t>
            </a:r>
          </a:p>
          <a:p>
            <a:pPr algn="ctr"/>
            <a:r>
              <a:rPr sz="800" b="0" i="0">
                <a:solidFill>
                  <a:srgbClr val="EAFFEA"/>
                </a:solidFill>
              </a:rPr>
              <a:t>commit / reframe /</a:t>
            </a:r>
          </a:p>
          <a:p>
            <a:pPr algn="ctr"/>
            <a:r>
              <a:rPr sz="800" b="0" i="0">
                <a:solidFill>
                  <a:srgbClr val="EAFFEA"/>
                </a:solidFill>
              </a:rPr>
              <a:t>default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837220" y="5046595"/>
            <a:ext cx="237061" cy="0"/>
          </a:xfrm>
          <a:prstGeom prst="line">
            <a:avLst/>
          </a:prstGeom>
          <a:ln w="22860">
            <a:solidFill>
              <a:srgbClr val="333333"/>
            </a:solidFill>
            <a:tailEnd type="triangle" w="med" len="med"/>
          </a:ln>
        </p:spPr>
        <p:style>
          <a:lnRef idx="2">
            <a:srgbClr val="4F81BD"/>
          </a:lnRef>
          <a:fillRef idx="0">
            <a:srgbClr val="4F81BD"/>
          </a:fillRef>
          <a:effectRef idx="1">
            <a:srgbClr val="4F81BD"/>
          </a:effectRef>
          <a:fontRef idx="minor">
            <a:srgbClr val="000000"/>
          </a:fontRef>
        </p:style>
      </p:cxnSp>
      <p:cxnSp>
        <p:nvCxnSpPr>
          <p:cNvPr id="38" name="Connector 37"/>
          <p:cNvCxnSpPr/>
          <p:nvPr/>
        </p:nvCxnSpPr>
        <p:spPr>
          <a:xfrm>
            <a:off x="3344249" y="5039291"/>
            <a:ext cx="634984" cy="0"/>
          </a:xfrm>
          <a:prstGeom prst="line">
            <a:avLst/>
          </a:prstGeom>
          <a:ln w="22860">
            <a:solidFill>
              <a:srgbClr val="333333"/>
            </a:solidFill>
            <a:tailEnd type="triangle" w="med" len="med"/>
          </a:ln>
        </p:spPr>
        <p:style>
          <a:lnRef idx="2">
            <a:srgbClr val="4F81BD"/>
          </a:lnRef>
          <a:fillRef idx="0">
            <a:srgbClr val="4F81BD"/>
          </a:fillRef>
          <a:effectRef idx="1">
            <a:srgbClr val="4F81BD"/>
          </a:effectRef>
          <a:fontRef idx="minor">
            <a:srgbClr val="000000"/>
          </a:fontRef>
        </p:style>
      </p:cxnSp>
      <p:sp>
        <p:nvSpPr>
          <p:cNvPr id="39" name="TextBox 38"/>
          <p:cNvSpPr txBox="1"/>
          <p:nvPr/>
        </p:nvSpPr>
        <p:spPr>
          <a:xfrm>
            <a:off x="2387540" y="4900514"/>
            <a:ext cx="2539936" cy="20451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800" b="0" i="0">
                <a:solidFill>
                  <a:srgbClr val="666666"/>
                </a:solidFill>
              </a:rPr>
              <a:t>missing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333866" y="5039291"/>
            <a:ext cx="592652" cy="0"/>
          </a:xfrm>
          <a:prstGeom prst="line">
            <a:avLst/>
          </a:prstGeom>
          <a:ln w="22860">
            <a:solidFill>
              <a:srgbClr val="333333"/>
            </a:solidFill>
            <a:tailEnd type="triangle" w="med" len="med"/>
          </a:ln>
        </p:spPr>
        <p:style>
          <a:lnRef idx="2">
            <a:srgbClr val="4F81BD"/>
          </a:lnRef>
          <a:fillRef idx="0">
            <a:srgbClr val="4F81BD"/>
          </a:fillRef>
          <a:effectRef idx="1">
            <a:srgbClr val="4F81BD"/>
          </a:effectRef>
          <a:fontRef idx="minor">
            <a:srgbClr val="000000"/>
          </a:fontRef>
        </p:style>
      </p:cxnSp>
      <p:cxnSp>
        <p:nvCxnSpPr>
          <p:cNvPr id="41" name="Connector 40"/>
          <p:cNvCxnSpPr/>
          <p:nvPr/>
        </p:nvCxnSpPr>
        <p:spPr>
          <a:xfrm>
            <a:off x="7281151" y="5039291"/>
            <a:ext cx="592652" cy="0"/>
          </a:xfrm>
          <a:prstGeom prst="line">
            <a:avLst/>
          </a:prstGeom>
          <a:ln w="22860">
            <a:solidFill>
              <a:srgbClr val="333333"/>
            </a:solidFill>
            <a:tailEnd type="triangle" w="med" len="med"/>
          </a:ln>
        </p:spPr>
        <p:style>
          <a:lnRef idx="2">
            <a:srgbClr val="4F81BD"/>
          </a:lnRef>
          <a:fillRef idx="0">
            <a:srgbClr val="4F81BD"/>
          </a:fillRef>
          <a:effectRef idx="1">
            <a:srgbClr val="4F81BD"/>
          </a:effectRef>
          <a:fontRef idx="minor">
            <a:srgbClr val="000000"/>
          </a:fontRef>
        </p:style>
      </p:cxnSp>
      <p:cxnSp>
        <p:nvCxnSpPr>
          <p:cNvPr id="42" name="Connector 41"/>
          <p:cNvCxnSpPr/>
          <p:nvPr/>
        </p:nvCxnSpPr>
        <p:spPr>
          <a:xfrm>
            <a:off x="9228435" y="5039291"/>
            <a:ext cx="592652" cy="0"/>
          </a:xfrm>
          <a:prstGeom prst="line">
            <a:avLst/>
          </a:prstGeom>
          <a:ln w="22860">
            <a:solidFill>
              <a:srgbClr val="333333"/>
            </a:solidFill>
            <a:tailEnd type="triangle" w="med" len="med"/>
          </a:ln>
        </p:spPr>
        <p:style>
          <a:lnRef idx="2">
            <a:srgbClr val="4F81BD"/>
          </a:lnRef>
          <a:fillRef idx="0">
            <a:srgbClr val="4F81BD"/>
          </a:fillRef>
          <a:effectRef idx="1">
            <a:srgbClr val="4F81BD"/>
          </a:effectRef>
          <a:fontRef idx="minor">
            <a:srgbClr val="000000"/>
          </a:fontRef>
        </p:style>
      </p:cxnSp>
      <p:sp>
        <p:nvSpPr>
          <p:cNvPr id="43" name="TextBox 42"/>
          <p:cNvSpPr txBox="1"/>
          <p:nvPr/>
        </p:nvSpPr>
        <p:spPr>
          <a:xfrm>
            <a:off x="8254793" y="4900514"/>
            <a:ext cx="2539936" cy="20451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800" b="0" i="0">
                <a:solidFill>
                  <a:srgbClr val="666666"/>
                </a:solidFill>
              </a:rPr>
              <a:t>no conflict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2709265" y="5324149"/>
            <a:ext cx="0" cy="467459"/>
          </a:xfrm>
          <a:prstGeom prst="line">
            <a:avLst/>
          </a:prstGeom>
          <a:ln w="22860">
            <a:solidFill>
              <a:srgbClr val="333333"/>
            </a:solidFill>
            <a:tailEnd type="triangle" w="med" len="med"/>
          </a:ln>
        </p:spPr>
        <p:style>
          <a:lnRef idx="2">
            <a:srgbClr val="4F81BD"/>
          </a:lnRef>
          <a:fillRef idx="0">
            <a:srgbClr val="4F81BD"/>
          </a:fillRef>
          <a:effectRef idx="1">
            <a:srgbClr val="4F81BD"/>
          </a:effectRef>
          <a:fontRef idx="minor">
            <a:srgbClr val="000000"/>
          </a:fontRef>
        </p:style>
      </p:cxnSp>
      <p:sp>
        <p:nvSpPr>
          <p:cNvPr id="45" name="TextBox 44"/>
          <p:cNvSpPr txBox="1"/>
          <p:nvPr/>
        </p:nvSpPr>
        <p:spPr>
          <a:xfrm>
            <a:off x="2760064" y="5484838"/>
            <a:ext cx="1185303" cy="146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</a:rPr>
              <a:t>all slots filled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1854153" y="5981513"/>
            <a:ext cx="177796" cy="0"/>
          </a:xfrm>
          <a:prstGeom prst="line">
            <a:avLst/>
          </a:prstGeom>
          <a:ln w="22860">
            <a:solidFill>
              <a:srgbClr val="333333"/>
            </a:solidFill>
            <a:tailEnd type="triangle" w="med" len="med"/>
          </a:ln>
        </p:spPr>
        <p:style>
          <a:lnRef idx="2">
            <a:srgbClr val="4F81BD"/>
          </a:lnRef>
          <a:fillRef idx="0">
            <a:srgbClr val="4F81BD"/>
          </a:fillRef>
          <a:effectRef idx="1">
            <a:srgbClr val="4F81BD"/>
          </a:effectRef>
          <a:fontRef idx="minor">
            <a:srgbClr val="000000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8551119" y="4462271"/>
            <a:ext cx="0" cy="292162"/>
          </a:xfrm>
          <a:prstGeom prst="line">
            <a:avLst/>
          </a:prstGeom>
          <a:ln w="19050">
            <a:solidFill>
              <a:srgbClr val="B51F1F"/>
            </a:solidFill>
          </a:ln>
        </p:spPr>
        <p:style>
          <a:lnRef idx="2">
            <a:srgbClr val="4F81BD"/>
          </a:lnRef>
          <a:fillRef idx="0">
            <a:srgbClr val="4F81BD"/>
          </a:fillRef>
          <a:effectRef idx="1">
            <a:srgbClr val="4F81BD"/>
          </a:effectRef>
          <a:fontRef idx="minor">
            <a:srgbClr val="000000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4656550" y="4462271"/>
            <a:ext cx="3894569" cy="0"/>
          </a:xfrm>
          <a:prstGeom prst="line">
            <a:avLst/>
          </a:prstGeom>
          <a:ln w="19050">
            <a:solidFill>
              <a:srgbClr val="B51F1F"/>
            </a:solidFill>
          </a:ln>
        </p:spPr>
        <p:style>
          <a:lnRef idx="2">
            <a:srgbClr val="4F81BD"/>
          </a:lnRef>
          <a:fillRef idx="0">
            <a:srgbClr val="4F81BD"/>
          </a:fillRef>
          <a:effectRef idx="1">
            <a:srgbClr val="4F81BD"/>
          </a:effectRef>
          <a:fontRef idx="minor">
            <a:srgbClr val="000000"/>
          </a:fontRef>
        </p:style>
      </p:cxnSp>
      <p:cxnSp>
        <p:nvCxnSpPr>
          <p:cNvPr id="49" name="Connector 48"/>
          <p:cNvCxnSpPr/>
          <p:nvPr/>
        </p:nvCxnSpPr>
        <p:spPr>
          <a:xfrm>
            <a:off x="4656550" y="4462271"/>
            <a:ext cx="0" cy="292162"/>
          </a:xfrm>
          <a:prstGeom prst="line">
            <a:avLst/>
          </a:prstGeom>
          <a:ln w="19050">
            <a:solidFill>
              <a:srgbClr val="B51F1F"/>
            </a:solidFill>
            <a:tailEnd type="triangle" w="med" len="med"/>
          </a:ln>
        </p:spPr>
        <p:style>
          <a:lnRef idx="2">
            <a:srgbClr val="4F81BD"/>
          </a:lnRef>
          <a:fillRef idx="0">
            <a:srgbClr val="4F81BD"/>
          </a:fillRef>
          <a:effectRef idx="1">
            <a:srgbClr val="4F81BD"/>
          </a:effectRef>
          <a:fontRef idx="minor">
            <a:srgbClr val="000000"/>
          </a:fontRef>
        </p:style>
      </p:cxnSp>
      <p:sp>
        <p:nvSpPr>
          <p:cNvPr id="50" name="TextBox 49"/>
          <p:cNvSpPr txBox="1"/>
          <p:nvPr/>
        </p:nvSpPr>
        <p:spPr>
          <a:xfrm>
            <a:off x="5333866" y="4316190"/>
            <a:ext cx="2539936" cy="20451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850" b="0" i="0">
                <a:solidFill>
                  <a:srgbClr val="B51F1F"/>
                </a:solidFill>
              </a:rPr>
              <a:t>conflict → ask either/or</a:t>
            </a:r>
          </a:p>
        </p:txBody>
      </p:sp>
      <p:cxnSp>
        <p:nvCxnSpPr>
          <p:cNvPr id="51" name="Connector 50"/>
          <p:cNvCxnSpPr/>
          <p:nvPr/>
        </p:nvCxnSpPr>
        <p:spPr>
          <a:xfrm flipV="1">
            <a:off x="10413739" y="4257758"/>
            <a:ext cx="0" cy="496675"/>
          </a:xfrm>
          <a:prstGeom prst="line">
            <a:avLst/>
          </a:prstGeom>
          <a:ln w="19050">
            <a:solidFill>
              <a:srgbClr val="B51F1F"/>
            </a:solidFill>
          </a:ln>
        </p:spPr>
        <p:style>
          <a:lnRef idx="2">
            <a:srgbClr val="4F81BD"/>
          </a:lnRef>
          <a:fillRef idx="0">
            <a:srgbClr val="4F81BD"/>
          </a:fillRef>
          <a:effectRef idx="1">
            <a:srgbClr val="4F81BD"/>
          </a:effectRef>
          <a:fontRef idx="minor">
            <a:srgbClr val="000000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4444888" y="4257758"/>
            <a:ext cx="5968851" cy="0"/>
          </a:xfrm>
          <a:prstGeom prst="line">
            <a:avLst/>
          </a:prstGeom>
          <a:ln w="19050">
            <a:solidFill>
              <a:srgbClr val="B51F1F"/>
            </a:solidFill>
          </a:ln>
        </p:spPr>
        <p:style>
          <a:lnRef idx="2">
            <a:srgbClr val="4F81BD"/>
          </a:lnRef>
          <a:fillRef idx="0">
            <a:srgbClr val="4F81BD"/>
          </a:fillRef>
          <a:effectRef idx="1">
            <a:srgbClr val="4F81BD"/>
          </a:effectRef>
          <a:fontRef idx="minor">
            <a:srgbClr val="000000"/>
          </a:fontRef>
        </p:style>
      </p:cxnSp>
      <p:cxnSp>
        <p:nvCxnSpPr>
          <p:cNvPr id="53" name="Connector 52"/>
          <p:cNvCxnSpPr/>
          <p:nvPr/>
        </p:nvCxnSpPr>
        <p:spPr>
          <a:xfrm>
            <a:off x="4444888" y="4257758"/>
            <a:ext cx="0" cy="496675"/>
          </a:xfrm>
          <a:prstGeom prst="line">
            <a:avLst/>
          </a:prstGeom>
          <a:ln w="19050">
            <a:solidFill>
              <a:srgbClr val="B51F1F"/>
            </a:solidFill>
            <a:tailEnd type="triangle" w="med" len="med"/>
          </a:ln>
        </p:spPr>
        <p:style>
          <a:lnRef idx="2">
            <a:srgbClr val="4F81BD"/>
          </a:lnRef>
          <a:fillRef idx="0">
            <a:srgbClr val="4F81BD"/>
          </a:fillRef>
          <a:effectRef idx="1">
            <a:srgbClr val="4F81BD"/>
          </a:effectRef>
          <a:fontRef idx="minor">
            <a:srgbClr val="000000"/>
          </a:fontRef>
        </p:style>
      </p:cxnSp>
      <p:sp>
        <p:nvSpPr>
          <p:cNvPr id="54" name="TextBox 53"/>
          <p:cNvSpPr txBox="1"/>
          <p:nvPr/>
        </p:nvSpPr>
        <p:spPr>
          <a:xfrm>
            <a:off x="6180512" y="4111677"/>
            <a:ext cx="2539936" cy="20451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850" b="0" i="0">
                <a:solidFill>
                  <a:srgbClr val="B51F1F"/>
                </a:solidFill>
              </a:rPr>
              <a:t>answer not usable → reframe</a:t>
            </a:r>
          </a:p>
        </p:txBody>
      </p:sp>
      <p:cxnSp>
        <p:nvCxnSpPr>
          <p:cNvPr id="55" name="Connector 54"/>
          <p:cNvCxnSpPr>
            <a:cxnSpLocks/>
          </p:cNvCxnSpPr>
          <p:nvPr/>
        </p:nvCxnSpPr>
        <p:spPr>
          <a:xfrm flipH="1" flipV="1">
            <a:off x="10752396" y="4053244"/>
            <a:ext cx="6485" cy="701189"/>
          </a:xfrm>
          <a:prstGeom prst="line">
            <a:avLst/>
          </a:prstGeom>
          <a:ln w="19050">
            <a:solidFill>
              <a:srgbClr val="1E8449"/>
            </a:solidFill>
          </a:ln>
        </p:spPr>
        <p:style>
          <a:lnRef idx="2">
            <a:srgbClr val="4F81BD"/>
          </a:lnRef>
          <a:fillRef idx="0">
            <a:srgbClr val="4F81BD"/>
          </a:fillRef>
          <a:effectRef idx="1">
            <a:srgbClr val="4F81BD"/>
          </a:effectRef>
          <a:fontRef idx="minor">
            <a:srgbClr val="000000"/>
          </a:fontRef>
        </p:style>
      </p:cxnSp>
      <p:cxnSp>
        <p:nvCxnSpPr>
          <p:cNvPr id="56" name="Connector 55"/>
          <p:cNvCxnSpPr>
            <a:cxnSpLocks/>
          </p:cNvCxnSpPr>
          <p:nvPr/>
        </p:nvCxnSpPr>
        <p:spPr>
          <a:xfrm flipH="1">
            <a:off x="2709265" y="4053244"/>
            <a:ext cx="8043131" cy="0"/>
          </a:xfrm>
          <a:prstGeom prst="line">
            <a:avLst/>
          </a:prstGeom>
          <a:ln w="19050">
            <a:solidFill>
              <a:srgbClr val="1E8449"/>
            </a:solidFill>
          </a:ln>
        </p:spPr>
        <p:style>
          <a:lnRef idx="2">
            <a:srgbClr val="4F81BD"/>
          </a:lnRef>
          <a:fillRef idx="0">
            <a:srgbClr val="4F81BD"/>
          </a:fillRef>
          <a:effectRef idx="1">
            <a:srgbClr val="4F81BD"/>
          </a:effectRef>
          <a:fontRef idx="minor">
            <a:srgbClr val="000000"/>
          </a:fontRef>
        </p:style>
      </p:cxnSp>
      <p:cxnSp>
        <p:nvCxnSpPr>
          <p:cNvPr id="57" name="Connector 56"/>
          <p:cNvCxnSpPr/>
          <p:nvPr/>
        </p:nvCxnSpPr>
        <p:spPr>
          <a:xfrm>
            <a:off x="2709265" y="4053244"/>
            <a:ext cx="0" cy="701189"/>
          </a:xfrm>
          <a:prstGeom prst="line">
            <a:avLst/>
          </a:prstGeom>
          <a:ln w="19050">
            <a:solidFill>
              <a:srgbClr val="1E8449"/>
            </a:solidFill>
            <a:tailEnd type="triangle" w="med" len="med"/>
          </a:ln>
        </p:spPr>
        <p:style>
          <a:lnRef idx="2">
            <a:srgbClr val="4F81BD"/>
          </a:lnRef>
          <a:fillRef idx="0">
            <a:srgbClr val="4F81BD"/>
          </a:fillRef>
          <a:effectRef idx="1">
            <a:srgbClr val="4F81BD"/>
          </a:effectRef>
          <a:fontRef idx="minor">
            <a:srgbClr val="000000"/>
          </a:fontRef>
        </p:style>
      </p:cxnSp>
      <p:sp>
        <p:nvSpPr>
          <p:cNvPr id="58" name="TextBox 57"/>
          <p:cNvSpPr txBox="1"/>
          <p:nvPr/>
        </p:nvSpPr>
        <p:spPr>
          <a:xfrm>
            <a:off x="4656550" y="3892111"/>
            <a:ext cx="2539936" cy="20451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850" b="0" i="0" dirty="0">
                <a:solidFill>
                  <a:srgbClr val="1E8449"/>
                </a:solidFill>
              </a:rPr>
              <a:t>usable / committed / default → next slot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386582" y="5353365"/>
            <a:ext cx="2539936" cy="20451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800" b="0" i="1">
                <a:solidFill>
                  <a:srgbClr val="1F6FB2"/>
                </a:solidFill>
              </a:rPr>
              <a:t>↑ question out via Behaviour-TTS · answer in via Perception-ASR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33866" y="5353365"/>
            <a:ext cx="2539936" cy="20451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800" b="0" i="1">
                <a:solidFill>
                  <a:srgbClr val="B51F1F"/>
                </a:solidFill>
              </a:rPr>
              <a:t>↑ uses Interpretation-LLM</a:t>
            </a:r>
          </a:p>
        </p:txBody>
      </p:sp>
      <p:cxnSp>
        <p:nvCxnSpPr>
          <p:cNvPr id="61" name="Connector 60"/>
          <p:cNvCxnSpPr>
            <a:cxnSpLocks/>
          </p:cNvCxnSpPr>
          <p:nvPr/>
        </p:nvCxnSpPr>
        <p:spPr>
          <a:xfrm flipV="1">
            <a:off x="3301917" y="3015521"/>
            <a:ext cx="4402556" cy="2965992"/>
          </a:xfrm>
          <a:prstGeom prst="bentConnector3">
            <a:avLst>
              <a:gd name="adj1" fmla="val 185289"/>
            </a:avLst>
          </a:prstGeom>
          <a:ln w="19050">
            <a:solidFill>
              <a:srgbClr val="1E8449"/>
            </a:solidFill>
            <a:prstDash val="dash"/>
          </a:ln>
        </p:spPr>
        <p:style>
          <a:lnRef idx="2">
            <a:srgbClr val="4F81BD"/>
          </a:lnRef>
          <a:fillRef idx="0">
            <a:srgbClr val="4F81BD"/>
          </a:fillRef>
          <a:effectRef idx="1">
            <a:srgbClr val="4F81BD"/>
          </a:effectRef>
          <a:fontRef idx="minor">
            <a:srgbClr val="000000"/>
          </a:fontRef>
        </p:style>
      </p:cxnSp>
      <p:cxnSp>
        <p:nvCxnSpPr>
          <p:cNvPr id="62" name="Connector 61"/>
          <p:cNvCxnSpPr>
            <a:cxnSpLocks/>
          </p:cNvCxnSpPr>
          <p:nvPr/>
        </p:nvCxnSpPr>
        <p:spPr>
          <a:xfrm flipH="1" flipV="1">
            <a:off x="7696315" y="2775038"/>
            <a:ext cx="8158" cy="233729"/>
          </a:xfrm>
          <a:prstGeom prst="line">
            <a:avLst/>
          </a:prstGeom>
          <a:ln w="19050">
            <a:solidFill>
              <a:srgbClr val="1E8449"/>
            </a:solidFill>
            <a:prstDash val="dash"/>
            <a:tailEnd type="triangle" w="med" len="med"/>
          </a:ln>
        </p:spPr>
        <p:style>
          <a:lnRef idx="2">
            <a:srgbClr val="4F81BD"/>
          </a:lnRef>
          <a:fillRef idx="0">
            <a:srgbClr val="4F81BD"/>
          </a:fillRef>
          <a:effectRef idx="1">
            <a:srgbClr val="4F81BD"/>
          </a:effectRef>
          <a:fontRef idx="minor">
            <a:srgbClr val="000000"/>
          </a:fontRef>
        </p:style>
      </p:cxnSp>
      <p:sp>
        <p:nvSpPr>
          <p:cNvPr id="63" name="TextBox 62"/>
          <p:cNvSpPr txBox="1"/>
          <p:nvPr/>
        </p:nvSpPr>
        <p:spPr>
          <a:xfrm>
            <a:off x="4571885" y="5835432"/>
            <a:ext cx="2539936" cy="20451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850" b="0" i="0" dirty="0">
                <a:solidFill>
                  <a:srgbClr val="1E8449"/>
                </a:solidFill>
              </a:rPr>
              <a:t>Finish → returns the 6-slot evidence to the FSM → Bayesian Reasoning (above)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" y="6565392"/>
            <a:ext cx="1170432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777777"/>
                </a:solidFill>
              </a:rPr>
              <a:t>Single route: perception → interpretation → dialogue (LangGraph, looping per turn) → Bayesian reasoning → behaviour → Pepper. One recommendation is reasoned once all 6 preferences are gathered.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2026-07-15T15:12:52Z</dcterms:created>
  <dcterms:modified xsi:type="dcterms:W3CDTF">2026-07-15T15:12:52Z</dcterms:modified>
</cp:coreProperties>
</file>