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sldIdLst>
    <p:sldId id="257" r:id="rId2"/>
    <p:sldId id="259" r:id="rId3"/>
    <p:sldId id="258" r:id="rId4"/>
    <p:sldId id="269" r:id="rId34"/>
    <p:sldId id="266" r:id="rId8"/>
    <p:sldId id="260" r:id="rId5"/>
    <p:sldId id="314" r:id="rId52"/>
    <p:sldId id="278" r:id="rId11"/>
    <p:sldId id="316" r:id="rId54"/>
    <p:sldId id="267" r:id="rId9"/>
    <p:sldId id="286" r:id="rId14"/>
    <p:sldId id="317" r:id="rId55"/>
    <p:sldId id="315" r:id="rId53"/>
    <p:sldId id="295" r:id="rId23"/>
    <p:sldId id="320" r:id="rId58"/>
    <p:sldId id="318" r:id="rId56"/>
    <p:sldId id="296" r:id="rId24"/>
    <p:sldId id="299" r:id="rId29"/>
    <p:sldId id="300" r:id="rId30"/>
    <p:sldId id="319" r:id="rId57"/>
    <p:sldId id="30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nesh Praveen Raja" initials="SP" lastIdx="1" clrIdx="0">
    <p:extLst>
      <p:ext uri="{19B8F6BF-5375-455C-9EA6-DF929625EA0E}">
        <p15:presenceInfo xmlns:p15="http://schemas.microsoft.com/office/powerpoint/2012/main" userId="144f9c98143f5f6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6ABA"/>
    <a:srgbClr val="C0392B"/>
    <a:srgbClr val="FFD24D"/>
    <a:srgbClr val="FFF3CD"/>
    <a:srgbClr val="ED7D31"/>
    <a:srgbClr val="AD6300"/>
    <a:srgbClr val="B43500"/>
    <a:srgbClr val="AD8330"/>
    <a:srgbClr val="155F82"/>
    <a:srgbClr val="1550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0.xml"/><Relationship Id="rId11" Type="http://schemas.openxmlformats.org/officeDocument/2006/relationships/slide" Target="slides/slide8.xml"/><Relationship Id="rId14" Type="http://schemas.openxmlformats.org/officeDocument/2006/relationships/slide" Target="slides/slide11.xml"/><Relationship Id="rId23" Type="http://schemas.openxmlformats.org/officeDocument/2006/relationships/slide" Target="slides/slide14.xml"/><Relationship Id="rId24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3" Type="http://schemas.openxmlformats.org/officeDocument/2006/relationships/slide" Target="slides/slide21.xml"/><Relationship Id="rId34" Type="http://schemas.openxmlformats.org/officeDocument/2006/relationships/slide" Target="slides/slide4.xml"/><Relationship Id="rId46" Type="http://schemas.openxmlformats.org/officeDocument/2006/relationships/notesMaster" Target="notesMasters/notesMaster1.xml"/><Relationship Id="rId47" Type="http://schemas.openxmlformats.org/officeDocument/2006/relationships/commentAuthors" Target="commentAuthors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openxmlformats.org/officeDocument/2006/relationships/slide" Target="slides/slide7.xml"/><Relationship Id="rId53" Type="http://schemas.openxmlformats.org/officeDocument/2006/relationships/slide" Target="slides/slide13.xml"/><Relationship Id="rId54" Type="http://schemas.openxmlformats.org/officeDocument/2006/relationships/slide" Target="slides/slide9.xml"/><Relationship Id="rId55" Type="http://schemas.openxmlformats.org/officeDocument/2006/relationships/slide" Target="slides/slide12.xml"/><Relationship Id="rId56" Type="http://schemas.openxmlformats.org/officeDocument/2006/relationships/slide" Target="slides/slide16.xml"/><Relationship Id="rId57" Type="http://schemas.openxmlformats.org/officeDocument/2006/relationships/slide" Target="slides/slide20.xml"/><Relationship Id="rId58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CCEDE-05FF-4E6A-82C6-539D37662FB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7E914-68F4-4083-9552-95D08A11B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242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54818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9060050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414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B7FA50-900E-77DC-576E-5EF849F67FA8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73E86-B325-FAC1-FAFC-574A0EBE3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81566-2D9A-D46B-6C06-0F407E7F1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F7A5E-975B-B958-EC0D-8F56AD584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69C5F-4CC7-4B2B-8834-AC3180DD852D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25DD0-9B50-63E5-D661-ECAACAD8C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C5A17-7D3B-A6E4-4FC2-32535312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250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0C6B5-C5D0-6164-87AC-DDBB81890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021D0-DD45-0E58-00BB-1D4F09ACF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E5995-FAF2-7EBE-5E47-B6032EBD2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BB80C-8349-4CD1-B2E3-423692AB51EA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D689D-992F-755E-35CF-D358A1A39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D4495-3464-2128-1AE0-FE5AA3D1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868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7A4BB-9C0C-9419-0E87-92837A800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6654A-A05B-42E8-E801-AE3394DFD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D1D07-EF05-2231-0971-9DFEE69C7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B886-3548-472C-9558-E660342ABF4A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3196F-789B-0040-A804-C32B9D706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82C37-5E99-6CC9-9597-E34AF1C94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031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98F0F-79B0-A203-CFF8-9778BB321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9ACC0-A398-BBA4-EEA7-6FD7F5D00B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4735E-5501-A704-3002-F255BBA6E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DEF47-B70F-75F0-8C47-2AB01B464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D9BC3-0487-4A38-8401-633E6B616C74}" type="datetime1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727DD-9F7E-0FF5-341D-74DF704A9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71314-8DEF-E408-244F-001BBA759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114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AA36C-D32B-65AC-881B-A9570DB91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FF6D5-1ACB-C2DA-AA60-D928811E7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81177-5CC3-9621-350C-42DE8B0B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C6A45-712A-908A-E841-1FB7512F3D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4DD926-8AFE-4CE4-4DEF-9E35E02514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34D9D4-26E2-E02A-23E9-EEB76B99F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87869-79FF-407D-B6BD-D26D701C90E9}" type="datetime1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546DC1-17CF-830B-618E-781D205FD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435159-8624-AA32-8C5D-6E3F9BFB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002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E4CFB-F84A-9912-A3A7-C79C3883A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03DDF-D399-0783-6C01-A20D1FD87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15B8-598C-4477-B3EB-8639DB416A1D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2BC5D-CA71-643D-1E3C-2DEA5A2A2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D14B6-CF2D-9224-A139-D43C9E42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330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96F374-6618-0CA3-C277-B5872CB54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287EA-E433-4464-A3F2-73A6FF7AA79F}" type="datetime1">
              <a:rPr lang="en-IN" smtClean="0"/>
              <a:t>03-05-2026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353805-77B3-456D-0374-6C51EEA58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4FF-5ABA-68ED-5DB9-1DE760EA7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609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4660-3630-2D41-9DA0-E233D21A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782DB-C557-5D4C-A5CD-0F6BC0DA8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B13568-71FD-1BBD-72B6-5C60B5335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89B80-E659-97F8-E3E2-6EFA79266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5A5A-6F4D-4C2E-8E11-4DEF5162AEF0}" type="datetime1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EA037-FE24-E945-93CD-01E1572A4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26C27-67F5-A30F-E4AC-74EBE3E0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724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63D3-2E39-F4F2-E2EA-BBDC5869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752516-0AA4-C271-5BB3-DFAB13E38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5B2FE0-705F-52B9-6062-230078905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79483-73F0-1E6C-F61D-4606375E8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35FD-A8AC-4A64-81AA-361171365188}" type="datetime1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EDCCA-AC4E-F061-4525-C3562F47D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AF0E3-76E2-4114-31D9-6E5AA5198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978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63E2D-A670-494F-BCA9-C1BEB930A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71B77-6BC0-257D-27BB-C6F47C5D2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EDDC5-9E30-EEC5-C61F-C9A2DC0DC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438-2C4D-4194-A3E9-860574FE8EF9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93F47-7990-369B-86C2-1B1D684BF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45F46-E5D7-A845-9D06-6A3EA0945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63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0D4AA0-1279-DF8D-D3C2-126DA3C17C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8C2D9-E00A-C8EF-E790-2CAB9C5D2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A9B23-3C15-71CD-3A76-16C2922D2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464-CECA-4684-B788-EAC3DD1C70EE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4FF38-7816-BE51-9541-83FE1FB2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CBCAE-0A26-1C2F-037C-F5CF063B4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8867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CA3356-B740-E146-42D0-C3EF0306F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21DC3-E2CE-8EE3-E3AD-7DE5F597F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1582D-3E40-4064-163D-97AE1AED2E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F6DAE-D04C-47C8-989C-8D3C5E5DC2FE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7F7DE-26A2-71E2-E23E-6A872C2A2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Post-Hoc Correction of 3D Voxel-Based Semantic Grids via Contextual Learning Models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1D2CB-CDCA-38A2-2B49-83BEC4E0A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76FF4-D785-4CFB-BD3E-192B384FC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135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" name="Picture 5">
            <a:extLst>
              <a:ext uri="{FF2B5EF4-FFF2-40B4-BE49-F238E27FC236}">
                <a16:creationId xmlns:a16="http://schemas.microsoft.com/office/drawing/2014/main" id="{CE3FD343-0462-BAAB-3334-CDC34CB57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943" y="485377"/>
            <a:ext cx="2582670" cy="68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8115132" name="object 2"/>
          <p:cNvPicPr/>
          <p:nvPr/>
        </p:nvPicPr>
        <p:blipFill>
          <a:blip r:embed="rId4"/>
          <a:stretch/>
        </p:blipFill>
        <p:spPr bwMode="auto">
          <a:xfrm>
            <a:off x="383192" y="485378"/>
            <a:ext cx="3808179" cy="684616"/>
          </a:xfrm>
          <a:prstGeom prst="rect">
            <a:avLst/>
          </a:prstGeom>
        </p:spPr>
      </p:pic>
      <p:pic>
        <p:nvPicPr>
          <p:cNvPr id="606056789" name="object 4"/>
          <p:cNvPicPr/>
          <p:nvPr/>
        </p:nvPicPr>
        <p:blipFill>
          <a:blip r:embed="rId5"/>
          <a:stretch/>
        </p:blipFill>
        <p:spPr bwMode="auto">
          <a:xfrm>
            <a:off x="9611532" y="472034"/>
            <a:ext cx="2051127" cy="684564"/>
          </a:xfrm>
          <a:prstGeom prst="rect">
            <a:avLst/>
          </a:prstGeom>
        </p:spPr>
      </p:pic>
      <p:sp>
        <p:nvSpPr>
          <p:cNvPr id="290325867" name="object 5"/>
          <p:cNvSpPr txBox="1">
            <a:spLocks noGrp="1"/>
          </p:cNvSpPr>
          <p:nvPr>
            <p:ph type="ctrTitle"/>
          </p:nvPr>
        </p:nvSpPr>
        <p:spPr bwMode="auto">
          <a:xfrm>
            <a:off x="383192" y="2493375"/>
            <a:ext cx="10621358" cy="3480975"/>
          </a:xfrm>
          <a:prstGeom prst="rect">
            <a:avLst/>
          </a:prstGeom>
        </p:spPr>
        <p:txBody>
          <a:bodyPr vert="horz" wrap="square" lIns="0" tIns="33550" rIns="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264"/>
              </a:spcBef>
              <a:defRPr/>
            </a:pPr>
            <a:r>
              <a:rPr lang="en-US" sz="2800" b="1" dirty="0">
                <a:solidFill>
                  <a:srgbClr val="016ABA"/>
                </a:solidFill>
                <a:latin typeface="Helvetica" pitchFamily="2" charset="0"/>
              </a:rPr>
              <a:t>Social Event Recommendation Agent on Pepper</a:t>
            </a:r>
            <a:br>
              <a:rPr lang="en-US" sz="2000" dirty="0">
                <a:latin typeface="Helvetica" pitchFamily="2" charset="0"/>
              </a:rPr>
            </a:br>
            <a:r>
              <a:rPr lang="en-US" sz="1800" dirty="0">
                <a:latin typeface="Helvetica" pitchFamily="2" charset="0"/>
              </a:rPr>
              <a:t>July 13, 2026</a:t>
            </a:r>
            <a:br>
              <a:rPr lang="en-US" sz="2000" dirty="0">
                <a:latin typeface="Helvetica" pitchFamily="2" charset="0"/>
              </a:rPr>
            </a:br>
            <a:br>
              <a:rPr lang="en-US" sz="2000" dirty="0">
                <a:latin typeface="Helvetica" pitchFamily="2" charset="0"/>
              </a:rPr>
            </a:br>
            <a:r>
              <a:rPr lang="en-US" sz="2000" dirty="0">
                <a:latin typeface="Helvetica" pitchFamily="2" charset="0"/>
              </a:rPr>
              <a:t>Sunesh Praveen Raja Sundarasami</a:t>
            </a:r>
            <a:br>
              <a:rPr lang="en-US" sz="2000" dirty="0">
                <a:latin typeface="Helvetica" pitchFamily="2" charset="0"/>
              </a:rPr>
            </a:br>
            <a:r>
              <a:rPr lang="en-US" sz="1800" dirty="0">
                <a:latin typeface="Helvetica" pitchFamily="2" charset="0"/>
              </a:rPr>
              <a:t>Hochschule Bonn-Rhein-Sieg | M.Sc. Autonomous Systems</a:t>
            </a:r>
            <a:br>
              <a:rPr lang="en-US" sz="2000" dirty="0">
                <a:latin typeface="Helvetica" pitchFamily="2" charset="0"/>
              </a:rPr>
            </a:br>
            <a:br>
              <a:rPr lang="en-US" sz="2000" dirty="0">
                <a:latin typeface="Helvetica" pitchFamily="2" charset="0"/>
              </a:rPr>
            </a:br>
            <a:r>
              <a:rPr lang="en-US" sz="1800" i="1" dirty="0">
                <a:latin typeface="Helvetica" pitchFamily="2" charset="0"/>
              </a:rPr>
              <a:t>Course</a:t>
            </a:r>
            <a:br>
              <a:rPr lang="en-US" sz="1800" dirty="0">
                <a:latin typeface="Helvetica" pitchFamily="2" charset="0"/>
              </a:rPr>
            </a:br>
            <a:r>
              <a:rPr lang="en-US" sz="1800" dirty="0">
                <a:latin typeface="Helvetica" pitchFamily="2" charset="0"/>
              </a:rPr>
              <a:t>Human-Centered Interaction with Collaborative Robots (HCICR)</a:t>
            </a:r>
            <a:br>
              <a:rPr lang="en-US" sz="3600" b="1" spc="-19" dirty="0">
                <a:solidFill>
                  <a:srgbClr val="006ABA"/>
                </a:solidFill>
                <a:latin typeface="Helvetica" pitchFamily="2" charset="0"/>
                <a:ea typeface="Arial"/>
                <a:cs typeface="Arial"/>
              </a:rPr>
            </a:br>
            <a:endParaRPr sz="3600" dirty="0">
              <a:latin typeface="Helvetica" pitchFamily="2" charset="0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7B1BC-588F-D67C-2E49-AC016002E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Helvetica" pitchFamily="2" charset="0"/>
              </a:rPr>
              <a:t>Introduction &amp; Motivation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Dialogue Manager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Bayesian Reasoning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Behaviour &amp; Integration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Conclusion &amp; Future Work</a:t>
            </a:r>
          </a:p>
          <a:p>
            <a:endParaRPr lang="en-IN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E39B0D-6CC0-30DE-0FBE-5459080D2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Social Event Recommendation Agent on Pepper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A25A8A-9F20-E4B7-92D6-DE4C8533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310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3D1F-ED70-79F3-F5B7-A2BE7917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Why This Project?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1193-5A89-5D3D-4939-32F24CD31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>
            <a:normAutofit/>
          </a:bodyPr>
          <a:lstStyle/>
          <a:p>
            <a:r>
              <a:rPr lang="en-US" sz="2400" dirty="0">
                <a:latin typeface="Helvetica" pitchFamily="2" charset="0"/>
              </a:rPr>
              <a:t>People shouldn't have to fill out a preference form - they should just talk</a:t>
            </a:r>
          </a:p>
          <a:p>
            <a:r>
              <a:rPr lang="en-US" sz="2400" dirty="0">
                <a:latin typeface="Helvetica" pitchFamily="2" charset="0"/>
              </a:rPr>
              <a:t>A robot's recommendation still has to be explainable, not a black box</a:t>
            </a:r>
          </a:p>
          <a:p>
            <a:r>
              <a:rPr lang="en-US" sz="2400" dirty="0">
                <a:latin typeface="Helvetica" pitchFamily="2" charset="0"/>
              </a:rPr>
              <a:t>Goal: natural conversation in, transparent reasoning out</a:t>
            </a:r>
          </a:p>
          <a:p>
            <a:endParaRPr lang="en-IN" sz="2400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2B5FE-3991-B29B-0DE5-EFD44A83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433FC-258A-C0CF-5992-8B6AC54B3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3</a:t>
            </a:fld>
            <a:endParaRPr lang="en-IN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941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266A0-3549-EE57-B5CB-2FB92619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D5BEB9B-FCB7-8553-F466-ABC00647E264}"/>
              </a:ext>
            </a:extLst>
          </p:cNvPr>
          <p:cNvSpPr/>
          <p:nvPr/>
        </p:nvSpPr>
        <p:spPr>
          <a:xfrm>
            <a:off x="544609" y="1678080"/>
            <a:ext cx="2523564" cy="4087906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F4C19-54F6-BD72-B77B-AF1857E3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Four Building Blocks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C09C7-7B57-C007-C9B3-2CCA2B1B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61664-8D0D-DFAB-761D-77F71F485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33</a:t>
            </a:fld>
            <a:endParaRPr lang="en-IN" dirty="0">
              <a:latin typeface="Helvetica" pitchFamily="2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C450118-1936-323C-83A5-5D338BF134CE}"/>
              </a:ext>
            </a:extLst>
          </p:cNvPr>
          <p:cNvSpPr/>
          <p:nvPr/>
        </p:nvSpPr>
        <p:spPr>
          <a:xfrm>
            <a:off x="544609" y="1678082"/>
            <a:ext cx="2523564" cy="1074083"/>
          </a:xfrm>
          <a:prstGeom prst="roundRect">
            <a:avLst>
              <a:gd name="adj" fmla="val 40037"/>
            </a:avLst>
          </a:prstGeom>
          <a:solidFill>
            <a:srgbClr val="016ABA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Helvetica" pitchFamily="2" charset="0"/>
              </a:rPr>
              <a:t>Perception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BDDF96-7F21-BEE2-8A66-00CDC4A5FFF8}"/>
              </a:ext>
            </a:extLst>
          </p:cNvPr>
          <p:cNvSpPr/>
          <p:nvPr/>
        </p:nvSpPr>
        <p:spPr>
          <a:xfrm>
            <a:off x="544609" y="2764771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>Haar face detection, smoothed over frames, drives Idle -&gt; Greeting.</a:t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/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5F7D57A-C7DC-BA34-3A3F-099A05B645F6}"/>
              </a:ext>
            </a:extLst>
          </p:cNvPr>
          <p:cNvSpPr/>
          <p:nvPr/>
        </p:nvSpPr>
        <p:spPr>
          <a:xfrm>
            <a:off x="9219641" y="1703294"/>
            <a:ext cx="2523564" cy="1074083"/>
          </a:xfrm>
          <a:prstGeom prst="roundRect">
            <a:avLst>
              <a:gd name="adj" fmla="val 4003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Helvetica" pitchFamily="2" charset="0"/>
              </a:rPr>
              <a:t> Traditional Post-Processing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3578145-CF3F-C517-06CD-42A4B0F4CCC0}"/>
              </a:ext>
            </a:extLst>
          </p:cNvPr>
          <p:cNvSpPr/>
          <p:nvPr/>
        </p:nvSpPr>
        <p:spPr>
          <a:xfrm>
            <a:off x="9219641" y="2764769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Helvetica" pitchFamily="2" charset="0"/>
              </a:rPr>
              <a:t>KNN majority voting smooths isolated misclassifications based on local spatial proximity. DBSCAN [5] enforces geometric consistency within isolated clusters. CRFs [6] model pairwise contextual potentials to enforce boundary coherence. Graph-structured label smoothing [7] improves classification accuracy while preserving spatial context.</a:t>
            </a:r>
            <a:endParaRPr lang="en-IN" sz="12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1A4FF1-C189-06B8-9D64-0496DF425491}"/>
              </a:ext>
            </a:extLst>
          </p:cNvPr>
          <p:cNvSpPr/>
          <p:nvPr/>
        </p:nvSpPr>
        <p:spPr>
          <a:xfrm>
            <a:off x="6306671" y="1678078"/>
            <a:ext cx="2523564" cy="4087906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CCA1030-164A-28D8-6043-27C00399BF4B}"/>
              </a:ext>
            </a:extLst>
          </p:cNvPr>
          <p:cNvSpPr/>
          <p:nvPr/>
        </p:nvSpPr>
        <p:spPr>
          <a:xfrm>
            <a:off x="6306671" y="1678080"/>
            <a:ext cx="2523564" cy="1074083"/>
          </a:xfrm>
          <a:prstGeom prst="roundRect">
            <a:avLst>
              <a:gd name="adj" fmla="val 40037"/>
            </a:avLst>
          </a:prstGeom>
          <a:solidFill>
            <a:srgbClr val="016ABA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Helvetica" pitchFamily="2" charset="0"/>
              </a:rPr>
              <a:t>Bayesian Reasoning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C04C46F-6335-E1FC-1215-03C3215B6729}"/>
              </a:ext>
            </a:extLst>
          </p:cNvPr>
          <p:cNvSpPr/>
          <p:nvPr/>
        </p:nvSpPr>
        <p:spPr>
          <a:xfrm>
            <a:off x="6306671" y="2764769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solidFill>
                  <a:srgbClr val="0058A7"/>
                </a:solidFill>
                <a:latin typeface="Helvetica"/>
              </a:rPr>
              <a:t>A 3-layer pyAgrum network ranks 8 events, fully explainable.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32FE9AE-C73E-EAAD-4F65-D6DE691D583C}"/>
              </a:ext>
            </a:extLst>
          </p:cNvPr>
          <p:cNvSpPr/>
          <p:nvPr/>
        </p:nvSpPr>
        <p:spPr>
          <a:xfrm>
            <a:off x="9155765" y="1678076"/>
            <a:ext cx="2523564" cy="4087906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4C217E9-B213-D1DA-676F-7D04C21CCA17}"/>
              </a:ext>
            </a:extLst>
          </p:cNvPr>
          <p:cNvSpPr/>
          <p:nvPr/>
        </p:nvSpPr>
        <p:spPr>
          <a:xfrm>
            <a:off x="9155765" y="1678078"/>
            <a:ext cx="2523564" cy="1074083"/>
          </a:xfrm>
          <a:prstGeom prst="roundRect">
            <a:avLst>
              <a:gd name="adj" fmla="val 40037"/>
            </a:avLst>
          </a:prstGeom>
          <a:solidFill>
            <a:srgbClr val="016ABA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Helvetica" pitchFamily="2" charset="0"/>
              </a:rPr>
              <a:t>Behaviour &amp; Voice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7AF8212-5911-C79B-E31A-1E55D3BDBABF}"/>
              </a:ext>
            </a:extLst>
          </p:cNvPr>
          <p:cNvSpPr/>
          <p:nvPr/>
        </p:nvSpPr>
        <p:spPr>
          <a:xfrm>
            <a:off x="9155765" y="2764767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>Speech, gesture and a tablet image present the result.</a:t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/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5BB1977-FE5D-BFD6-7C88-25FE16C49899}"/>
              </a:ext>
            </a:extLst>
          </p:cNvPr>
          <p:cNvSpPr/>
          <p:nvPr/>
        </p:nvSpPr>
        <p:spPr>
          <a:xfrm>
            <a:off x="3457578" y="1703294"/>
            <a:ext cx="2523564" cy="1074083"/>
          </a:xfrm>
          <a:prstGeom prst="roundRect">
            <a:avLst>
              <a:gd name="adj" fmla="val 4003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Helvetica" pitchFamily="2" charset="0"/>
              </a:rPr>
              <a:t> Traditional Post-Processing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86E8534-0D75-3C49-A351-5C13928EC750}"/>
              </a:ext>
            </a:extLst>
          </p:cNvPr>
          <p:cNvSpPr/>
          <p:nvPr/>
        </p:nvSpPr>
        <p:spPr>
          <a:xfrm>
            <a:off x="3457578" y="2764769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Helvetica" pitchFamily="2" charset="0"/>
              </a:rPr>
              <a:t>mity. DBSCAN [5] enforces geometric consistency within isolated clusters. CRFs [6] model pairwise contextual potentials to enforce boundary coherence. Graph-structured label smoothing [7] improves classification accuracy while preserving spatial context.</a:t>
            </a:r>
            <a:endParaRPr lang="en-IN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D55AEEE-5094-D9E1-1A12-EEF7583719C2}"/>
              </a:ext>
            </a:extLst>
          </p:cNvPr>
          <p:cNvSpPr/>
          <p:nvPr/>
        </p:nvSpPr>
        <p:spPr>
          <a:xfrm>
            <a:off x="3393702" y="1678076"/>
            <a:ext cx="2523564" cy="4087906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6D2CFE8-1982-725A-9D07-8EF97B2E6FFF}"/>
              </a:ext>
            </a:extLst>
          </p:cNvPr>
          <p:cNvSpPr/>
          <p:nvPr/>
        </p:nvSpPr>
        <p:spPr>
          <a:xfrm>
            <a:off x="3393702" y="1678078"/>
            <a:ext cx="2523564" cy="1074083"/>
          </a:xfrm>
          <a:prstGeom prst="roundRect">
            <a:avLst>
              <a:gd name="adj" fmla="val 40037"/>
            </a:avLst>
          </a:prstGeom>
          <a:solidFill>
            <a:srgbClr val="016ABA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Helvetica" pitchFamily="2" charset="0"/>
              </a:rPr>
              <a:t>Dialogue Manager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E85DD90-82CE-12DA-C9EE-0A3BE57430E5}"/>
              </a:ext>
            </a:extLst>
          </p:cNvPr>
          <p:cNvSpPr/>
          <p:nvPr/>
        </p:nvSpPr>
        <p:spPr>
          <a:xfrm>
            <a:off x="3393702" y="2764767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>LangGraph + Groq LLM turns free speech into structured evidence.</a:t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endParaRPr lang="en-I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620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08D12-648F-7E12-6F51-7DCF7AC1F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10977-630A-B661-E7FB-E2DC5923E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Introduction &amp; Motivation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Helvetica" pitchFamily="2" charset="0"/>
              </a:rPr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Dialogue Manager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Bayesian Reasoning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Behaviour &amp; Integration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Conclusion &amp; Future Work</a:t>
            </a:r>
          </a:p>
          <a:p>
            <a:endParaRPr lang="en-IN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940C43-64A2-3B7B-5C19-63A5A1865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Social Event Recommendation Agent on Pepper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FE9D4-3C29-2630-2928-42F08B429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370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086F-50EB-EC20-910C-0B2D05A2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D1B3-E0CE-B6AF-475F-783F7A685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Six-State Interaction Loop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95F7F-CB7C-1788-D3A7-4C868496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3A92B-07ED-C679-D3C4-519A85CA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4</a:t>
            </a:fld>
            <a:endParaRPr lang="en-IN">
              <a:latin typeface="Helvetica" pitchFamily="2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00000" y="2500000"/>
            <a:ext cx="1690333" cy="1350000"/>
          </a:xfrm>
          <a:prstGeom prst="roundRect">
            <a:avLst/>
          </a:prstGeom>
          <a:solidFill>
            <a:srgbClr val="15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Idle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Helvetica"/>
              </a:rPr>
              <a:t>watch for a stable face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90333" y="3175000"/>
            <a:ext cx="13000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20333" y="2500000"/>
            <a:ext cx="1690333" cy="1350000"/>
          </a:xfrm>
          <a:prstGeom prst="roundRect">
            <a:avLst/>
          </a:prstGeom>
          <a:solidFill>
            <a:srgbClr val="15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Greeting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Helvetica"/>
              </a:rPr>
              <a:t>wave . nod . open arms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10666" y="3175000"/>
            <a:ext cx="13000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0666" y="2500000"/>
            <a:ext cx="1690333" cy="1350000"/>
          </a:xfrm>
          <a:prstGeom prst="roundRect">
            <a:avLst/>
          </a:prstGeom>
          <a:solidFill>
            <a:srgbClr val="15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Conversation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Helvetica"/>
              </a:rPr>
              <a:t>collect 6 preferences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0999" y="3175000"/>
            <a:ext cx="13000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60999" y="2500000"/>
            <a:ext cx="1690333" cy="1350000"/>
          </a:xfrm>
          <a:prstGeom prst="roundRect">
            <a:avLst/>
          </a:prstGeom>
          <a:solidFill>
            <a:srgbClr val="179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Reasoning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Helvetica"/>
              </a:rPr>
              <a:t>Bayesian inference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51332" y="3175000"/>
            <a:ext cx="13000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81332" y="2500000"/>
            <a:ext cx="1690333" cy="1350000"/>
          </a:xfrm>
          <a:prstGeom prst="round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Recommendation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Helvetica"/>
              </a:rPr>
              <a:t>say + show + explain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71665" y="3175000"/>
            <a:ext cx="13000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01665" y="2500000"/>
            <a:ext cx="1690333" cy="1350000"/>
          </a:xfrm>
          <a:prstGeom prst="roundRect">
            <a:avLst/>
          </a:prstGeom>
          <a:solidFill>
            <a:srgbClr val="15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Farewell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Helvetica"/>
              </a:rPr>
              <a:t>goodbye, reset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646831" y="3850000"/>
            <a:ext cx="0" cy="550000"/>
          </a:xfrm>
          <a:prstGeom prst="bentConnector3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545166" y="3850000"/>
            <a:ext cx="0" cy="550000"/>
          </a:xfrm>
          <a:prstGeom prst="bentConnector3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00000" y="4380000"/>
            <a:ext cx="1079199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Helvetica"/>
              </a:rPr>
              <a:t>next person</a:t>
            </a:r>
          </a:p>
        </p:txBody>
      </p:sp>
    </p:spTree>
    <p:extLst>
      <p:ext uri="{BB962C8B-B14F-4D97-AF65-F5344CB8AC3E}">
        <p14:creationId xmlns:p14="http://schemas.microsoft.com/office/powerpoint/2010/main" val="3235808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3D1F-ED70-79F3-F5B7-A2BE7917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Perception: Noticing a Person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1193-5A89-5D3D-4939-32F24CD31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>
            <a:normAutofit/>
          </a:bodyPr>
          <a:lstStyle/>
          <a:p>
            <a:r>
              <a:rPr lang="en-US" sz="2400" dirty="0">
                <a:latin typeface="Helvetica" pitchFamily="2" charset="0"/>
              </a:rPr>
              <a:t>OpenCV Haar cascade over the camera feed (webcam or Pepper's own camera)</a:t>
            </a:r>
          </a:p>
          <a:p>
            <a:r>
              <a:rPr lang="en-US" sz="2400" dirty="0">
                <a:latin typeface="Helvetica" pitchFamily="2" charset="0"/>
              </a:rPr>
              <a:t>5-frame smoothing avoids false triggers from a passing glance</a:t>
            </a:r>
          </a:p>
          <a:p>
            <a:r>
              <a:rPr lang="en-US" sz="2400" dirty="0">
                <a:latin typeface="Helvetica" pitchFamily="2" charset="0"/>
              </a:rPr>
              <a:t>A looser presence check means brief dropouts don't end the interaction</a:t>
            </a:r>
          </a:p>
          <a:p>
            <a:endParaRPr lang="en-IN" sz="2400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2B5FE-3991-B29B-0DE5-EFD44A83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433FC-258A-C0CF-5992-8B6AC54B3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3</a:t>
            </a:fld>
            <a:endParaRPr lang="en-IN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941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F96C9-6FFA-2F38-E77C-A7EBFC628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33E72-ED85-0CE7-854D-B4F312E2A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Introduction &amp; Motivation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Helvetica" pitchFamily="2" charset="0"/>
              </a:rPr>
              <a:t>Dialogue Manager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Bayesian Reasoning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Behaviour &amp; Integration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Conclusion &amp; Future Work</a:t>
            </a:r>
          </a:p>
          <a:p>
            <a:endParaRPr lang="en-IN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C49128-AC92-A0ED-36AD-8362A5154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Social Event Recommendation Agent on Pepper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A9CF5-EB46-C63E-80CD-823169B7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97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086F-50EB-EC20-910C-0B2D05A2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D1B3-E0CE-B6AF-475F-783F7A685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Dialogue Manager -- LangGraph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95F7F-CB7C-1788-D3A7-4C868496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3A92B-07ED-C679-D3C4-519A85CA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4</a:t>
            </a:fld>
            <a:endParaRPr lang="en-IN">
              <a:latin typeface="Helvetica" pitchFamily="2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00000" y="2500000"/>
            <a:ext cx="1690333" cy="1350000"/>
          </a:xfrm>
          <a:prstGeom prst="roundRect">
            <a:avLst/>
          </a:prstGeom>
          <a:solidFill>
            <a:srgbClr val="15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50" b="1">
                <a:solidFill>
                  <a:srgbClr val="FFFFFF"/>
                </a:solidFill>
                <a:latin typeface="Helvetica"/>
              </a:rPr>
              <a:t>Router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Helvetica"/>
              </a:rPr>
              <a:t>pick next empty slot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90333" y="3175000"/>
            <a:ext cx="13000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20333" y="2500000"/>
            <a:ext cx="1690333" cy="1350000"/>
          </a:xfrm>
          <a:prstGeom prst="roundRect">
            <a:avLst/>
          </a:prstGeom>
          <a:solidFill>
            <a:srgbClr val="15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50" b="1">
                <a:solidFill>
                  <a:srgbClr val="FFFFFF"/>
                </a:solidFill>
                <a:latin typeface="Helvetica"/>
              </a:rPr>
              <a:t>QuestionFramer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Helvetica"/>
              </a:rPr>
              <a:t>ask, LLM-framed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10666" y="3175000"/>
            <a:ext cx="13000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0666" y="2500000"/>
            <a:ext cx="1690333" cy="1350000"/>
          </a:xfrm>
          <a:prstGeom prst="roundRect">
            <a:avLst/>
          </a:prstGeom>
          <a:solidFill>
            <a:srgbClr val="15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50" b="1">
                <a:solidFill>
                  <a:srgbClr val="FFFFFF"/>
                </a:solidFill>
                <a:latin typeface="Helvetica"/>
              </a:rPr>
              <a:t>AnswerParser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Helvetica"/>
              </a:rPr>
              <a:t>reply -&gt; evidence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0999" y="3175000"/>
            <a:ext cx="13000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60999" y="2500000"/>
            <a:ext cx="1690333" cy="1350000"/>
          </a:xfrm>
          <a:prstGeom prst="roundRect">
            <a:avLst/>
          </a:prstGeom>
          <a:solidFill>
            <a:srgbClr val="179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50" b="1">
                <a:solidFill>
                  <a:srgbClr val="FFFFFF"/>
                </a:solidFill>
                <a:latin typeface="Helvetica"/>
              </a:rPr>
              <a:t>ConflictResolver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Helvetica"/>
              </a:rPr>
              <a:t>spot contradictions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51332" y="3175000"/>
            <a:ext cx="13000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81332" y="2500000"/>
            <a:ext cx="1690333" cy="1350000"/>
          </a:xfrm>
          <a:prstGeom prst="roundRect">
            <a:avLst/>
          </a:prstGeom>
          <a:solidFill>
            <a:srgbClr val="15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50" b="1">
                <a:solidFill>
                  <a:srgbClr val="FFFFFF"/>
                </a:solidFill>
                <a:latin typeface="Helvetica"/>
              </a:rPr>
              <a:t>Evaluator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Helvetica"/>
              </a:rPr>
              <a:t>commit / reframe / default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71665" y="3175000"/>
            <a:ext cx="13000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01665" y="2500000"/>
            <a:ext cx="1690333" cy="1350000"/>
          </a:xfrm>
          <a:prstGeom prst="round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50" b="1">
                <a:solidFill>
                  <a:srgbClr val="FFFFFF"/>
                </a:solidFill>
                <a:latin typeface="Helvetica"/>
              </a:rPr>
              <a:t>Finish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Helvetica"/>
              </a:rPr>
              <a:t>return evidence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26498" y="3850000"/>
            <a:ext cx="0" cy="550000"/>
          </a:xfrm>
          <a:prstGeom prst="bentConnector3">
            <a:avLst/>
          </a:prstGeom>
          <a:ln w="22225">
            <a:solidFill>
              <a:srgbClr val="595959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365499" y="3850000"/>
            <a:ext cx="0" cy="550000"/>
          </a:xfrm>
          <a:prstGeom prst="bentConnector3">
            <a:avLst/>
          </a:prstGeom>
          <a:ln w="22225">
            <a:solidFill>
              <a:srgbClr val="595959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520333" y="4380000"/>
            <a:ext cx="7151332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Helvetica"/>
              </a:rPr>
              <a:t>reframe . conflict . missing slot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000" y="2080000"/>
            <a:ext cx="1790333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Helvetica"/>
              </a:rPr>
              <a:t>-&gt; Finish once all 6 slots are filled</a:t>
            </a:r>
          </a:p>
        </p:txBody>
      </p:sp>
    </p:spTree>
    <p:extLst>
      <p:ext uri="{BB962C8B-B14F-4D97-AF65-F5344CB8AC3E}">
        <p14:creationId xmlns:p14="http://schemas.microsoft.com/office/powerpoint/2010/main" val="3235808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7A95A-0FB0-C8F5-97E4-ABAAAAFA2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A5CF8-488F-76BE-CD92-A9AFF138A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Six Preferences the Conversation Learns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5BCE7-9C2C-0990-0178-0B33C64E8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00000" cy="4351338"/>
          </a:xfrm>
        </p:spPr>
        <p:txBody>
          <a:bodyPr anchor="ctr" anchorCtr="0">
            <a:normAutofit/>
          </a:bodyPr>
          <a:lstStyle/>
          <a:p>
            <a:r>
              <a:rPr lang="en-IN" sz="1400" b="0" dirty="0">
                <a:latin typeface="Helvetica" pitchFamily="2" charset="0"/>
              </a:rPr>
              <a:t>Every value the LLM produces passes through a whitelist before it can reach the Bayesian network</a:t>
            </a:r>
            <a:r>
              <a:rPr lang="en-IN" sz="1400" dirty="0" b="0">
                <a:latin typeface="Helvetica" pitchFamily="2" charset="0"/>
              </a:rPr>
              <a:t/>
            </a:r>
          </a:p>
          <a:p>
            <a:r>
              <a:rPr lang="en-IN" sz="1400" b="0" dirty="0">
                <a:latin typeface="Helvetica" pitchFamily="2" charset="0"/>
              </a:rPr>
              <a:t>A conversation never has to fill all six - partial evidence still works</a:t>
            </a:r>
            <a:r>
              <a:rPr lang="en-IN" sz="1400" dirty="0" b="0">
                <a:latin typeface="Helvetica" pitchFamily="2" charset="0"/>
              </a:rPr>
              <a:t/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3C0856-ECBB-753E-C5BB-D2AE1FBE5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A6EE8-D641-CD18-9BEF-1B87D1B85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8</a:t>
            </a:fld>
            <a:endParaRPr lang="en-IN">
              <a:latin typeface="Helvetica" pitchFamily="2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8B05F6-4113-00AF-5EC8-7CF12C766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331211"/>
              </p:ext>
            </p:extLst>
          </p:nvPr>
        </p:nvGraphicFramePr>
        <p:xfrm>
          <a:off x="5486931" y="1850000"/>
          <a:ext cx="6326462" cy="301000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626104456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537135339"/>
                    </a:ext>
                  </a:extLst>
                </a:gridCol>
                <a:gridCol w="2126462">
                  <a:extLst>
                    <a:ext uri="{9D8B030D-6E8A-4147-A177-3AD203B41FA5}">
                      <a16:colId xmlns:a16="http://schemas.microsoft.com/office/drawing/2014/main" val="503549035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r>
                        <a:rPr sz="1100"/>
                        <a:t>Preference</a:t>
                      </a:r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Possible values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Example cue</a:t>
                      </a:r>
                      <a:endParaRPr lang="en-IN" dirty="0"/>
                    </a:p>
                  </a:txBody>
                  <a:tcPr marT="18000" marB="18000" marL="45000" marR="45000"/>
                </a:tc>
                <a:extLst>
                  <a:ext uri="{0D108BD9-81ED-4DB2-BD59-A6C34878D82A}">
                    <a16:rowId xmlns:a16="http://schemas.microsoft.com/office/drawing/2014/main" val="419303487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dirty="0" sz="1100"/>
                        <a:t>Budget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Low . Med . High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“keep it cheap”</a:t>
                      </a:r>
                      <a:endParaRPr lang="en-IN" dirty="0"/>
                    </a:p>
                  </a:txBody>
                  <a:tcPr marT="18000" marB="18000" marL="45000" marR="45000"/>
                </a:tc>
                <a:extLst>
                  <a:ext uri="{0D108BD9-81ED-4DB2-BD59-A6C34878D82A}">
                    <a16:rowId xmlns:a16="http://schemas.microsoft.com/office/drawing/2014/main" val="117795888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dirty="0" sz="1100"/>
                        <a:t>GroupSize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Solo . Small . Large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“just me”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dirty="0"/>
                    </a:p>
                  </a:txBody>
                  <a:tcPr marT="18000" marB="18000" marL="45000" marR="45000"/>
                </a:tc>
                <a:extLst>
                  <a:ext uri="{0D108BD9-81ED-4DB2-BD59-A6C34878D82A}">
                    <a16:rowId xmlns:a16="http://schemas.microsoft.com/office/drawing/2014/main" val="184835041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dirty="0" sz="1100"/>
                        <a:t>ActivityLevel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Relaxed . Moderate . Active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“something chill”</a:t>
                      </a:r>
                      <a:endParaRPr lang="en-IN" dirty="0"/>
                    </a:p>
                  </a:txBody>
                  <a:tcPr marT="18000" marB="18000" marL="45000" marR="45000"/>
                </a:tc>
                <a:extLst>
                  <a:ext uri="{0D108BD9-81ED-4DB2-BD59-A6C34878D82A}">
                    <a16:rowId xmlns:a16="http://schemas.microsoft.com/office/drawing/2014/main" val="77163317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dirty="0" sz="1100"/>
                        <a:t>Setting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sz="11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Indoor . Outdoor . Either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“fresh air”</a:t>
                      </a:r>
                      <a:endParaRPr lang="en-IN" dirty="0"/>
                    </a:p>
                  </a:txBody>
                  <a:tcPr marT="18000" marB="18000" marL="45000" marR="45000"/>
                </a:tc>
                <a:extLst>
                  <a:ext uri="{0D108BD9-81ED-4DB2-BD59-A6C34878D82A}">
                    <a16:rowId xmlns:a16="http://schemas.microsoft.com/office/drawing/2014/main" val="92989794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dirty="0" sz="1100"/>
                        <a:t>TimeOfDay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Day . Evening . Night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“later tonight”</a:t>
                      </a:r>
                      <a:endParaRPr lang="en-IN" dirty="0"/>
                    </a:p>
                  </a:txBody>
                  <a:tcPr marT="18000" marB="18000" marL="45000" marR="45000"/>
                </a:tc>
                <a:extLst>
                  <a:ext uri="{0D108BD9-81ED-4DB2-BD59-A6C34878D82A}">
                    <a16:rowId xmlns:a16="http://schemas.microsoft.com/office/drawing/2014/main" val="222573016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dirty="0" sz="1100"/>
                        <a:t>Interest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Arts . Music . Food . Sports</a:t>
                      </a:r>
                      <a:endParaRPr lang="en-IN" dirty="0"/>
                    </a:p>
                  </a:txBody>
                  <a:tcPr marT="18000" marB="18000" marL="45000" marR="45000"/>
                </a:tc>
                <a:tc>
                  <a:txBody>
                    <a:bodyPr/>
                    <a:lstStyle/>
                    <a:p>
                      <a:r>
                        <a:rPr lang="en-US" dirty="0" sz="1100"/>
                        <a:t>“live music”</a:t>
                      </a:r>
                      <a:endParaRPr lang="en-IN" dirty="0"/>
                    </a:p>
                  </a:txBody>
                  <a:tcPr marT="18000" marB="18000" marL="45000" marR="45000"/>
                </a:tc>
                <a:extLst>
                  <a:ext uri="{0D108BD9-81ED-4DB2-BD59-A6C34878D82A}">
                    <a16:rowId xmlns:a16="http://schemas.microsoft.com/office/drawing/2014/main" val="2225730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649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56014-0327-0415-69B3-AC11FA846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047FE-7CD1-65D7-1AB8-2A60343C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Introduction &amp; Motivation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Dialogue Manager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Helvetica" pitchFamily="2" charset="0"/>
              </a:rPr>
              <a:t>Bayesian Reasoning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Behaviour &amp; Integration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Conclusion &amp; Future Work</a:t>
            </a:r>
          </a:p>
          <a:p>
            <a:endParaRPr lang="en-IN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BDD105-0E7A-7C7F-6CE4-EFD8F61BC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Social Event Recommendation Agent on Pepper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63D2E-1E84-9CD5-7546-B39F587F9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529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086F-50EB-EC20-910C-0B2D05A2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D1B3-E0CE-B6AF-475F-783F7A685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Bayesian Reasoning Engine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95F7F-CB7C-1788-D3A7-4C868496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3A92B-07ED-C679-D3C4-519A85CA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4</a:t>
            </a:fld>
            <a:endParaRPr lang="en-IN">
              <a:latin typeface="Helvetica" pitchFamily="2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00000" y="1950000"/>
            <a:ext cx="1690333" cy="850000"/>
          </a:xfrm>
          <a:prstGeom prst="roundRect">
            <a:avLst/>
          </a:prstGeom>
          <a:solidFill>
            <a:srgbClr val="179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"/>
              </a:rPr>
              <a:t>Interest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333" y="1950000"/>
            <a:ext cx="1690333" cy="850000"/>
          </a:xfrm>
          <a:prstGeom prst="roundRect">
            <a:avLst/>
          </a:prstGeom>
          <a:solidFill>
            <a:srgbClr val="179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"/>
              </a:rPr>
              <a:t>Setting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0666" y="1950000"/>
            <a:ext cx="1690333" cy="850000"/>
          </a:xfrm>
          <a:prstGeom prst="roundRect">
            <a:avLst/>
          </a:prstGeom>
          <a:solidFill>
            <a:srgbClr val="179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"/>
              </a:rPr>
              <a:t>GroupSize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0999" y="1950000"/>
            <a:ext cx="1690333" cy="850000"/>
          </a:xfrm>
          <a:prstGeom prst="roundRect">
            <a:avLst/>
          </a:prstGeom>
          <a:solidFill>
            <a:srgbClr val="179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"/>
              </a:rPr>
              <a:t>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1332" y="1950000"/>
            <a:ext cx="1690333" cy="850000"/>
          </a:xfrm>
          <a:prstGeom prst="roundRect">
            <a:avLst/>
          </a:prstGeom>
          <a:solidFill>
            <a:srgbClr val="179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"/>
              </a:rPr>
              <a:t>ActivityLevel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01665" y="1950000"/>
            <a:ext cx="1690333" cy="850000"/>
          </a:xfrm>
          <a:prstGeom prst="roundRect">
            <a:avLst/>
          </a:prstGeom>
          <a:solidFill>
            <a:srgbClr val="179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"/>
              </a:rPr>
              <a:t>TimeOfDay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0000" y="3300000"/>
            <a:ext cx="3510666" cy="900000"/>
          </a:xfrm>
          <a:prstGeom prst="roundRect">
            <a:avLst/>
          </a:prstGeom>
          <a:solidFill>
            <a:srgbClr val="15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VenueType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45166" y="2800000"/>
            <a:ext cx="910167" cy="50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55333" y="2800000"/>
            <a:ext cx="910166" cy="50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40666" y="3300000"/>
            <a:ext cx="3510666" cy="900000"/>
          </a:xfrm>
          <a:prstGeom prst="roundRect">
            <a:avLst/>
          </a:prstGeom>
          <a:solidFill>
            <a:srgbClr val="15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SocialContext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85832" y="2800000"/>
            <a:ext cx="910167" cy="50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095999" y="2800000"/>
            <a:ext cx="910166" cy="50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981332" y="3300000"/>
            <a:ext cx="3510666" cy="900000"/>
          </a:xfrm>
          <a:prstGeom prst="roundRect">
            <a:avLst/>
          </a:prstGeom>
          <a:solidFill>
            <a:srgbClr val="15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EnergyProfile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26498" y="2800000"/>
            <a:ext cx="910167" cy="50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736665" y="2800000"/>
            <a:ext cx="910166" cy="50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40667" y="4700000"/>
            <a:ext cx="3510666" cy="950000"/>
          </a:xfrm>
          <a:prstGeom prst="round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</a:rPr>
              <a:t>EventRec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Helvetica"/>
              </a:rPr>
              <a:t>8 events, ranked by probability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55333" y="4200000"/>
            <a:ext cx="3640667" cy="50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95999" y="4200000"/>
            <a:ext cx="1" cy="50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096000" y="4200000"/>
            <a:ext cx="3640665" cy="5000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808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3D1F-ED70-79F3-F5B7-A2BE7917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Explainable, Not a Black Box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1193-5A89-5D3D-4939-32F24CD31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>
            <a:normAutofit/>
          </a:bodyPr>
          <a:lstStyle/>
          <a:p>
            <a:r>
              <a:rPr lang="en-US" sz="2400" dirty="0">
                <a:latin typeface="Helvetica" pitchFamily="2" charset="0"/>
              </a:rPr>
              <a:t>Museum 34%  ·  Workshop 19%  ·  Food 15%</a:t>
            </a:r>
          </a:p>
          <a:p>
            <a:r>
              <a:rPr lang="en-US" sz="2400" dirty="0">
                <a:latin typeface="Helvetica" pitchFamily="2" charset="0"/>
              </a:rPr>
              <a:t>“I suggest Museum because your preferences point to a cultural venue with an intimate vibe and a low-key feel.”</a:t>
            </a:r>
          </a:p>
          <a:p>
            <a:r>
              <a:rPr lang="en-US" sz="2400" dirty="0">
                <a:latin typeface="Helvetica" pitchFamily="2" charset="0"/>
              </a:rPr>
              <a:t>Every ranking traces back to the three latent factors, not a hidden score</a:t>
            </a:r>
          </a:p>
          <a:p>
            <a:endParaRPr lang="en-IN" sz="2400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2B5FE-3991-B29B-0DE5-EFD44A83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433FC-258A-C0CF-5992-8B6AC54B3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3</a:t>
            </a:fld>
            <a:endParaRPr lang="en-IN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941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52C39-10E2-D433-D361-E74291DC3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AE5AC-B90C-4FB5-49C1-F1F8E2BBB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Introduction &amp; Motivation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Dialogue Manager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Bayesian Reasoning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Helvetica" pitchFamily="2" charset="0"/>
              </a:rPr>
              <a:t>Behaviour &amp; Integration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Conclusion &amp; Future Work</a:t>
            </a:r>
          </a:p>
          <a:p>
            <a:endParaRPr lang="en-IN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B1F7F4-3CD3-76BD-7CD8-427FCD58E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Social Event Recommendation Agent on Pepper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AF7CC-264C-DE9A-1180-121F6186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641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3D1F-ED70-79F3-F5B7-A2BE7917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Behaviour: Voice, Gesture, Tablet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1193-5A89-5D3D-4939-32F24CD31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>
            <a:normAutofit/>
          </a:bodyPr>
          <a:lstStyle/>
          <a:p>
            <a:r>
              <a:rPr lang="en-US" sz="2400" dirty="0">
                <a:latin typeface="Helvetica" pitchFamily="2" charset="0"/>
              </a:rPr>
              <a:t>Neural TTS (edge-tts) with an offline pyttsx3 fallback - speech and gesture start together</a:t>
            </a:r>
          </a:p>
          <a:p>
            <a:r>
              <a:rPr lang="en-US" sz="2400" dirty="0">
                <a:latin typeface="Helvetica" pitchFamily="2" charset="0"/>
              </a:rPr>
              <a:t>Optional spoken input via local, on-device Whisper (faster-whisper)</a:t>
            </a:r>
          </a:p>
          <a:p>
            <a:r>
              <a:rPr lang="en-US" sz="2400" dirty="0">
                <a:latin typeface="Helvetica" pitchFamily="2" charset="0"/>
              </a:rPr>
              <a:t>The recommended event's image appears on Pepper's tablet, cleared after each visit</a:t>
            </a:r>
          </a:p>
          <a:p>
            <a:endParaRPr lang="en-IN" sz="2400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2B5FE-3991-B29B-0DE5-EFD44A83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433FC-258A-C0CF-5992-8B6AC54B3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3</a:t>
            </a:fld>
            <a:endParaRPr lang="en-IN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941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086F-50EB-EC20-910C-0B2D05A2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D1B3-E0CE-B6AF-475F-783F7A685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Two Runtimes, One Bridge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95F7F-CB7C-1788-D3A7-4C868496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3A92B-07ED-C679-D3C4-519A85CA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4</a:t>
            </a:fld>
            <a:endParaRPr lang="en-IN">
              <a:latin typeface="Helvetica" pitchFamily="2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00000" y="3200000"/>
            <a:ext cx="4300000" cy="1900000"/>
          </a:xfrm>
          <a:prstGeom prst="roundRect">
            <a:avLst/>
          </a:prstGeom>
          <a:solidFill>
            <a:srgbClr val="15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"/>
              </a:rPr>
              <a:t>Robot FSM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Helvetica"/>
              </a:rPr>
              <a:t>Python 3.8 . qiBullet / NAOqi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Helvetica"/>
              </a:rPr>
              <a:t>owns voice + camera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2000" y="3200000"/>
            <a:ext cx="4300000" cy="1900000"/>
          </a:xfrm>
          <a:prstGeom prst="roundRect">
            <a:avLst/>
          </a:prstGeom>
          <a:solidFill>
            <a:srgbClr val="179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"/>
              </a:rPr>
              <a:t>Dialogue Service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Helvetica"/>
              </a:rPr>
              <a:t>Python 3.11 . LangGraph + Groq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Helvetica"/>
              </a:rPr>
              <a:t>owns language understanding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00000" y="4030000"/>
            <a:ext cx="17920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200000" y="4270000"/>
            <a:ext cx="17920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00000" y="2780000"/>
            <a:ext cx="1792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Helvetica"/>
              </a:rPr>
              <a:t>newline-delimited JSON over stdio (subprocess)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5350000"/>
            <a:ext cx="43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Helvetica"/>
              </a:rPr>
              <a:t>speaks each question, captures the reply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2000" y="5350000"/>
            <a:ext cx="43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Helvetica"/>
              </a:rPr>
              <a:t>frames questions, parses answers</a:t>
            </a:r>
          </a:p>
        </p:txBody>
      </p:sp>
    </p:spTree>
    <p:extLst>
      <p:ext uri="{BB962C8B-B14F-4D97-AF65-F5344CB8AC3E}">
        <p14:creationId xmlns:p14="http://schemas.microsoft.com/office/powerpoint/2010/main" val="3235808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89F7B-3759-F6CC-24A4-3C758E3F7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8FDBB-454B-0353-2FA5-A42C229E9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50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Evaluation Criteria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12113E-7CBB-269B-D54A-5044D1C82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683781-DD26-973A-9F9C-12FD2298D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23</a:t>
            </a:fld>
            <a:endParaRPr lang="en-IN" dirty="0">
              <a:latin typeface="Helvetica" pitchFamily="2" charset="0"/>
            </a:endParaRPr>
          </a:p>
        </p:txBody>
      </p:sp>
      <p:pic>
        <p:nvPicPr>
          <p:cNvPr id="20" name="Google Shape;157;p19" descr="image.png">
            <a:extLst>
              <a:ext uri="{FF2B5EF4-FFF2-40B4-BE49-F238E27FC236}">
                <a16:creationId xmlns:a16="http://schemas.microsoft.com/office/drawing/2014/main" id="{A239A384-511F-B728-20E6-1BFF22855DA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1525" y="1716195"/>
            <a:ext cx="4038600" cy="1215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58;p19" descr="image.png">
            <a:extLst>
              <a:ext uri="{FF2B5EF4-FFF2-40B4-BE49-F238E27FC236}">
                <a16:creationId xmlns:a16="http://schemas.microsoft.com/office/drawing/2014/main" id="{7FFA6844-E337-896F-CDA4-F4D05C151A8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4615598"/>
            <a:ext cx="4038600" cy="110247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160;p19">
            <a:extLst>
              <a:ext uri="{FF2B5EF4-FFF2-40B4-BE49-F238E27FC236}">
                <a16:creationId xmlns:a16="http://schemas.microsoft.com/office/drawing/2014/main" id="{9C922979-11F9-4362-7164-1F5F91BCC4D9}"/>
              </a:ext>
            </a:extLst>
          </p:cNvPr>
          <p:cNvSpPr txBox="1"/>
          <p:nvPr/>
        </p:nvSpPr>
        <p:spPr>
          <a:xfrm>
            <a:off x="5351780" y="2036354"/>
            <a:ext cx="6360795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16ABA"/>
                </a:solidFill>
                <a:ea typeface="DM Sans"/>
                <a:cs typeface="DM Sans"/>
                <a:sym typeface="DM Sans"/>
              </a:rPr>
              <a:t/>
            </a:r>
            <a:endParaRPr dirty="0"/>
          </a:p>
        </p:txBody>
      </p:sp>
      <p:graphicFrame>
        <p:nvGraphicFramePr>
          <p:cNvPr id="25" name="Google Shape;161;p19">
            <a:extLst>
              <a:ext uri="{FF2B5EF4-FFF2-40B4-BE49-F238E27FC236}">
                <a16:creationId xmlns:a16="http://schemas.microsoft.com/office/drawing/2014/main" id="{3DDF9C9B-A02B-8840-A024-442A0CE8A1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3106695"/>
              </p:ext>
            </p:extLst>
          </p:nvPr>
        </p:nvGraphicFramePr>
        <p:xfrm>
          <a:off x="5351780" y="2150000"/>
          <a:ext cx="6057900" cy="2340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Check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6A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Expected result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6A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6A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Face detection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Starts when a user is visible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Pass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Dialogue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Asks each question once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Pass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Parsing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Converts replies into evidence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Pass</a:t>
                      </a:r>
                      <a:endParaRPr dirty="0"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Recommendation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Top events match preferences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Pass</a:t>
                      </a:r>
                      <a:endParaRPr dirty="0"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Presentation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Speaks the result + gestures</a:t>
                      </a:r>
                      <a:endParaRPr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Pass</a:t>
                      </a:r>
                      <a:endParaRPr dirty="0"/>
                    </a:p>
                  </a:txBody>
                  <a:tcPr marL="63500" marR="63500" marT="18000" marB="18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Google Shape;162;p19">
            <a:extLst>
              <a:ext uri="{FF2B5EF4-FFF2-40B4-BE49-F238E27FC236}">
                <a16:creationId xmlns:a16="http://schemas.microsoft.com/office/drawing/2014/main" id="{81909A7C-7FCB-7318-9EF3-4436A56E9E86}"/>
              </a:ext>
            </a:extLst>
          </p:cNvPr>
          <p:cNvSpPr txBox="1"/>
          <p:nvPr/>
        </p:nvSpPr>
        <p:spPr>
          <a:xfrm>
            <a:off x="1057275" y="1874771"/>
            <a:ext cx="7302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16ABA"/>
                </a:solidFill>
                <a:ea typeface="DM Sans"/>
                <a:cs typeface="DM Sans"/>
                <a:sym typeface="DM Sans"/>
              </a:rPr>
              <a:t>RUN MODES</a:t>
            </a:r>
            <a:endParaRPr dirty="0"/>
          </a:p>
        </p:txBody>
      </p:sp>
      <p:sp>
        <p:nvSpPr>
          <p:cNvPr id="27" name="Google Shape;163;p19">
            <a:extLst>
              <a:ext uri="{FF2B5EF4-FFF2-40B4-BE49-F238E27FC236}">
                <a16:creationId xmlns:a16="http://schemas.microsoft.com/office/drawing/2014/main" id="{1C50DA4F-4940-CD93-B7E0-CA0C986F49C6}"/>
              </a:ext>
            </a:extLst>
          </p:cNvPr>
          <p:cNvSpPr txBox="1"/>
          <p:nvPr/>
        </p:nvSpPr>
        <p:spPr>
          <a:xfrm>
            <a:off x="1057275" y="2103371"/>
            <a:ext cx="35147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ea typeface="DM Sans"/>
                <a:cs typeface="DM Sans"/>
                <a:sym typeface="DM Sans"/>
              </a:rPr>
              <a:t>--source</a:t>
            </a:r>
            <a:endParaRPr dirty="0"/>
          </a:p>
        </p:txBody>
      </p:sp>
      <p:sp>
        <p:nvSpPr>
          <p:cNvPr id="28" name="Google Shape;164;p19">
            <a:extLst>
              <a:ext uri="{FF2B5EF4-FFF2-40B4-BE49-F238E27FC236}">
                <a16:creationId xmlns:a16="http://schemas.microsoft.com/office/drawing/2014/main" id="{937225FA-3FDB-FBDD-732F-7761D39E933A}"/>
              </a:ext>
            </a:extLst>
          </p:cNvPr>
          <p:cNvSpPr txBox="1"/>
          <p:nvPr/>
        </p:nvSpPr>
        <p:spPr>
          <a:xfrm>
            <a:off x="1057275" y="2389121"/>
            <a:ext cx="3514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ea typeface="DM Sans"/>
                <a:cs typeface="DM Sans"/>
                <a:sym typeface="DM Sans"/>
              </a:rPr>
              <a:t>scripted . webcam . pepper . hybrid</a:t>
            </a:r>
            <a:br>
              <a:rPr lang="en-US" sz="1800" b="0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475569"/>
                </a:solidFill>
                <a:ea typeface="DM Sans"/>
                <a:cs typeface="DM Sans"/>
                <a:sym typeface="DM Sans"/>
              </a:rPr>
              <a:t/>
            </a:r>
            <a:endParaRPr dirty="0"/>
          </a:p>
        </p:txBody>
      </p:sp>
      <p:sp>
        <p:nvSpPr>
          <p:cNvPr id="29" name="Google Shape;165;p19">
            <a:extLst>
              <a:ext uri="{FF2B5EF4-FFF2-40B4-BE49-F238E27FC236}">
                <a16:creationId xmlns:a16="http://schemas.microsoft.com/office/drawing/2014/main" id="{1A54603B-9CFF-AA70-8B0E-6ABE8D0BE849}"/>
              </a:ext>
            </a:extLst>
          </p:cNvPr>
          <p:cNvSpPr txBox="1"/>
          <p:nvPr/>
        </p:nvSpPr>
        <p:spPr>
          <a:xfrm>
            <a:off x="1047750" y="4773645"/>
            <a:ext cx="200533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16ABA"/>
                </a:solidFill>
                <a:ea typeface="DM Sans"/>
                <a:cs typeface="DM Sans"/>
                <a:sym typeface="DM Sans"/>
              </a:rPr>
              <a:t>RUNTIMES</a:t>
            </a:r>
            <a:endParaRPr dirty="0"/>
          </a:p>
        </p:txBody>
      </p:sp>
      <p:sp>
        <p:nvSpPr>
          <p:cNvPr id="30" name="Google Shape;166;p19">
            <a:extLst>
              <a:ext uri="{FF2B5EF4-FFF2-40B4-BE49-F238E27FC236}">
                <a16:creationId xmlns:a16="http://schemas.microsoft.com/office/drawing/2014/main" id="{6B1C3DB2-84D6-55D0-C18C-D11E875CAD67}"/>
              </a:ext>
            </a:extLst>
          </p:cNvPr>
          <p:cNvSpPr txBox="1"/>
          <p:nvPr/>
        </p:nvSpPr>
        <p:spPr>
          <a:xfrm>
            <a:off x="1047750" y="5002245"/>
            <a:ext cx="35147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ea typeface="DM Sans"/>
                <a:cs typeface="DM Sans"/>
                <a:sym typeface="DM Sans"/>
              </a:rPr>
              <a:t>Python 3.8 + 3.11</a:t>
            </a:r>
            <a:endParaRPr dirty="0"/>
          </a:p>
        </p:txBody>
      </p:sp>
      <p:sp>
        <p:nvSpPr>
          <p:cNvPr id="31" name="Google Shape;167;p19">
            <a:extLst>
              <a:ext uri="{FF2B5EF4-FFF2-40B4-BE49-F238E27FC236}">
                <a16:creationId xmlns:a16="http://schemas.microsoft.com/office/drawing/2014/main" id="{4F0C237A-D15A-57EF-B821-734D39CDD772}"/>
              </a:ext>
            </a:extLst>
          </p:cNvPr>
          <p:cNvSpPr txBox="1"/>
          <p:nvPr/>
        </p:nvSpPr>
        <p:spPr>
          <a:xfrm>
            <a:off x="1047750" y="5287995"/>
            <a:ext cx="35147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ea typeface="DM Sans"/>
                <a:cs typeface="DM Sans"/>
                <a:sym typeface="DM Sans"/>
              </a:rPr>
              <a:t>bridged via uv + JSON over stdio</a:t>
            </a:r>
            <a:endParaRPr/>
          </a:p>
        </p:txBody>
      </p:sp>
      <p:sp>
        <p:nvSpPr>
          <p:cNvPr id="33" name="Google Shape;168;p19">
            <a:extLst>
              <a:ext uri="{FF2B5EF4-FFF2-40B4-BE49-F238E27FC236}">
                <a16:creationId xmlns:a16="http://schemas.microsoft.com/office/drawing/2014/main" id="{7F9CC00E-5574-535B-D34B-85C20312A0BE}"/>
              </a:ext>
            </a:extLst>
          </p:cNvPr>
          <p:cNvSpPr/>
          <p:nvPr/>
        </p:nvSpPr>
        <p:spPr>
          <a:xfrm>
            <a:off x="5351780" y="3746091"/>
            <a:ext cx="30636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169;p19">
            <a:extLst>
              <a:ext uri="{FF2B5EF4-FFF2-40B4-BE49-F238E27FC236}">
                <a16:creationId xmlns:a16="http://schemas.microsoft.com/office/drawing/2014/main" id="{96B4100E-7818-EB43-C103-19AE6BA8F102}"/>
              </a:ext>
            </a:extLst>
          </p:cNvPr>
          <p:cNvSpPr/>
          <p:nvPr/>
        </p:nvSpPr>
        <p:spPr>
          <a:xfrm>
            <a:off x="8415406" y="3746091"/>
            <a:ext cx="15491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170;p19">
            <a:extLst>
              <a:ext uri="{FF2B5EF4-FFF2-40B4-BE49-F238E27FC236}">
                <a16:creationId xmlns:a16="http://schemas.microsoft.com/office/drawing/2014/main" id="{324C5FE5-7F5E-DC10-CED6-8FB49B1E9D32}"/>
              </a:ext>
            </a:extLst>
          </p:cNvPr>
          <p:cNvSpPr/>
          <p:nvPr/>
        </p:nvSpPr>
        <p:spPr>
          <a:xfrm>
            <a:off x="9964558" y="3746091"/>
            <a:ext cx="14451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171;p19">
            <a:extLst>
              <a:ext uri="{FF2B5EF4-FFF2-40B4-BE49-F238E27FC236}">
                <a16:creationId xmlns:a16="http://schemas.microsoft.com/office/drawing/2014/main" id="{4D216C65-11D7-26ED-CD2B-1818FAAD02DF}"/>
              </a:ext>
            </a:extLst>
          </p:cNvPr>
          <p:cNvSpPr/>
          <p:nvPr/>
        </p:nvSpPr>
        <p:spPr>
          <a:xfrm>
            <a:off x="5351780" y="4384266"/>
            <a:ext cx="30636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172;p19">
            <a:extLst>
              <a:ext uri="{FF2B5EF4-FFF2-40B4-BE49-F238E27FC236}">
                <a16:creationId xmlns:a16="http://schemas.microsoft.com/office/drawing/2014/main" id="{7C839AAA-6AE5-8397-DC85-38545651171A}"/>
              </a:ext>
            </a:extLst>
          </p:cNvPr>
          <p:cNvSpPr/>
          <p:nvPr/>
        </p:nvSpPr>
        <p:spPr>
          <a:xfrm>
            <a:off x="8415406" y="4384266"/>
            <a:ext cx="15491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173;p19">
            <a:extLst>
              <a:ext uri="{FF2B5EF4-FFF2-40B4-BE49-F238E27FC236}">
                <a16:creationId xmlns:a16="http://schemas.microsoft.com/office/drawing/2014/main" id="{4816541E-8E04-847D-E2E4-D818CC9E167F}"/>
              </a:ext>
            </a:extLst>
          </p:cNvPr>
          <p:cNvSpPr/>
          <p:nvPr/>
        </p:nvSpPr>
        <p:spPr>
          <a:xfrm>
            <a:off x="9964558" y="4384266"/>
            <a:ext cx="14451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174;p19">
            <a:extLst>
              <a:ext uri="{FF2B5EF4-FFF2-40B4-BE49-F238E27FC236}">
                <a16:creationId xmlns:a16="http://schemas.microsoft.com/office/drawing/2014/main" id="{70EAE1FF-498B-F8F3-D133-72A44B3E358A}"/>
              </a:ext>
            </a:extLst>
          </p:cNvPr>
          <p:cNvSpPr/>
          <p:nvPr/>
        </p:nvSpPr>
        <p:spPr>
          <a:xfrm>
            <a:off x="5351780" y="5022441"/>
            <a:ext cx="30636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75;p19">
            <a:extLst>
              <a:ext uri="{FF2B5EF4-FFF2-40B4-BE49-F238E27FC236}">
                <a16:creationId xmlns:a16="http://schemas.microsoft.com/office/drawing/2014/main" id="{5024EBC5-EF4F-F776-EF6C-A90224048E6D}"/>
              </a:ext>
            </a:extLst>
          </p:cNvPr>
          <p:cNvSpPr/>
          <p:nvPr/>
        </p:nvSpPr>
        <p:spPr>
          <a:xfrm>
            <a:off x="8415406" y="5022441"/>
            <a:ext cx="15491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176;p19">
            <a:extLst>
              <a:ext uri="{FF2B5EF4-FFF2-40B4-BE49-F238E27FC236}">
                <a16:creationId xmlns:a16="http://schemas.microsoft.com/office/drawing/2014/main" id="{854A517A-C491-895F-5E62-B24B1CD8FDE9}"/>
              </a:ext>
            </a:extLst>
          </p:cNvPr>
          <p:cNvSpPr/>
          <p:nvPr/>
        </p:nvSpPr>
        <p:spPr>
          <a:xfrm>
            <a:off x="9964558" y="5022441"/>
            <a:ext cx="14451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157;p19" descr="image.png">
            <a:extLst>
              <a:ext uri="{FF2B5EF4-FFF2-40B4-BE49-F238E27FC236}">
                <a16:creationId xmlns:a16="http://schemas.microsoft.com/office/drawing/2014/main" id="{0FB73479-94A0-A5E6-9E28-AF70870840A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1525" y="3194493"/>
            <a:ext cx="4038600" cy="11578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162;p19">
            <a:extLst>
              <a:ext uri="{FF2B5EF4-FFF2-40B4-BE49-F238E27FC236}">
                <a16:creationId xmlns:a16="http://schemas.microsoft.com/office/drawing/2014/main" id="{FA215E66-8C3B-C250-1DDF-58EE7D1215C2}"/>
              </a:ext>
            </a:extLst>
          </p:cNvPr>
          <p:cNvSpPr txBox="1"/>
          <p:nvPr/>
        </p:nvSpPr>
        <p:spPr>
          <a:xfrm>
            <a:off x="1047750" y="3370061"/>
            <a:ext cx="95377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16ABA"/>
                </a:solidFill>
                <a:ea typeface="DM Sans"/>
                <a:cs typeface="DM Sans"/>
                <a:sym typeface="DM Sans"/>
              </a:rPr>
              <a:t>GOAL</a:t>
            </a:r>
            <a:endParaRPr dirty="0"/>
          </a:p>
        </p:txBody>
      </p:sp>
      <p:sp>
        <p:nvSpPr>
          <p:cNvPr id="48" name="Google Shape;163;p19">
            <a:extLst>
              <a:ext uri="{FF2B5EF4-FFF2-40B4-BE49-F238E27FC236}">
                <a16:creationId xmlns:a16="http://schemas.microsoft.com/office/drawing/2014/main" id="{55604972-B8C8-5F5E-B99D-FAA0395B1E6F}"/>
              </a:ext>
            </a:extLst>
          </p:cNvPr>
          <p:cNvSpPr txBox="1"/>
          <p:nvPr/>
        </p:nvSpPr>
        <p:spPr>
          <a:xfrm>
            <a:off x="1047750" y="3598661"/>
            <a:ext cx="35147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500" b="1" dirty="0"/>
              <a:t>A working prototype</a:t>
            </a:r>
            <a:endParaRPr lang="en-IN" sz="1500" b="1" dirty="0"/>
          </a:p>
        </p:txBody>
      </p:sp>
      <p:sp>
        <p:nvSpPr>
          <p:cNvPr id="49" name="Google Shape;164;p19">
            <a:extLst>
              <a:ext uri="{FF2B5EF4-FFF2-40B4-BE49-F238E27FC236}">
                <a16:creationId xmlns:a16="http://schemas.microsoft.com/office/drawing/2014/main" id="{50D3A35D-7E31-58C1-888D-C3524527AEF0}"/>
              </a:ext>
            </a:extLst>
          </p:cNvPr>
          <p:cNvSpPr txBox="1"/>
          <p:nvPr/>
        </p:nvSpPr>
        <p:spPr>
          <a:xfrm>
            <a:off x="1047750" y="3884411"/>
            <a:ext cx="351472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200" dirty="0">
                <a:solidFill>
                  <a:srgbClr val="475569"/>
                </a:solidFill>
              </a:rPr>
              <a:t>not a full user study</a:t>
            </a:r>
            <a:endParaRPr sz="1200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357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3AE9D-7CA5-18CB-C066-2FEC2CD4F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8EA35-CC06-8294-E104-CFB087C58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Introduction &amp; Motivation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Dialogue Manager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Bayesian Reasoning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Helvetica" pitchFamily="2" charset="0"/>
              </a:rPr>
              <a:t>Behaviour &amp; Integration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Helvetica" pitchFamily="2" charset="0"/>
              </a:rPr>
              <a:t>Conclusion &amp; Future Work</a:t>
            </a:r>
          </a:p>
          <a:p>
            <a:endParaRPr lang="en-IN" dirty="0"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09A40-FE80-0EDB-FEA6-1D37FB63B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Social Event Recommendation Agent on Pepper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931B5-B5A2-9B0C-7961-5989B5E74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968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AAA8-E700-86EE-C0D3-B23FBC76D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DC3E-64EE-4DDF-83EF-59E507B7E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50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Conclusion &amp; Future Work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630354-4741-83D7-1814-C2A26AB80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C00C94-D9EB-A2CB-5F77-0BE58938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29</a:t>
            </a:fld>
            <a:endParaRPr lang="en-IN" dirty="0">
              <a:latin typeface="Helvetica" pitchFamily="2" charset="0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FC4590E5-11D0-26C4-696D-45A5E328E61C}"/>
              </a:ext>
            </a:extLst>
          </p:cNvPr>
          <p:cNvSpPr/>
          <p:nvPr/>
        </p:nvSpPr>
        <p:spPr>
          <a:xfrm>
            <a:off x="466090" y="1549972"/>
            <a:ext cx="1371600" cy="25603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73022BE-CE05-5545-B4C1-080C06FDAD73}"/>
              </a:ext>
            </a:extLst>
          </p:cNvPr>
          <p:cNvSpPr txBox="1"/>
          <p:nvPr/>
        </p:nvSpPr>
        <p:spPr>
          <a:xfrm>
            <a:off x="466090" y="15626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16ABA"/>
                </a:solidFill>
                <a:latin typeface="Segoe UI"/>
              </a:rPr>
              <a:t>CONCLUSIONS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DF451F1A-DB2A-52FE-07DE-279C2D7BAA2F}"/>
              </a:ext>
            </a:extLst>
          </p:cNvPr>
          <p:cNvSpPr/>
          <p:nvPr/>
        </p:nvSpPr>
        <p:spPr>
          <a:xfrm>
            <a:off x="466090" y="2010728"/>
            <a:ext cx="5591556" cy="555562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ABC6BD71-4CAB-CB7E-047C-C2DF1E793B9E}"/>
              </a:ext>
            </a:extLst>
          </p:cNvPr>
          <p:cNvSpPr/>
          <p:nvPr/>
        </p:nvSpPr>
        <p:spPr>
          <a:xfrm>
            <a:off x="466090" y="2010728"/>
            <a:ext cx="64008" cy="555562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139152BC-4F7C-C61A-8976-072ED0D2EE11}"/>
              </a:ext>
            </a:extLst>
          </p:cNvPr>
          <p:cNvSpPr/>
          <p:nvPr/>
        </p:nvSpPr>
        <p:spPr>
          <a:xfrm>
            <a:off x="630682" y="2116900"/>
            <a:ext cx="256032" cy="256032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F6F5A33-9FF0-7A68-F47A-6A40AE77D950}"/>
              </a:ext>
            </a:extLst>
          </p:cNvPr>
          <p:cNvSpPr txBox="1"/>
          <p:nvPr/>
        </p:nvSpPr>
        <p:spPr>
          <a:xfrm>
            <a:off x="630682" y="2142300"/>
            <a:ext cx="256032" cy="2700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C01622A6-7F3E-7E05-5E45-1B89A6609EB3}"/>
              </a:ext>
            </a:extLst>
          </p:cNvPr>
          <p:cNvSpPr txBox="1"/>
          <p:nvPr/>
        </p:nvSpPr>
        <p:spPr>
          <a:xfrm>
            <a:off x="978154" y="1998028"/>
            <a:ext cx="4997196" cy="306467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Segoe UI"/>
              </a:rPr>
              <a:t>Explainable by design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6C554D8-0A67-DBD2-F8B4-6F4C0BBC4785}"/>
              </a:ext>
            </a:extLst>
          </p:cNvPr>
          <p:cNvSpPr txBox="1"/>
          <p:nvPr/>
        </p:nvSpPr>
        <p:spPr>
          <a:xfrm>
            <a:off x="978154" y="2299780"/>
            <a:ext cx="4997196" cy="27241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607080"/>
                </a:solidFill>
                <a:latin typeface="Segoe UI"/>
              </a:rPr>
              <a:t>Every recommendation traces back to observed evidence and interpretable latent factors.</a:t>
            </a:r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3D5133B0-7162-1F5A-C85C-E8561A7D6D50}"/>
              </a:ext>
            </a:extLst>
          </p:cNvPr>
          <p:cNvSpPr/>
          <p:nvPr/>
        </p:nvSpPr>
        <p:spPr>
          <a:xfrm>
            <a:off x="466090" y="2674780"/>
            <a:ext cx="5591556" cy="579945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58CCDFB4-C259-D9A3-E361-E2AFA43B4B43}"/>
              </a:ext>
            </a:extLst>
          </p:cNvPr>
          <p:cNvSpPr/>
          <p:nvPr/>
        </p:nvSpPr>
        <p:spPr>
          <a:xfrm>
            <a:off x="466090" y="2674780"/>
            <a:ext cx="64008" cy="579945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B0863332-3705-08F0-0EA4-5BBD03AFFB12}"/>
              </a:ext>
            </a:extLst>
          </p:cNvPr>
          <p:cNvSpPr/>
          <p:nvPr/>
        </p:nvSpPr>
        <p:spPr>
          <a:xfrm>
            <a:off x="630682" y="2779237"/>
            <a:ext cx="256032" cy="256032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F63D480D-5A59-15E3-4BE7-6B45C51C3277}"/>
              </a:ext>
            </a:extLst>
          </p:cNvPr>
          <p:cNvSpPr txBox="1"/>
          <p:nvPr/>
        </p:nvSpPr>
        <p:spPr>
          <a:xfrm>
            <a:off x="630682" y="2804637"/>
            <a:ext cx="256032" cy="2700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BCC10AF-3DEB-3F74-48E8-DF38012E484F}"/>
              </a:ext>
            </a:extLst>
          </p:cNvPr>
          <p:cNvSpPr txBox="1"/>
          <p:nvPr/>
        </p:nvSpPr>
        <p:spPr>
          <a:xfrm>
            <a:off x="978154" y="2660365"/>
            <a:ext cx="4997196" cy="306467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Segoe UI"/>
              </a:rPr>
              <a:t>The LLM stays sandboxed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A21C96C7-A9F3-990F-933B-FDA613B59942}"/>
              </a:ext>
            </a:extLst>
          </p:cNvPr>
          <p:cNvSpPr txBox="1"/>
          <p:nvPr/>
        </p:nvSpPr>
        <p:spPr>
          <a:xfrm>
            <a:off x="978154" y="2962117"/>
            <a:ext cx="4997196" cy="27241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080"/>
                </a:solidFill>
                <a:latin typeface="Segoe UI"/>
              </a:rPr>
              <a:t>Free-form replies are parsed, then whitelisted - the model can never inject an illegal value.</a:t>
            </a: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8AA72C20-E873-4222-0D5B-FFE0B3345B86}"/>
              </a:ext>
            </a:extLst>
          </p:cNvPr>
          <p:cNvSpPr/>
          <p:nvPr/>
        </p:nvSpPr>
        <p:spPr>
          <a:xfrm>
            <a:off x="466090" y="3353722"/>
            <a:ext cx="5591556" cy="579945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F777BE26-B638-A2B5-A3FF-9D3CF997F74E}"/>
              </a:ext>
            </a:extLst>
          </p:cNvPr>
          <p:cNvSpPr/>
          <p:nvPr/>
        </p:nvSpPr>
        <p:spPr>
          <a:xfrm>
            <a:off x="466090" y="3353722"/>
            <a:ext cx="64008" cy="579945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D728D1C0-85A1-0D70-E00B-3BFFCAEFADC0}"/>
              </a:ext>
            </a:extLst>
          </p:cNvPr>
          <p:cNvSpPr/>
          <p:nvPr/>
        </p:nvSpPr>
        <p:spPr>
          <a:xfrm>
            <a:off x="630682" y="3458179"/>
            <a:ext cx="256032" cy="256032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FD5C397-FDC9-9A20-D9B9-E14635FE6CE1}"/>
              </a:ext>
            </a:extLst>
          </p:cNvPr>
          <p:cNvSpPr txBox="1"/>
          <p:nvPr/>
        </p:nvSpPr>
        <p:spPr>
          <a:xfrm>
            <a:off x="630682" y="3483579"/>
            <a:ext cx="256032" cy="2700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A207529-DABA-E8F8-0D4D-5110ADF80CE8}"/>
              </a:ext>
            </a:extLst>
          </p:cNvPr>
          <p:cNvSpPr txBox="1"/>
          <p:nvPr/>
        </p:nvSpPr>
        <p:spPr>
          <a:xfrm>
            <a:off x="978154" y="3339307"/>
            <a:ext cx="4997196" cy="306467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Segoe UI"/>
              </a:rPr>
              <a:t>Fault-tolerant interaction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650C2C1-B771-B5FE-B2FF-82981CD93169}"/>
              </a:ext>
            </a:extLst>
          </p:cNvPr>
          <p:cNvSpPr txBox="1"/>
          <p:nvPr/>
        </p:nvSpPr>
        <p:spPr>
          <a:xfrm>
            <a:off x="978154" y="3641059"/>
            <a:ext cx="4997196" cy="27241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080"/>
                </a:solidFill>
                <a:latin typeface="Segoe UI"/>
              </a:rPr>
              <a:t>Missing evidence, unclear answers, or the user leaving are all handled gracefully.</a:t>
            </a: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DE042D42-7DC2-5182-C14B-5197E5FB406A}"/>
              </a:ext>
            </a:extLst>
          </p:cNvPr>
          <p:cNvSpPr/>
          <p:nvPr/>
        </p:nvSpPr>
        <p:spPr>
          <a:xfrm>
            <a:off x="466090" y="4060024"/>
            <a:ext cx="5591556" cy="579945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D5C7BA4F-3B51-1F42-FEA9-9E273E8BAEA8}"/>
              </a:ext>
            </a:extLst>
          </p:cNvPr>
          <p:cNvSpPr/>
          <p:nvPr/>
        </p:nvSpPr>
        <p:spPr>
          <a:xfrm>
            <a:off x="466090" y="4060024"/>
            <a:ext cx="64008" cy="579945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1AB63BBA-8180-F42D-BAD1-595A931FC701}"/>
              </a:ext>
            </a:extLst>
          </p:cNvPr>
          <p:cNvSpPr/>
          <p:nvPr/>
        </p:nvSpPr>
        <p:spPr>
          <a:xfrm>
            <a:off x="630682" y="4164481"/>
            <a:ext cx="256032" cy="256032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53F981C-D290-792B-C83F-01A07639EEC5}"/>
              </a:ext>
            </a:extLst>
          </p:cNvPr>
          <p:cNvSpPr txBox="1"/>
          <p:nvPr/>
        </p:nvSpPr>
        <p:spPr>
          <a:xfrm>
            <a:off x="630682" y="4189881"/>
            <a:ext cx="256032" cy="2700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8368CAB-4F27-C61A-5297-6214E92AF939}"/>
              </a:ext>
            </a:extLst>
          </p:cNvPr>
          <p:cNvSpPr txBox="1"/>
          <p:nvPr/>
        </p:nvSpPr>
        <p:spPr>
          <a:xfrm>
            <a:off x="978154" y="4045609"/>
            <a:ext cx="4997196" cy="306467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Segoe UI"/>
              </a:rPr>
              <a:t>Two runtimes, one bridge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7E4530D5-B5FD-FD29-D84F-A5F7950C80FF}"/>
              </a:ext>
            </a:extLst>
          </p:cNvPr>
          <p:cNvSpPr txBox="1"/>
          <p:nvPr/>
        </p:nvSpPr>
        <p:spPr>
          <a:xfrm>
            <a:off x="978154" y="4347361"/>
            <a:ext cx="4997196" cy="27241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607080"/>
                </a:solidFill>
                <a:latin typeface="Segoe UI"/>
              </a:rPr>
              <a:t>Robot (Py 3.8) and dialogue (Py 3.11) run as separate processes over JSON / stdio.</a:t>
            </a:r>
            <a:r>
              <a:rPr lang="en-US" sz="1000" b="0" dirty="0">
                <a:solidFill>
                  <a:srgbClr val="607080"/>
                </a:solidFill>
                <a:latin typeface="Segoe UI"/>
              </a:rPr>
              <a:t/>
            </a:r>
            <a:r>
              <a:rPr lang="en-IN" sz="1000" b="1" dirty="0">
                <a:solidFill>
                  <a:srgbClr val="016ABA"/>
                </a:solidFill>
                <a:latin typeface="Helvetica" pitchFamily="2" charset="0"/>
              </a:rPr>
              <a:t/>
            </a:r>
            <a:r>
              <a:rPr lang="en-US" sz="1000" b="0" dirty="0">
                <a:solidFill>
                  <a:srgbClr val="607080"/>
                </a:solidFill>
                <a:latin typeface="Segoe UI"/>
              </a:rPr>
              <a:t/>
            </a:r>
            <a:endParaRPr sz="1000" b="0" dirty="0">
              <a:solidFill>
                <a:srgbClr val="607080"/>
              </a:solidFill>
              <a:latin typeface="Segoe UI"/>
            </a:endParaRP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221BDDFA-04F6-1D47-5440-805517F99C16}"/>
              </a:ext>
            </a:extLst>
          </p:cNvPr>
          <p:cNvSpPr/>
          <p:nvPr/>
        </p:nvSpPr>
        <p:spPr>
          <a:xfrm>
            <a:off x="466090" y="5390452"/>
            <a:ext cx="5591556" cy="18288"/>
          </a:xfrm>
          <a:prstGeom prst="round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6EA4B7F-6646-68AA-4C0A-5796B7481B2B}"/>
              </a:ext>
            </a:extLst>
          </p:cNvPr>
          <p:cNvSpPr txBox="1"/>
          <p:nvPr/>
        </p:nvSpPr>
        <p:spPr>
          <a:xfrm>
            <a:off x="466090" y="5445316"/>
            <a:ext cx="13978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6ABA"/>
                </a:solidFill>
                <a:latin typeface="Segoe UI"/>
              </a:rPr>
              <a:t>6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AC91C7A-CF5D-E7EC-2976-463D076B0E02}"/>
              </a:ext>
            </a:extLst>
          </p:cNvPr>
          <p:cNvSpPr txBox="1"/>
          <p:nvPr/>
        </p:nvSpPr>
        <p:spPr>
          <a:xfrm>
            <a:off x="466090" y="5719636"/>
            <a:ext cx="139788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Segoe UI"/>
              </a:rPr>
              <a:t>Preference slots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C1A5ADA-C955-3CF9-0897-B88B3B2F2C19}"/>
              </a:ext>
            </a:extLst>
          </p:cNvPr>
          <p:cNvSpPr txBox="1"/>
          <p:nvPr/>
        </p:nvSpPr>
        <p:spPr>
          <a:xfrm>
            <a:off x="1863979" y="5445316"/>
            <a:ext cx="13978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6ABA"/>
                </a:solidFill>
                <a:latin typeface="Segoe UI"/>
              </a:rPr>
              <a:t>8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4BB5E15C-5E98-3E4F-DAA8-92896FC16043}"/>
              </a:ext>
            </a:extLst>
          </p:cNvPr>
          <p:cNvSpPr txBox="1"/>
          <p:nvPr/>
        </p:nvSpPr>
        <p:spPr>
          <a:xfrm>
            <a:off x="1863979" y="5719636"/>
            <a:ext cx="139788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Segoe UI"/>
              </a:rPr>
              <a:t>Event categories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6A40A2A8-4DA0-3A70-E4B3-425F477E1250}"/>
              </a:ext>
            </a:extLst>
          </p:cNvPr>
          <p:cNvSpPr txBox="1"/>
          <p:nvPr/>
        </p:nvSpPr>
        <p:spPr>
          <a:xfrm>
            <a:off x="3261868" y="5445316"/>
            <a:ext cx="13978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6ABA"/>
                </a:solidFill>
                <a:latin typeface="Segoe UI"/>
              </a:rPr>
              <a:t>2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91A4330-1D06-66C4-E86B-35E9F1F74843}"/>
              </a:ext>
            </a:extLst>
          </p:cNvPr>
          <p:cNvSpPr txBox="1"/>
          <p:nvPr/>
        </p:nvSpPr>
        <p:spPr>
          <a:xfrm>
            <a:off x="3261868" y="5719636"/>
            <a:ext cx="139788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Segoe UI"/>
              </a:rPr>
              <a:t>Python runtimes bridged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65E6EC2-0CE4-08D4-7F3D-F0102F8808EF}"/>
              </a:ext>
            </a:extLst>
          </p:cNvPr>
          <p:cNvSpPr txBox="1"/>
          <p:nvPr/>
        </p:nvSpPr>
        <p:spPr>
          <a:xfrm>
            <a:off x="4659757" y="5445316"/>
            <a:ext cx="13978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016ABA"/>
                </a:solidFill>
                <a:latin typeface="Segoe UI"/>
              </a:rPr>
              <a:t>5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9A326E88-C7C9-135D-DA85-DDE7C26B20FB}"/>
              </a:ext>
            </a:extLst>
          </p:cNvPr>
          <p:cNvSpPr txBox="1"/>
          <p:nvPr/>
        </p:nvSpPr>
        <p:spPr>
          <a:xfrm>
            <a:off x="4659757" y="5719636"/>
            <a:ext cx="139788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7080"/>
                </a:solidFill>
                <a:latin typeface="Segoe UI"/>
              </a:rPr>
              <a:t>Evaluation checks passed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02D6CBB4-64E9-BF18-38C8-93A6EAF9CAEC}"/>
              </a:ext>
            </a:extLst>
          </p:cNvPr>
          <p:cNvSpPr/>
          <p:nvPr/>
        </p:nvSpPr>
        <p:spPr>
          <a:xfrm>
            <a:off x="6423406" y="1549972"/>
            <a:ext cx="1371600" cy="256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E905B735-9505-1D3F-96CD-DD41673180E2}"/>
              </a:ext>
            </a:extLst>
          </p:cNvPr>
          <p:cNvSpPr txBox="1"/>
          <p:nvPr/>
        </p:nvSpPr>
        <p:spPr>
          <a:xfrm>
            <a:off x="6423406" y="15626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Segoe UI"/>
              </a:rPr>
              <a:t>FUTURE WORK</a:t>
            </a:r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1EC0680B-2005-E919-3051-7F434276FE53}"/>
              </a:ext>
            </a:extLst>
          </p:cNvPr>
          <p:cNvSpPr/>
          <p:nvPr/>
        </p:nvSpPr>
        <p:spPr>
          <a:xfrm>
            <a:off x="6423406" y="1934020"/>
            <a:ext cx="5591556" cy="8046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1992609C-5C61-A9A7-26CB-95B6C102D6D8}"/>
              </a:ext>
            </a:extLst>
          </p:cNvPr>
          <p:cNvSpPr/>
          <p:nvPr/>
        </p:nvSpPr>
        <p:spPr>
          <a:xfrm>
            <a:off x="6423406" y="1934020"/>
            <a:ext cx="64008" cy="8046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: Rounded Corners 194">
            <a:extLst>
              <a:ext uri="{FF2B5EF4-FFF2-40B4-BE49-F238E27FC236}">
                <a16:creationId xmlns:a16="http://schemas.microsoft.com/office/drawing/2014/main" id="{92B94D71-1907-B8C9-4BBC-414731F1EE89}"/>
              </a:ext>
            </a:extLst>
          </p:cNvPr>
          <p:cNvSpPr/>
          <p:nvPr/>
        </p:nvSpPr>
        <p:spPr>
          <a:xfrm>
            <a:off x="6587998" y="2116900"/>
            <a:ext cx="25603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9FE2AD8C-12A0-3DA3-7CE4-F343573542FA}"/>
              </a:ext>
            </a:extLst>
          </p:cNvPr>
          <p:cNvSpPr txBox="1"/>
          <p:nvPr/>
        </p:nvSpPr>
        <p:spPr>
          <a:xfrm>
            <a:off x="6587998" y="2142300"/>
            <a:ext cx="256032" cy="2700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B479C4E2-A69E-BBAE-0418-85BE4BF5A99C}"/>
              </a:ext>
            </a:extLst>
          </p:cNvPr>
          <p:cNvSpPr txBox="1"/>
          <p:nvPr/>
        </p:nvSpPr>
        <p:spPr>
          <a:xfrm>
            <a:off x="6935470" y="1998028"/>
            <a:ext cx="4997196" cy="306467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Segoe UI"/>
              </a:rPr>
              <a:t>Face-recognition greeting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404D3701-E8C7-8E5B-1875-88D4431C2342}"/>
              </a:ext>
            </a:extLst>
          </p:cNvPr>
          <p:cNvSpPr txBox="1"/>
          <p:nvPr/>
        </p:nvSpPr>
        <p:spPr>
          <a:xfrm>
            <a:off x="6935470" y="2299780"/>
            <a:ext cx="4997196" cy="27241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080"/>
                </a:solidFill>
                <a:latin typeface="Segoe UI"/>
              </a:rPr>
              <a:t>Recognise returning users and personalise the greeting.</a:t>
            </a:r>
          </a:p>
        </p:txBody>
      </p: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2A9CC349-2007-1C69-1013-FAD6F76A8BF6}"/>
              </a:ext>
            </a:extLst>
          </p:cNvPr>
          <p:cNvSpPr/>
          <p:nvPr/>
        </p:nvSpPr>
        <p:spPr>
          <a:xfrm>
            <a:off x="6423406" y="2793556"/>
            <a:ext cx="5591556" cy="8046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6C9C612C-15A3-E46C-5F67-19980A952BF3}"/>
              </a:ext>
            </a:extLst>
          </p:cNvPr>
          <p:cNvSpPr/>
          <p:nvPr/>
        </p:nvSpPr>
        <p:spPr>
          <a:xfrm>
            <a:off x="6423406" y="2793556"/>
            <a:ext cx="64008" cy="8046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: Rounded Corners 200">
            <a:extLst>
              <a:ext uri="{FF2B5EF4-FFF2-40B4-BE49-F238E27FC236}">
                <a16:creationId xmlns:a16="http://schemas.microsoft.com/office/drawing/2014/main" id="{968F69C1-7234-E169-841E-E56CFD22EE53}"/>
              </a:ext>
            </a:extLst>
          </p:cNvPr>
          <p:cNvSpPr/>
          <p:nvPr/>
        </p:nvSpPr>
        <p:spPr>
          <a:xfrm>
            <a:off x="6587998" y="2976436"/>
            <a:ext cx="25603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23A2363A-A600-4DC1-8D66-A33B17502B9A}"/>
              </a:ext>
            </a:extLst>
          </p:cNvPr>
          <p:cNvSpPr txBox="1"/>
          <p:nvPr/>
        </p:nvSpPr>
        <p:spPr>
          <a:xfrm>
            <a:off x="6587998" y="3001836"/>
            <a:ext cx="256032" cy="2700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1A476FA-772B-6366-FA6E-437B63F87D82}"/>
              </a:ext>
            </a:extLst>
          </p:cNvPr>
          <p:cNvSpPr txBox="1"/>
          <p:nvPr/>
        </p:nvSpPr>
        <p:spPr>
          <a:xfrm>
            <a:off x="6935470" y="2857564"/>
            <a:ext cx="4997196" cy="306467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Segoe UI"/>
              </a:rPr>
              <a:t>On-hardware evaluation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594475F7-F294-F789-9D7B-0AC55197D752}"/>
              </a:ext>
            </a:extLst>
          </p:cNvPr>
          <p:cNvSpPr txBox="1"/>
          <p:nvPr/>
        </p:nvSpPr>
        <p:spPr>
          <a:xfrm>
            <a:off x="6935470" y="3159316"/>
            <a:ext cx="4997196" cy="27241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080"/>
                </a:solidFill>
                <a:latin typeface="Segoe UI"/>
              </a:rPr>
              <a:t>Run the five demo checks on the physical Pepper robot, not just qiBullet.</a:t>
            </a: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12F85483-7DCF-02A2-4A75-92819077081D}"/>
              </a:ext>
            </a:extLst>
          </p:cNvPr>
          <p:cNvSpPr/>
          <p:nvPr/>
        </p:nvSpPr>
        <p:spPr>
          <a:xfrm>
            <a:off x="6423406" y="3653092"/>
            <a:ext cx="5591556" cy="8046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id="{01C82E26-52E6-7402-C400-0FE3D11B9211}"/>
              </a:ext>
            </a:extLst>
          </p:cNvPr>
          <p:cNvSpPr/>
          <p:nvPr/>
        </p:nvSpPr>
        <p:spPr>
          <a:xfrm>
            <a:off x="6423406" y="3653092"/>
            <a:ext cx="64008" cy="8046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F93CB57F-6B62-5C95-1A78-3E3B80C4F51F}"/>
              </a:ext>
            </a:extLst>
          </p:cNvPr>
          <p:cNvSpPr/>
          <p:nvPr/>
        </p:nvSpPr>
        <p:spPr>
          <a:xfrm>
            <a:off x="6587998" y="3835972"/>
            <a:ext cx="25603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8491C934-EFE1-4F96-905F-12CC0B41B424}"/>
              </a:ext>
            </a:extLst>
          </p:cNvPr>
          <p:cNvSpPr txBox="1"/>
          <p:nvPr/>
        </p:nvSpPr>
        <p:spPr>
          <a:xfrm>
            <a:off x="6587998" y="3861372"/>
            <a:ext cx="256032" cy="2700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F4260AC7-9568-C0CE-B4B1-E9CED854EB52}"/>
              </a:ext>
            </a:extLst>
          </p:cNvPr>
          <p:cNvSpPr txBox="1"/>
          <p:nvPr/>
        </p:nvSpPr>
        <p:spPr>
          <a:xfrm>
            <a:off x="6935470" y="3717100"/>
            <a:ext cx="4997196" cy="306467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Segoe UI"/>
              </a:rPr>
              <a:t>Richer preference elicitation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44A8016-3AE7-9267-5430-BFB5214D0587}"/>
              </a:ext>
            </a:extLst>
          </p:cNvPr>
          <p:cNvSpPr txBox="1"/>
          <p:nvPr/>
        </p:nvSpPr>
        <p:spPr>
          <a:xfrm>
            <a:off x="6935470" y="4018852"/>
            <a:ext cx="4997196" cy="27241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080"/>
                </a:solidFill>
                <a:latin typeface="Segoe UI"/>
              </a:rPr>
              <a:t>Let the LLM ask smarter follow-ups instead of a fixed six-slot order.</a:t>
            </a:r>
          </a:p>
        </p:txBody>
      </p:sp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624FFC0A-FC6F-0491-940E-37CFCF80D75C}"/>
              </a:ext>
            </a:extLst>
          </p:cNvPr>
          <p:cNvSpPr/>
          <p:nvPr/>
        </p:nvSpPr>
        <p:spPr>
          <a:xfrm>
            <a:off x="6423406" y="4512628"/>
            <a:ext cx="5591556" cy="8046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58C908D2-E8F7-9EBF-4B3B-05D9DA8D5E00}"/>
              </a:ext>
            </a:extLst>
          </p:cNvPr>
          <p:cNvSpPr/>
          <p:nvPr/>
        </p:nvSpPr>
        <p:spPr>
          <a:xfrm>
            <a:off x="6423406" y="4512628"/>
            <a:ext cx="64008" cy="8046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1A5BC66A-7867-D3AA-CD32-49E6495C18C7}"/>
              </a:ext>
            </a:extLst>
          </p:cNvPr>
          <p:cNvSpPr/>
          <p:nvPr/>
        </p:nvSpPr>
        <p:spPr>
          <a:xfrm>
            <a:off x="6587998" y="4695508"/>
            <a:ext cx="25603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19E5AA13-40A6-C075-D744-B56EAE909716}"/>
              </a:ext>
            </a:extLst>
          </p:cNvPr>
          <p:cNvSpPr txBox="1"/>
          <p:nvPr/>
        </p:nvSpPr>
        <p:spPr>
          <a:xfrm>
            <a:off x="6587998" y="4720908"/>
            <a:ext cx="256032" cy="2700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A125353-E46B-C3DA-D501-5F4C397745CB}"/>
              </a:ext>
            </a:extLst>
          </p:cNvPr>
          <p:cNvSpPr txBox="1"/>
          <p:nvPr/>
        </p:nvSpPr>
        <p:spPr>
          <a:xfrm>
            <a:off x="6935470" y="4576636"/>
            <a:ext cx="4997196" cy="306467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Segoe UI"/>
              </a:rPr>
              <a:t>Broader event catalogue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841B17A-1085-DF7B-8EDD-F4EC7D873DC9}"/>
              </a:ext>
            </a:extLst>
          </p:cNvPr>
          <p:cNvSpPr txBox="1"/>
          <p:nvPr/>
        </p:nvSpPr>
        <p:spPr>
          <a:xfrm>
            <a:off x="6935470" y="4878388"/>
            <a:ext cx="4997196" cy="27241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7080"/>
                </a:solidFill>
                <a:latin typeface="Segoe UI"/>
              </a:rPr>
              <a:t>Grow past eight categories using real local event listings.</a:t>
            </a: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F2C9377B-A39B-22D9-E819-2DCD75AC38D9}"/>
              </a:ext>
            </a:extLst>
          </p:cNvPr>
          <p:cNvSpPr/>
          <p:nvPr/>
        </p:nvSpPr>
        <p:spPr>
          <a:xfrm>
            <a:off x="466090" y="4739450"/>
            <a:ext cx="5591556" cy="579945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E46A36FF-8236-EB13-3091-1D0C79ABA089}"/>
              </a:ext>
            </a:extLst>
          </p:cNvPr>
          <p:cNvSpPr/>
          <p:nvPr/>
        </p:nvSpPr>
        <p:spPr>
          <a:xfrm>
            <a:off x="466090" y="4739450"/>
            <a:ext cx="64008" cy="579945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B5EEF3FB-9514-58E4-A41B-FA6EA83E30CC}"/>
              </a:ext>
            </a:extLst>
          </p:cNvPr>
          <p:cNvSpPr/>
          <p:nvPr/>
        </p:nvSpPr>
        <p:spPr>
          <a:xfrm>
            <a:off x="630682" y="4843907"/>
            <a:ext cx="256032" cy="256032"/>
          </a:xfrm>
          <a:prstGeom prst="roundRect">
            <a:avLst/>
          </a:prstGeom>
          <a:solidFill>
            <a:srgbClr val="016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52E216E-BE05-4FD1-9DD1-7850DBF98582}"/>
              </a:ext>
            </a:extLst>
          </p:cNvPr>
          <p:cNvSpPr txBox="1"/>
          <p:nvPr/>
        </p:nvSpPr>
        <p:spPr>
          <a:xfrm>
            <a:off x="630682" y="4869307"/>
            <a:ext cx="256032" cy="27003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Segoe UI"/>
              </a:rPr>
              <a:t>5</a:t>
            </a:r>
            <a:endParaRPr sz="10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58CDB4E3-B8DF-B9C8-D3D6-6976A91AD23B}"/>
              </a:ext>
            </a:extLst>
          </p:cNvPr>
          <p:cNvSpPr txBox="1"/>
          <p:nvPr/>
        </p:nvSpPr>
        <p:spPr>
          <a:xfrm>
            <a:off x="978154" y="4725035"/>
            <a:ext cx="4997196" cy="306467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200" b="1" dirty="0">
                <a:solidFill>
                  <a:srgbClr val="1A2A3A"/>
                </a:solidFill>
                <a:latin typeface="Segoe UI"/>
              </a:rPr>
              <a:t>All five work packages complete</a:t>
            </a:r>
            <a:endParaRPr sz="1200" b="1" dirty="0">
              <a:solidFill>
                <a:srgbClr val="1A2A3A"/>
              </a:solidFill>
              <a:latin typeface="Segoe UI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1B4B7978-DBBC-270A-B110-3CF353806F26}"/>
              </a:ext>
            </a:extLst>
          </p:cNvPr>
          <p:cNvSpPr txBox="1"/>
          <p:nvPr/>
        </p:nvSpPr>
        <p:spPr>
          <a:xfrm>
            <a:off x="978154" y="5026787"/>
            <a:ext cx="4997196" cy="272415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dirty="0">
                <a:solidFill>
                  <a:srgbClr val="607080"/>
                </a:solidFill>
                <a:latin typeface="Segoe UI"/>
              </a:rPr>
              <a:t>Perception, dialogue, reasoning, behaviour and integration all wired end-to-end.</a:t>
            </a:r>
            <a:endParaRPr sz="1000" b="0" dirty="0">
              <a:solidFill>
                <a:srgbClr val="60708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09979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266A0-3549-EE57-B5CB-2FB92619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D5BEB9B-FCB7-8553-F466-ABC00647E264}"/>
              </a:ext>
            </a:extLst>
          </p:cNvPr>
          <p:cNvSpPr/>
          <p:nvPr/>
        </p:nvSpPr>
        <p:spPr>
          <a:xfrm>
            <a:off x="544609" y="1678080"/>
            <a:ext cx="2523564" cy="4087906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F4C19-54F6-BD72-B77B-AF1857E3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Tech Stack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C09C7-7B57-C007-C9B3-2CCA2B1B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Social Event Recommendation Agent on Pepper</a:t>
            </a:r>
            <a:endParaRPr lang="en-IN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61664-8D0D-DFAB-761D-77F71F485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>
                <a:latin typeface="Helvetica" pitchFamily="2" charset="0"/>
              </a:rPr>
              <a:t>33</a:t>
            </a:fld>
            <a:endParaRPr lang="en-IN" dirty="0">
              <a:latin typeface="Helvetica" pitchFamily="2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C450118-1936-323C-83A5-5D338BF134CE}"/>
              </a:ext>
            </a:extLst>
          </p:cNvPr>
          <p:cNvSpPr/>
          <p:nvPr/>
        </p:nvSpPr>
        <p:spPr>
          <a:xfrm>
            <a:off x="544609" y="1678082"/>
            <a:ext cx="2523564" cy="1074083"/>
          </a:xfrm>
          <a:prstGeom prst="roundRect">
            <a:avLst>
              <a:gd name="adj" fmla="val 40037"/>
            </a:avLst>
          </a:prstGeom>
          <a:solidFill>
            <a:srgbClr val="016ABA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Helvetica" pitchFamily="2" charset="0"/>
              </a:rPr>
              <a:t>Simulation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BDDF96-7F21-BEE2-8A66-00CDC4A5FFF8}"/>
              </a:ext>
            </a:extLst>
          </p:cNvPr>
          <p:cNvSpPr/>
          <p:nvPr/>
        </p:nvSpPr>
        <p:spPr>
          <a:xfrm>
            <a:off x="544609" y="2764771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>qiBullet / PyBullet - Pepper's joints, camera and tablet texture.</a:t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/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5F7D57A-C7DC-BA34-3A3F-099A05B645F6}"/>
              </a:ext>
            </a:extLst>
          </p:cNvPr>
          <p:cNvSpPr/>
          <p:nvPr/>
        </p:nvSpPr>
        <p:spPr>
          <a:xfrm>
            <a:off x="9219641" y="1703294"/>
            <a:ext cx="2523564" cy="1074083"/>
          </a:xfrm>
          <a:prstGeom prst="roundRect">
            <a:avLst>
              <a:gd name="adj" fmla="val 4003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Helvetica" pitchFamily="2" charset="0"/>
              </a:rPr>
              <a:t> Traditional Post-Processing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3578145-CF3F-C517-06CD-42A4B0F4CCC0}"/>
              </a:ext>
            </a:extLst>
          </p:cNvPr>
          <p:cNvSpPr/>
          <p:nvPr/>
        </p:nvSpPr>
        <p:spPr>
          <a:xfrm>
            <a:off x="9219641" y="2764769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Helvetica" pitchFamily="2" charset="0"/>
              </a:rPr>
              <a:t>KNN majority voting smooths isolated misclassifications based on local spatial proximity. DBSCAN [5] enforces geometric consistency within isolated clusters. CRFs [6] model pairwise contextual potentials to enforce boundary coherence. Graph-structured label smoothing [7] improves classification accuracy while preserving spatial context.</a:t>
            </a:r>
            <a:endParaRPr lang="en-IN" sz="12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1A4FF1-C189-06B8-9D64-0496DF425491}"/>
              </a:ext>
            </a:extLst>
          </p:cNvPr>
          <p:cNvSpPr/>
          <p:nvPr/>
        </p:nvSpPr>
        <p:spPr>
          <a:xfrm>
            <a:off x="6306671" y="1678078"/>
            <a:ext cx="2523564" cy="4087906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CCA1030-164A-28D8-6043-27C00399BF4B}"/>
              </a:ext>
            </a:extLst>
          </p:cNvPr>
          <p:cNvSpPr/>
          <p:nvPr/>
        </p:nvSpPr>
        <p:spPr>
          <a:xfrm>
            <a:off x="6306671" y="1678080"/>
            <a:ext cx="2523564" cy="1074083"/>
          </a:xfrm>
          <a:prstGeom prst="roundRect">
            <a:avLst>
              <a:gd name="adj" fmla="val 40037"/>
            </a:avLst>
          </a:prstGeom>
          <a:solidFill>
            <a:srgbClr val="016ABA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Helvetica" pitchFamily="2" charset="0"/>
              </a:rPr>
              <a:t>Reasoning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C04C46F-6335-E1FC-1215-03C3215B6729}"/>
              </a:ext>
            </a:extLst>
          </p:cNvPr>
          <p:cNvSpPr/>
          <p:nvPr/>
        </p:nvSpPr>
        <p:spPr>
          <a:xfrm>
            <a:off x="6306671" y="2764769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solidFill>
                  <a:srgbClr val="0058A7"/>
                </a:solidFill>
                <a:latin typeface="Helvetica"/>
              </a:rPr>
              <a:t>pyAgrum - the explainable Bayesian network engine.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32FE9AE-C73E-EAAD-4F65-D6DE691D583C}"/>
              </a:ext>
            </a:extLst>
          </p:cNvPr>
          <p:cNvSpPr/>
          <p:nvPr/>
        </p:nvSpPr>
        <p:spPr>
          <a:xfrm>
            <a:off x="9155765" y="1678076"/>
            <a:ext cx="2523564" cy="4087906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4C217E9-B213-D1DA-676F-7D04C21CCA17}"/>
              </a:ext>
            </a:extLst>
          </p:cNvPr>
          <p:cNvSpPr/>
          <p:nvPr/>
        </p:nvSpPr>
        <p:spPr>
          <a:xfrm>
            <a:off x="9155765" y="1678078"/>
            <a:ext cx="2523564" cy="1074083"/>
          </a:xfrm>
          <a:prstGeom prst="roundRect">
            <a:avLst>
              <a:gd name="adj" fmla="val 40037"/>
            </a:avLst>
          </a:prstGeom>
          <a:solidFill>
            <a:srgbClr val="016ABA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Helvetica" pitchFamily="2" charset="0"/>
              </a:rPr>
              <a:t>Voice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7AF8212-5911-C79B-E31A-1E55D3BDBABF}"/>
              </a:ext>
            </a:extLst>
          </p:cNvPr>
          <p:cNvSpPr/>
          <p:nvPr/>
        </p:nvSpPr>
        <p:spPr>
          <a:xfrm>
            <a:off x="9155765" y="2764767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>edge-tts / pyttsx3 for speech, faster-whisper for local ASR.</a:t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/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5BB1977-FE5D-BFD6-7C88-25FE16C49899}"/>
              </a:ext>
            </a:extLst>
          </p:cNvPr>
          <p:cNvSpPr/>
          <p:nvPr/>
        </p:nvSpPr>
        <p:spPr>
          <a:xfrm>
            <a:off x="3457578" y="1703294"/>
            <a:ext cx="2523564" cy="1074083"/>
          </a:xfrm>
          <a:prstGeom prst="roundRect">
            <a:avLst>
              <a:gd name="adj" fmla="val 4003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Helvetica" pitchFamily="2" charset="0"/>
              </a:rPr>
              <a:t> Traditional Post-Processing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86E8534-0D75-3C49-A351-5C13928EC750}"/>
              </a:ext>
            </a:extLst>
          </p:cNvPr>
          <p:cNvSpPr/>
          <p:nvPr/>
        </p:nvSpPr>
        <p:spPr>
          <a:xfrm>
            <a:off x="3457578" y="2764769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Helvetica" pitchFamily="2" charset="0"/>
              </a:rPr>
              <a:t>mity. DBSCAN [5] enforces geometric consistency within isolated clusters. CRFs [6] model pairwise contextual potentials to enforce boundary coherence. Graph-structured label smoothing [7] improves classification accuracy while preserving spatial context.</a:t>
            </a:r>
            <a:endParaRPr lang="en-IN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D55AEEE-5094-D9E1-1A12-EEF7583719C2}"/>
              </a:ext>
            </a:extLst>
          </p:cNvPr>
          <p:cNvSpPr/>
          <p:nvPr/>
        </p:nvSpPr>
        <p:spPr>
          <a:xfrm>
            <a:off x="3393702" y="1678076"/>
            <a:ext cx="2523564" cy="4087906"/>
          </a:xfrm>
          <a:prstGeom prst="roundRect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6D2CFE8-1982-725A-9D07-8EF97B2E6FFF}"/>
              </a:ext>
            </a:extLst>
          </p:cNvPr>
          <p:cNvSpPr/>
          <p:nvPr/>
        </p:nvSpPr>
        <p:spPr>
          <a:xfrm>
            <a:off x="3393702" y="1678078"/>
            <a:ext cx="2523564" cy="1074083"/>
          </a:xfrm>
          <a:prstGeom prst="roundRect">
            <a:avLst>
              <a:gd name="adj" fmla="val 40037"/>
            </a:avLst>
          </a:prstGeom>
          <a:solidFill>
            <a:srgbClr val="016ABA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Helvetica" pitchFamily="2" charset="0"/>
              </a:rPr>
              <a:t>Dialogue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E85DD90-82CE-12DA-C9EE-0A3BE57430E5}"/>
              </a:ext>
            </a:extLst>
          </p:cNvPr>
          <p:cNvSpPr/>
          <p:nvPr/>
        </p:nvSpPr>
        <p:spPr>
          <a:xfrm>
            <a:off x="3393702" y="2764767"/>
            <a:ext cx="2523564" cy="300121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58A7"/>
                </a:solidFill>
                <a:latin typeface="Helvetica" pitchFamily="2" charset="0"/>
              </a:rPr>
              <a:t>LangGraph multi-agent graph + Groq (free Llama 3.3).</a:t>
            </a:r>
            <a:r>
              <a:rPr lang="en-US" sz="1200" dirty="0">
                <a:solidFill>
                  <a:schemeClr val="tx1"/>
                </a:solidFill>
                <a:latin typeface="Helvetica" pitchFamily="2" charset="0"/>
              </a:rPr>
              <a:t/>
            </a:r>
            <a:endParaRPr lang="en-I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620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3851839-7E8A-8B1C-F507-83829B0159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16ABA"/>
                </a:solidFill>
                <a:latin typeface="Helvetica" pitchFamily="2" charset="0"/>
              </a:rPr>
              <a:t>Thank You</a:t>
            </a:r>
            <a:endParaRPr lang="en-IN" sz="4000" b="1" dirty="0">
              <a:solidFill>
                <a:srgbClr val="016ABA"/>
              </a:solidFill>
              <a:latin typeface="Helvetica" pitchFamily="2" charset="0"/>
            </a:endParaRPr>
          </a:p>
          <a:p>
            <a:pPr algn="ctr"/>
            <a:r>
              <a:rPr sz="1800" b="0">
                <a:solidFill>
                  <a:srgbClr val="595959"/>
                </a:solidFill>
                <a:latin typeface="Helvetica"/>
              </a:rPr>
              <a:t>Questions? A live demo is available.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07A4FC-3472-C8A4-CF21-6E50E0726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Social Event Recommendation Agent on Pepper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CAA1E-5720-EDDE-8F77-BB823D50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6FF4-D785-4CFB-BD3E-192B384FC61D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417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4281</TotalTime>
  <Words>4902</Words>
  <Application>Microsoft Office PowerPoint</Application>
  <PresentationFormat>Widescreen</PresentationFormat>
  <Paragraphs>1123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9" baseType="lpstr">
      <vt:lpstr>Arial</vt:lpstr>
      <vt:lpstr>Calibri</vt:lpstr>
      <vt:lpstr>Calibri Light</vt:lpstr>
      <vt:lpstr>Cambria Math</vt:lpstr>
      <vt:lpstr>DejaVu Sans</vt:lpstr>
      <vt:lpstr>DM Sans</vt:lpstr>
      <vt:lpstr>Helvetica</vt:lpstr>
      <vt:lpstr>Inter</vt:lpstr>
      <vt:lpstr>JetBrains Mono</vt:lpstr>
      <vt:lpstr>Lato</vt:lpstr>
      <vt:lpstr>Poppins</vt:lpstr>
      <vt:lpstr>Poppins SemiBold</vt:lpstr>
      <vt:lpstr>pplxSerif</vt:lpstr>
      <vt:lpstr>Segoe UI</vt:lpstr>
      <vt:lpstr>Office Theme</vt:lpstr>
      <vt:lpstr>Post-Hoc Correction of 3D Voxel-Based Semantic Grids via Contextual Learning Models May 04, 2026  Sunesh Praveen Raja Sundarasami Hochschule Bonn-Rhein-Sieg  Advisors​ Prof. Dr. Sebastian Houben, Dr.-Ing. Paul Spannaus, and Taehyoung Kim, MSc </vt:lpstr>
      <vt:lpstr>PowerPoint Presentation</vt:lpstr>
      <vt:lpstr>3D Semantic Mapping for Autonomous Aerial Navigation</vt:lpstr>
      <vt:lpstr>How the 3D Map is Built?</vt:lpstr>
      <vt:lpstr>Systematic Label Errors in Aggregated Semantic Voxel Grids</vt:lpstr>
      <vt:lpstr>Why Standard Geometric Filtering Is Insufficient?</vt:lpstr>
      <vt:lpstr>PowerPoint Presentation</vt:lpstr>
      <vt:lpstr>Two Aerial Datasets Used in This Work</vt:lpstr>
      <vt:lpstr>A Decoupled Post-Hoc Correction Framework</vt:lpstr>
      <vt:lpstr>PowerPoint Presentation</vt:lpstr>
      <vt:lpstr>A geometry-driven heuristic baseline</vt:lpstr>
      <vt:lpstr>A geometry-driven heuristic baseline</vt:lpstr>
      <vt:lpstr>PowerPoint Presentation</vt:lpstr>
      <vt:lpstr>A Three-Stage Dual-Branch Correction Network</vt:lpstr>
      <vt:lpstr>Stage 1: Feature Extraction (Pre-Training)</vt:lpstr>
      <vt:lpstr>Stage 1: Feature Extraction (Fine-Tuning)</vt:lpstr>
      <vt:lpstr>Stage 2: Graph Training Preparation</vt:lpstr>
      <vt:lpstr>Stage 2: Graph &amp; Node Feature Construction</vt:lpstr>
      <vt:lpstr>Stage 2: Graph &amp; Node Feature Construction</vt:lpstr>
      <vt:lpstr>Stage 3: Domain-Aware Noise Injection </vt:lpstr>
      <vt:lpstr>Stage 3: DualGraphGAT</vt:lpstr>
      <vt:lpstr>PowerPoint Presentation</vt:lpstr>
      <vt:lpstr>Evaluation Setup</vt:lpstr>
      <vt:lpstr>DualGraphGAT vs Baselines (ΔmIoU pp)</vt:lpstr>
      <vt:lpstr>Class-wise IoU — Scene 01, UperNet-Swin-S</vt:lpstr>
      <vt:lpstr>Visual Correction Comparison</vt:lpstr>
      <vt:lpstr>PowerPoint Presentation</vt:lpstr>
      <vt:lpstr>PowerPoint Presentation</vt:lpstr>
      <vt:lpstr>Conclusion &amp; Future Work</vt:lpstr>
      <vt:lpstr>References</vt:lpstr>
      <vt:lpstr>References</vt:lpstr>
      <vt:lpstr>Supplementary Slides</vt:lpstr>
      <vt:lpstr>Related Works</vt:lpstr>
      <vt:lpstr>Research Gap</vt:lpstr>
      <vt:lpstr>A geometry-driven heuristic baseline</vt:lpstr>
      <vt:lpstr>A geometry-driven heuristic baseline</vt:lpstr>
      <vt:lpstr>A geometry-driven heuristic baseline</vt:lpstr>
      <vt:lpstr>A geometry-driven heuristic baseline</vt:lpstr>
      <vt:lpstr>How GATv2 Works</vt:lpstr>
      <vt:lpstr>How Sparse Convolutions Work</vt:lpstr>
      <vt:lpstr>Class-wise IoU Breakdown</vt:lpstr>
      <vt:lpstr>Class-wise IoU — Scene 01, UperNet-ConvNeXtv2-T</vt:lpstr>
      <vt:lpstr>Class-wise IoU — Scene 01, Mask2Former</vt:lpstr>
      <vt:lpstr>Class-wise IoU — Scene 05, UperNet-ConvNeXtv2-T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Sunesh Praveen Raja</dc:creator>
  <cp:lastModifiedBy>Sundarasami, Sunesh Praveen Raja</cp:lastModifiedBy>
  <cp:revision>73</cp:revision>
  <dcterms:created xsi:type="dcterms:W3CDTF">2026-04-22T16:05:57Z</dcterms:created>
  <dcterms:modified xsi:type="dcterms:W3CDTF">2026-05-03T18:20:57Z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f2ff711-767d-49e4-8de8-6dc66c541869_Enabled">
    <vt:lpwstr>true</vt:lpwstr>
  </property>
  <property fmtid="{D5CDD505-2E9C-101B-9397-08002B2CF9AE}" pid="3" name="MSIP_Label_3f2ff711-767d-49e4-8de8-6dc66c541869_SetDate">
    <vt:lpwstr>2026-05-01T20:58:45Z</vt:lpwstr>
  </property>
  <property fmtid="{D5CDD505-2E9C-101B-9397-08002B2CF9AE}" pid="4" name="MSIP_Label_3f2ff711-767d-49e4-8de8-6dc66c541869_Method">
    <vt:lpwstr>Standard</vt:lpwstr>
  </property>
  <property fmtid="{D5CDD505-2E9C-101B-9397-08002B2CF9AE}" pid="5" name="MSIP_Label_3f2ff711-767d-49e4-8de8-6dc66c541869_Name">
    <vt:lpwstr>defa4170-0d19-0005-0004-bc88714345d2</vt:lpwstr>
  </property>
  <property fmtid="{D5CDD505-2E9C-101B-9397-08002B2CF9AE}" pid="6" name="MSIP_Label_3f2ff711-767d-49e4-8de8-6dc66c541869_SiteId">
    <vt:lpwstr>9a21e1ab-b7a7-4f82-8fd0-170bb7e09f92</vt:lpwstr>
  </property>
  <property fmtid="{D5CDD505-2E9C-101B-9397-08002B2CF9AE}" pid="7" name="MSIP_Label_3f2ff711-767d-49e4-8de8-6dc66c541869_ActionId">
    <vt:lpwstr>858628df-775e-4f81-bc0b-9f43836285fa</vt:lpwstr>
  </property>
  <property fmtid="{D5CDD505-2E9C-101B-9397-08002B2CF9AE}" pid="8" name="MSIP_Label_3f2ff711-767d-49e4-8de8-6dc66c541869_ContentBits">
    <vt:lpwstr>0</vt:lpwstr>
  </property>
  <property fmtid="{D5CDD505-2E9C-101B-9397-08002B2CF9AE}" pid="9" name="MSIP_Label_3f2ff711-767d-49e4-8de8-6dc66c541869_Tag">
    <vt:lpwstr>10, 3, 0, 1</vt:lpwstr>
  </property>
</Properties>
</file>